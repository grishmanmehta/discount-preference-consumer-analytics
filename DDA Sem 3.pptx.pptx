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x="9753600" cy="7315200"/>
  <p:notesSz cx="6858000" cy="9144000"/>
  <p:embeddedFontLst>
    <p:embeddedFont>
      <p:font typeface="Calibri (MS)" charset="1" panose="020F0502020204030204"/>
      <p:regular r:id="rId46"/>
    </p:embeddedFont>
    <p:embeddedFont>
      <p:font typeface="Times New Roman Bold" charset="1" panose="02020803070505020304"/>
      <p:regular r:id="rId47"/>
    </p:embeddedFont>
    <p:embeddedFont>
      <p:font typeface="Times New Roman" charset="1" panose="02020603050405020304"/>
      <p:regular r:id="rId48"/>
    </p:embeddedFont>
    <p:embeddedFont>
      <p:font typeface="Times New Roman Italics" charset="1" panose="02020503050405090304"/>
      <p:regular r:id="rId49"/>
    </p:embeddedFont>
    <p:embeddedFont>
      <p:font typeface="Times New Roman Bold Italics" charset="1" panose="02020703060505090304"/>
      <p:regular r:id="rId65"/>
    </p:embeddedFont>
    <p:embeddedFont>
      <p:font typeface="Times New Roman MT" charset="1" panose="02030502070405020303"/>
      <p:regular r:id="rId77"/>
    </p:embeddedFont>
    <p:embeddedFont>
      <p:font typeface="Times New Roman MT Semi-Bold" charset="1" panose="02030702070405020303"/>
      <p:regular r:id="rId78"/>
    </p:embeddedFont>
    <p:embeddedFont>
      <p:font typeface="Times New Roman MT Bold" charset="1" panose="02030802070405020303"/>
      <p:regular r:id="rId8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notesMasters/notesMaster1.xml" Type="http://schemas.openxmlformats.org/officeDocument/2006/relationships/notesMaster"/><Relationship Id="rId44" Target="theme/theme2.xml" Type="http://schemas.openxmlformats.org/officeDocument/2006/relationships/theme"/><Relationship Id="rId45" Target="notesSlides/notesSlide1.xml" Type="http://schemas.openxmlformats.org/officeDocument/2006/relationships/notesSlide"/><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notesSlides/notesSlide2.xml" Type="http://schemas.openxmlformats.org/officeDocument/2006/relationships/notesSlide"/><Relationship Id="rId51" Target="notesSlides/notesSlide3.xml" Type="http://schemas.openxmlformats.org/officeDocument/2006/relationships/notesSlide"/><Relationship Id="rId52" Target="notesSlides/notesSlide4.xml" Type="http://schemas.openxmlformats.org/officeDocument/2006/relationships/notesSlide"/><Relationship Id="rId53" Target="notesSlides/notesSlide5.xml" Type="http://schemas.openxmlformats.org/officeDocument/2006/relationships/notesSlide"/><Relationship Id="rId54" Target="notesSlides/notesSlide6.xml" Type="http://schemas.openxmlformats.org/officeDocument/2006/relationships/notesSlide"/><Relationship Id="rId55" Target="notesSlides/notesSlide7.xml" Type="http://schemas.openxmlformats.org/officeDocument/2006/relationships/notesSlide"/><Relationship Id="rId56" Target="notesSlides/notesSlide8.xml" Type="http://schemas.openxmlformats.org/officeDocument/2006/relationships/notesSlide"/><Relationship Id="rId57" Target="notesSlides/notesSlide9.xml" Type="http://schemas.openxmlformats.org/officeDocument/2006/relationships/notesSlide"/><Relationship Id="rId58" Target="notesSlides/notesSlide10.xml" Type="http://schemas.openxmlformats.org/officeDocument/2006/relationships/notesSlide"/><Relationship Id="rId59" Target="notesSlides/notesSlide11.xml" Type="http://schemas.openxmlformats.org/officeDocument/2006/relationships/notesSlide"/><Relationship Id="rId6" Target="slides/slide1.xml" Type="http://schemas.openxmlformats.org/officeDocument/2006/relationships/slide"/><Relationship Id="rId60" Target="notesSlides/notesSlide12.xml" Type="http://schemas.openxmlformats.org/officeDocument/2006/relationships/notesSlide"/><Relationship Id="rId61" Target="notesSlides/notesSlide13.xml" Type="http://schemas.openxmlformats.org/officeDocument/2006/relationships/notesSlide"/><Relationship Id="rId62" Target="notesSlides/notesSlide14.xml" Type="http://schemas.openxmlformats.org/officeDocument/2006/relationships/notesSlide"/><Relationship Id="rId63" Target="notesSlides/notesSlide15.xml" Type="http://schemas.openxmlformats.org/officeDocument/2006/relationships/notesSlide"/><Relationship Id="rId64" Target="notesSlides/notesSlide16.xml" Type="http://schemas.openxmlformats.org/officeDocument/2006/relationships/notesSlide"/><Relationship Id="rId65" Target="fonts/font65.fntdata" Type="http://schemas.openxmlformats.org/officeDocument/2006/relationships/font"/><Relationship Id="rId66" Target="notesSlides/notesSlide17.xml" Type="http://schemas.openxmlformats.org/officeDocument/2006/relationships/notesSlide"/><Relationship Id="rId67" Target="notesSlides/notesSlide18.xml" Type="http://schemas.openxmlformats.org/officeDocument/2006/relationships/notesSlide"/><Relationship Id="rId68" Target="notesSlides/notesSlide19.xml" Type="http://schemas.openxmlformats.org/officeDocument/2006/relationships/notesSlide"/><Relationship Id="rId69" Target="notesSlides/notesSlide20.xml" Type="http://schemas.openxmlformats.org/officeDocument/2006/relationships/notesSlide"/><Relationship Id="rId7" Target="slides/slide2.xml" Type="http://schemas.openxmlformats.org/officeDocument/2006/relationships/slide"/><Relationship Id="rId70" Target="notesSlides/notesSlide21.xml" Type="http://schemas.openxmlformats.org/officeDocument/2006/relationships/notesSlide"/><Relationship Id="rId71" Target="notesSlides/notesSlide22.xml" Type="http://schemas.openxmlformats.org/officeDocument/2006/relationships/notesSlide"/><Relationship Id="rId72" Target="notesSlides/notesSlide23.xml" Type="http://schemas.openxmlformats.org/officeDocument/2006/relationships/notesSlide"/><Relationship Id="rId73" Target="notesSlides/notesSlide24.xml" Type="http://schemas.openxmlformats.org/officeDocument/2006/relationships/notesSlide"/><Relationship Id="rId74" Target="notesSlides/notesSlide25.xml" Type="http://schemas.openxmlformats.org/officeDocument/2006/relationships/notesSlide"/><Relationship Id="rId75" Target="notesSlides/notesSlide26.xml" Type="http://schemas.openxmlformats.org/officeDocument/2006/relationships/notesSlide"/><Relationship Id="rId76" Target="notesSlides/notesSlide27.xml" Type="http://schemas.openxmlformats.org/officeDocument/2006/relationships/notesSlide"/><Relationship Id="rId77" Target="fonts/font77.fntdata" Type="http://schemas.openxmlformats.org/officeDocument/2006/relationships/font"/><Relationship Id="rId78" Target="fonts/font78.fntdata" Type="http://schemas.openxmlformats.org/officeDocument/2006/relationships/font"/><Relationship Id="rId79" Target="notesSlides/notesSlide28.xml" Type="http://schemas.openxmlformats.org/officeDocument/2006/relationships/notesSlide"/><Relationship Id="rId8" Target="slides/slide3.xml" Type="http://schemas.openxmlformats.org/officeDocument/2006/relationships/slide"/><Relationship Id="rId80" Target="notesSlides/notesSlide29.xml" Type="http://schemas.openxmlformats.org/officeDocument/2006/relationships/notesSlide"/><Relationship Id="rId81" Target="notesSlides/notesSlide30.xml" Type="http://schemas.openxmlformats.org/officeDocument/2006/relationships/notesSlide"/><Relationship Id="rId82" Target="notesSlides/notesSlide31.xml" Type="http://schemas.openxmlformats.org/officeDocument/2006/relationships/notesSlide"/><Relationship Id="rId83" Target="notesSlides/notesSlide32.xml" Type="http://schemas.openxmlformats.org/officeDocument/2006/relationships/notesSlide"/><Relationship Id="rId84" Target="notesSlides/notesSlide33.xml" Type="http://schemas.openxmlformats.org/officeDocument/2006/relationships/notesSlide"/><Relationship Id="rId85" Target="notesSlides/notesSlide34.xml" Type="http://schemas.openxmlformats.org/officeDocument/2006/relationships/notesSlide"/><Relationship Id="rId86" Target="notesSlides/notesSlide35.xml" Type="http://schemas.openxmlformats.org/officeDocument/2006/relationships/notesSlide"/><Relationship Id="rId87" Target="notesSlides/notesSlide36.xml" Type="http://schemas.openxmlformats.org/officeDocument/2006/relationships/notesSlide"/><Relationship Id="rId88" Target="notesSlides/notesSlide37.xml" Type="http://schemas.openxmlformats.org/officeDocument/2006/relationships/notesSlide"/><Relationship Id="rId89" Target="fonts/font89.fntdata" Type="http://schemas.openxmlformats.org/officeDocument/2006/relationships/font"/><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2.jpeg" Type="http://schemas.openxmlformats.org/officeDocument/2006/relationships/image"/><Relationship Id="rId4"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2.jpeg" Type="http://schemas.openxmlformats.org/officeDocument/2006/relationships/image"/><Relationship Id="rId4" Target="../media/image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4.xml" Type="http://schemas.openxmlformats.org/officeDocument/2006/relationships/notesSlide"/><Relationship Id="rId3" Target="../media/image2.jpeg" Type="http://schemas.openxmlformats.org/officeDocument/2006/relationships/image"/><Relationship Id="rId4" Target="../media/image6.png" Type="http://schemas.openxmlformats.org/officeDocument/2006/relationships/image"/><Relationship Id="rId5" Target="../media/image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media/image2.jpe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2.jpeg" Type="http://schemas.openxmlformats.org/officeDocument/2006/relationships/image"/><Relationship Id="rId4" Target="../media/image11.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12.pn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2.jpeg" Type="http://schemas.openxmlformats.org/officeDocument/2006/relationships/image"/><Relationship Id="rId4" Target="../media/image1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2.jpeg" Type="http://schemas.openxmlformats.org/officeDocument/2006/relationships/image"/><Relationship Id="rId4" Target="../media/image1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2.jpeg" Type="http://schemas.openxmlformats.org/officeDocument/2006/relationships/image"/><Relationship Id="rId4" Target="../media/image1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2.jpe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2.jpeg" Type="http://schemas.openxmlformats.org/officeDocument/2006/relationships/image"/><Relationship Id="rId4" Target="../media/image18.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2.jpe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2.jpeg" Type="http://schemas.openxmlformats.org/officeDocument/2006/relationships/image"/><Relationship Id="rId4" Target="../media/image1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6.xml" Type="http://schemas.openxmlformats.org/officeDocument/2006/relationships/notesSlide"/><Relationship Id="rId3" Target="../media/image2.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7.xml" Type="http://schemas.openxmlformats.org/officeDocument/2006/relationships/notesSlide"/><Relationship Id="rId3" Target="../media/image2.jpeg" Type="http://schemas.openxmlformats.org/officeDocument/2006/relationships/image"/><Relationship Id="rId4" Target="../media/image20.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8.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21.png" Type="http://schemas.openxmlformats.org/officeDocument/2006/relationships/image"/><Relationship Id="rId6" Target="../media/image2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9.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 Id="rId5" Target="../media/image23.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0.xml" Type="http://schemas.openxmlformats.org/officeDocument/2006/relationships/notesSlide"/><Relationship Id="rId3" Target="../media/image2.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1.xml" Type="http://schemas.openxmlformats.org/officeDocument/2006/relationships/notesSlide"/><Relationship Id="rId3" Target="../media/image2.jpeg" Type="http://schemas.openxmlformats.org/officeDocument/2006/relationships/image"/><Relationship Id="rId4" Target="../media/image24.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2.xml" Type="http://schemas.openxmlformats.org/officeDocument/2006/relationships/notesSlide"/><Relationship Id="rId3" Target="../media/image2.jpeg" Type="http://schemas.openxmlformats.org/officeDocument/2006/relationships/image"/><Relationship Id="rId4" Target="../media/image25.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3.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4.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5.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6.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7.xml" Type="http://schemas.openxmlformats.org/officeDocument/2006/relationships/notesSlide"/><Relationship Id="rId3" Target="../media/image1.png" Type="http://schemas.openxmlformats.org/officeDocument/2006/relationships/image"/><Relationship Id="rId4"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787908"/>
            <a:chOff x="0" y="0"/>
            <a:chExt cx="2650220" cy="1050544"/>
          </a:xfrm>
        </p:grpSpPr>
        <p:sp>
          <p:nvSpPr>
            <p:cNvPr name="Freeform 6" id="6"/>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7" id="7"/>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8" id="8"/>
          <p:cNvGrpSpPr/>
          <p:nvPr/>
        </p:nvGrpSpPr>
        <p:grpSpPr>
          <a:xfrm rot="0">
            <a:off x="334297" y="1994300"/>
            <a:ext cx="9085006" cy="2622720"/>
            <a:chOff x="0" y="0"/>
            <a:chExt cx="12113342" cy="3496960"/>
          </a:xfrm>
        </p:grpSpPr>
        <p:sp>
          <p:nvSpPr>
            <p:cNvPr name="Freeform 9" id="9"/>
            <p:cNvSpPr/>
            <p:nvPr/>
          </p:nvSpPr>
          <p:spPr>
            <a:xfrm flipH="false" flipV="false" rot="0">
              <a:off x="0" y="0"/>
              <a:ext cx="12113342" cy="3496960"/>
            </a:xfrm>
            <a:custGeom>
              <a:avLst/>
              <a:gdLst/>
              <a:ahLst/>
              <a:cxnLst/>
              <a:rect r="r" b="b" t="t" l="l"/>
              <a:pathLst>
                <a:path h="3496960" w="12113342">
                  <a:moveTo>
                    <a:pt x="0" y="0"/>
                  </a:moveTo>
                  <a:lnTo>
                    <a:pt x="12113342" y="0"/>
                  </a:lnTo>
                  <a:lnTo>
                    <a:pt x="12113342" y="3496960"/>
                  </a:lnTo>
                  <a:lnTo>
                    <a:pt x="0" y="3496960"/>
                  </a:lnTo>
                  <a:close/>
                </a:path>
              </a:pathLst>
            </a:custGeom>
          </p:spPr>
        </p:sp>
        <p:sp>
          <p:nvSpPr>
            <p:cNvPr name="TextBox 10" id="10"/>
            <p:cNvSpPr txBox="true"/>
            <p:nvPr/>
          </p:nvSpPr>
          <p:spPr>
            <a:xfrm>
              <a:off x="0" y="-19050"/>
              <a:ext cx="12113342" cy="3516010"/>
            </a:xfrm>
            <a:prstGeom prst="rect">
              <a:avLst/>
            </a:prstGeom>
          </p:spPr>
          <p:txBody>
            <a:bodyPr anchor="ctr" rtlCol="false" tIns="0" lIns="0" bIns="0" rIns="0"/>
            <a:lstStyle/>
            <a:p>
              <a:pPr algn="ctr">
                <a:lnSpc>
                  <a:spcPts val="3507"/>
                </a:lnSpc>
              </a:pPr>
              <a:r>
                <a:rPr lang="en-US" sz="2922" b="true">
                  <a:solidFill>
                    <a:srgbClr val="202124"/>
                  </a:solidFill>
                  <a:latin typeface="Times New Roman Bold"/>
                  <a:ea typeface="Times New Roman Bold"/>
                  <a:cs typeface="Times New Roman Bold"/>
                  <a:sym typeface="Times New Roman Bold"/>
                </a:rPr>
                <a:t>Decoding Discount Preferences in the Apparel Industry</a:t>
              </a:r>
            </a:p>
            <a:p>
              <a:pPr algn="ctr">
                <a:lnSpc>
                  <a:spcPts val="3507"/>
                </a:lnSpc>
              </a:pPr>
            </a:p>
          </p:txBody>
        </p:sp>
      </p:grpSp>
      <p:sp>
        <p:nvSpPr>
          <p:cNvPr name="TextBox 11" id="11"/>
          <p:cNvSpPr txBox="true"/>
          <p:nvPr/>
        </p:nvSpPr>
        <p:spPr>
          <a:xfrm rot="0">
            <a:off x="268705" y="5500330"/>
            <a:ext cx="3973310" cy="1400175"/>
          </a:xfrm>
          <a:prstGeom prst="rect">
            <a:avLst/>
          </a:prstGeom>
        </p:spPr>
        <p:txBody>
          <a:bodyPr anchor="t" rtlCol="false" tIns="0" lIns="0" bIns="0" rIns="0">
            <a:spAutoFit/>
          </a:bodyPr>
          <a:lstStyle/>
          <a:p>
            <a:pPr algn="l">
              <a:lnSpc>
                <a:spcPts val="2175"/>
              </a:lnSpc>
            </a:pPr>
            <a:r>
              <a:rPr lang="en-US" sz="1813">
                <a:solidFill>
                  <a:srgbClr val="000000"/>
                </a:solidFill>
                <a:latin typeface="Times New Roman"/>
                <a:ea typeface="Times New Roman"/>
                <a:cs typeface="Times New Roman"/>
                <a:sym typeface="Times New Roman"/>
              </a:rPr>
              <a:t>A001 - </a:t>
            </a:r>
            <a:r>
              <a:rPr lang="en-US" sz="1813">
                <a:solidFill>
                  <a:srgbClr val="000000"/>
                </a:solidFill>
                <a:latin typeface="Times New Roman"/>
                <a:ea typeface="Times New Roman"/>
                <a:cs typeface="Times New Roman"/>
                <a:sym typeface="Times New Roman"/>
              </a:rPr>
              <a:t>Deepasha Kapadia </a:t>
            </a:r>
          </a:p>
          <a:p>
            <a:pPr algn="l">
              <a:lnSpc>
                <a:spcPts val="2175"/>
              </a:lnSpc>
            </a:pPr>
            <a:r>
              <a:rPr lang="en-US" sz="1813">
                <a:solidFill>
                  <a:srgbClr val="000000"/>
                </a:solidFill>
                <a:latin typeface="Times New Roman"/>
                <a:ea typeface="Times New Roman"/>
                <a:cs typeface="Times New Roman"/>
                <a:sym typeface="Times New Roman"/>
              </a:rPr>
              <a:t>A007 - Grishma Mehta </a:t>
            </a:r>
          </a:p>
          <a:p>
            <a:pPr algn="l">
              <a:lnSpc>
                <a:spcPts val="2175"/>
              </a:lnSpc>
            </a:pPr>
            <a:r>
              <a:rPr lang="en-US" sz="1813">
                <a:solidFill>
                  <a:srgbClr val="000000"/>
                </a:solidFill>
                <a:latin typeface="Times New Roman"/>
                <a:ea typeface="Times New Roman"/>
                <a:cs typeface="Times New Roman"/>
                <a:sym typeface="Times New Roman"/>
              </a:rPr>
              <a:t>A012 - Ishita Pednekar </a:t>
            </a:r>
          </a:p>
          <a:p>
            <a:pPr algn="l">
              <a:lnSpc>
                <a:spcPts val="2175"/>
              </a:lnSpc>
            </a:pPr>
            <a:r>
              <a:rPr lang="en-US" sz="1813">
                <a:solidFill>
                  <a:srgbClr val="000000"/>
                </a:solidFill>
                <a:latin typeface="Times New Roman"/>
                <a:ea typeface="Times New Roman"/>
                <a:cs typeface="Times New Roman"/>
                <a:sym typeface="Times New Roman"/>
              </a:rPr>
              <a:t>A051 - Shreeya Thomas </a:t>
            </a:r>
          </a:p>
          <a:p>
            <a:pPr algn="l">
              <a:lnSpc>
                <a:spcPts val="2175"/>
              </a:lnSpc>
            </a:pPr>
            <a:r>
              <a:rPr lang="en-US" sz="1813">
                <a:solidFill>
                  <a:srgbClr val="000000"/>
                </a:solidFill>
                <a:latin typeface="Times New Roman"/>
                <a:ea typeface="Times New Roman"/>
                <a:cs typeface="Times New Roman"/>
                <a:sym typeface="Times New Roman"/>
              </a:rPr>
              <a:t>A061 - Abhishek Barve </a:t>
            </a:r>
          </a:p>
        </p:txBody>
      </p:sp>
      <p:sp>
        <p:nvSpPr>
          <p:cNvPr name="TextBox 12" id="12"/>
          <p:cNvSpPr txBox="true"/>
          <p:nvPr/>
        </p:nvSpPr>
        <p:spPr>
          <a:xfrm rot="0">
            <a:off x="3258514" y="3629025"/>
            <a:ext cx="3236573" cy="295275"/>
          </a:xfrm>
          <a:prstGeom prst="rect">
            <a:avLst/>
          </a:prstGeom>
        </p:spPr>
        <p:txBody>
          <a:bodyPr anchor="t" rtlCol="false" tIns="0" lIns="0" bIns="0" rIns="0">
            <a:spAutoFit/>
          </a:bodyPr>
          <a:lstStyle/>
          <a:p>
            <a:pPr algn="ctr">
              <a:lnSpc>
                <a:spcPts val="2151"/>
              </a:lnSpc>
              <a:spcBef>
                <a:spcPct val="0"/>
              </a:spcBef>
            </a:pPr>
            <a:r>
              <a:rPr lang="en-US" sz="1793" i="true">
                <a:solidFill>
                  <a:srgbClr val="000000"/>
                </a:solidFill>
                <a:latin typeface="Times New Roman Italics"/>
                <a:ea typeface="Times New Roman Italics"/>
                <a:cs typeface="Times New Roman Italics"/>
                <a:sym typeface="Times New Roman Italics"/>
              </a:rPr>
              <a:t>Mentored by : Dr. Rushina Singhi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787908"/>
            <a:chOff x="0" y="0"/>
            <a:chExt cx="2650220" cy="1050544"/>
          </a:xfrm>
        </p:grpSpPr>
        <p:sp>
          <p:nvSpPr>
            <p:cNvPr name="Freeform 6" id="6"/>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7" id="7"/>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8" id="8"/>
          <p:cNvGrpSpPr/>
          <p:nvPr/>
        </p:nvGrpSpPr>
        <p:grpSpPr>
          <a:xfrm rot="0">
            <a:off x="1810327" y="299257"/>
            <a:ext cx="1950719" cy="787908"/>
            <a:chOff x="0" y="0"/>
            <a:chExt cx="2600959" cy="1050544"/>
          </a:xfrm>
        </p:grpSpPr>
        <p:sp>
          <p:nvSpPr>
            <p:cNvPr name="Freeform 9" id="9"/>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10" id="10"/>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1" id="11"/>
          <p:cNvGrpSpPr/>
          <p:nvPr/>
        </p:nvGrpSpPr>
        <p:grpSpPr>
          <a:xfrm rot="0">
            <a:off x="3163365" y="1226611"/>
            <a:ext cx="3426870" cy="653760"/>
            <a:chOff x="0" y="0"/>
            <a:chExt cx="4569160" cy="871680"/>
          </a:xfrm>
        </p:grpSpPr>
        <p:sp>
          <p:nvSpPr>
            <p:cNvPr name="Freeform 12" id="12"/>
            <p:cNvSpPr/>
            <p:nvPr/>
          </p:nvSpPr>
          <p:spPr>
            <a:xfrm flipH="false" flipV="false" rot="0">
              <a:off x="0" y="0"/>
              <a:ext cx="4569160" cy="871680"/>
            </a:xfrm>
            <a:custGeom>
              <a:avLst/>
              <a:gdLst/>
              <a:ahLst/>
              <a:cxnLst/>
              <a:rect r="r" b="b" t="t" l="l"/>
              <a:pathLst>
                <a:path h="871680" w="4569160">
                  <a:moveTo>
                    <a:pt x="0" y="0"/>
                  </a:moveTo>
                  <a:lnTo>
                    <a:pt x="4569160" y="0"/>
                  </a:lnTo>
                  <a:lnTo>
                    <a:pt x="4569160" y="871680"/>
                  </a:lnTo>
                  <a:lnTo>
                    <a:pt x="0" y="871680"/>
                  </a:lnTo>
                  <a:close/>
                </a:path>
              </a:pathLst>
            </a:custGeom>
          </p:spPr>
        </p:sp>
        <p:sp>
          <p:nvSpPr>
            <p:cNvPr name="TextBox 13" id="13"/>
            <p:cNvSpPr txBox="true"/>
            <p:nvPr/>
          </p:nvSpPr>
          <p:spPr>
            <a:xfrm>
              <a:off x="0" y="-19050"/>
              <a:ext cx="4569160" cy="890730"/>
            </a:xfrm>
            <a:prstGeom prst="rect">
              <a:avLst/>
            </a:prstGeom>
          </p:spPr>
          <p:txBody>
            <a:bodyPr anchor="ctr" rtlCol="false" tIns="0" lIns="0" bIns="0" rIns="0"/>
            <a:lstStyle/>
            <a:p>
              <a:pPr algn="ctr">
                <a:lnSpc>
                  <a:spcPts val="3288"/>
                </a:lnSpc>
              </a:pPr>
              <a:r>
                <a:rPr lang="en-US" b="true" sz="2740">
                  <a:solidFill>
                    <a:srgbClr val="000000"/>
                  </a:solidFill>
                  <a:latin typeface="Times New Roman Bold"/>
                  <a:ea typeface="Times New Roman Bold"/>
                  <a:cs typeface="Times New Roman Bold"/>
                  <a:sym typeface="Times New Roman Bold"/>
                </a:rPr>
                <a:t>Table Of Contents</a:t>
              </a:r>
            </a:p>
          </p:txBody>
        </p:sp>
      </p:grpSp>
      <p:graphicFrame>
        <p:nvGraphicFramePr>
          <p:cNvPr name="Table 14" id="14"/>
          <p:cNvGraphicFramePr>
            <a:graphicFrameLocks noGrp="true"/>
          </p:cNvGraphicFramePr>
          <p:nvPr/>
        </p:nvGraphicFramePr>
        <p:xfrm>
          <a:off x="293743" y="1880371"/>
          <a:ext cx="8916947" cy="5204238"/>
        </p:xfrm>
        <a:graphic>
          <a:graphicData uri="http://schemas.openxmlformats.org/drawingml/2006/table">
            <a:tbl>
              <a:tblPr/>
              <a:tblGrid>
                <a:gridCol w="825604"/>
                <a:gridCol w="8091343"/>
              </a:tblGrid>
              <a:tr h="520424">
                <a:tc>
                  <a:txBody>
                    <a:bodyPr anchor="t" rtlCol="false"/>
                    <a:lstStyle/>
                    <a:p>
                      <a:pPr algn="ctr">
                        <a:lnSpc>
                          <a:spcPts val="2033"/>
                        </a:lnSpc>
                        <a:defRPr/>
                      </a:pPr>
                      <a:r>
                        <a:rPr lang="en-US" b="true" sz="1473">
                          <a:solidFill>
                            <a:srgbClr val="000000"/>
                          </a:solidFill>
                          <a:latin typeface="Times New Roman Bold"/>
                          <a:ea typeface="Times New Roman Bold"/>
                          <a:cs typeface="Times New Roman Bold"/>
                          <a:sym typeface="Times New Roman Bold"/>
                        </a:rPr>
                        <a:t>Sr. No.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171"/>
                        </a:lnSpc>
                        <a:defRPr/>
                      </a:pPr>
                      <a:r>
                        <a:rPr lang="en-US" b="true" sz="1573">
                          <a:solidFill>
                            <a:srgbClr val="000000"/>
                          </a:solidFill>
                          <a:latin typeface="Times New Roman Bold"/>
                          <a:ea typeface="Times New Roman Bold"/>
                          <a:cs typeface="Times New Roman Bold"/>
                          <a:sym typeface="Times New Roman Bold"/>
                        </a:rPr>
                        <a:t>Title</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20424">
                <a:tc>
                  <a:txBody>
                    <a:bodyPr anchor="t" rtlCol="false"/>
                    <a:lstStyle/>
                    <a:p>
                      <a:pPr algn="l">
                        <a:lnSpc>
                          <a:spcPts val="1767"/>
                        </a:lnSpc>
                        <a:defRPr/>
                      </a:pPr>
                      <a:r>
                        <a:rPr lang="en-US" sz="1473">
                          <a:solidFill>
                            <a:srgbClr val="000000"/>
                          </a:solidFill>
                          <a:latin typeface="Times New Roman"/>
                          <a:ea typeface="Times New Roman"/>
                          <a:cs typeface="Times New Roman"/>
                          <a:sym typeface="Times New Roman"/>
                        </a:rPr>
                        <a:t>1</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171"/>
                        </a:lnSpc>
                        <a:defRPr/>
                      </a:pPr>
                      <a:r>
                        <a:rPr lang="en-US" sz="1573">
                          <a:solidFill>
                            <a:srgbClr val="000000"/>
                          </a:solidFill>
                          <a:latin typeface="Times New Roman"/>
                          <a:ea typeface="Times New Roman"/>
                          <a:cs typeface="Times New Roman"/>
                          <a:sym typeface="Times New Roman"/>
                        </a:rPr>
                        <a:t>Introduction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20424">
                <a:tc>
                  <a:txBody>
                    <a:bodyPr anchor="t" rtlCol="false"/>
                    <a:lstStyle/>
                    <a:p>
                      <a:pPr algn="l">
                        <a:lnSpc>
                          <a:spcPts val="1767"/>
                        </a:lnSpc>
                        <a:defRPr/>
                      </a:pPr>
                      <a:r>
                        <a:rPr lang="en-US" sz="1473">
                          <a:solidFill>
                            <a:srgbClr val="000000"/>
                          </a:solidFill>
                          <a:latin typeface="Times New Roman"/>
                          <a:ea typeface="Times New Roman"/>
                          <a:cs typeface="Times New Roman"/>
                          <a:sym typeface="Times New Roman"/>
                        </a:rPr>
                        <a:t>2</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171"/>
                        </a:lnSpc>
                        <a:defRPr/>
                      </a:pPr>
                      <a:r>
                        <a:rPr lang="en-US" sz="1573">
                          <a:solidFill>
                            <a:srgbClr val="000000"/>
                          </a:solidFill>
                          <a:latin typeface="Times New Roman"/>
                          <a:ea typeface="Times New Roman"/>
                          <a:cs typeface="Times New Roman"/>
                          <a:sym typeface="Times New Roman"/>
                        </a:rPr>
                        <a:t>Literature Review</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20424">
                <a:tc>
                  <a:txBody>
                    <a:bodyPr anchor="t" rtlCol="false"/>
                    <a:lstStyle/>
                    <a:p>
                      <a:pPr algn="l">
                        <a:lnSpc>
                          <a:spcPts val="1767"/>
                        </a:lnSpc>
                        <a:defRPr/>
                      </a:pPr>
                      <a:r>
                        <a:rPr lang="en-US" sz="1473">
                          <a:solidFill>
                            <a:srgbClr val="000000"/>
                          </a:solidFill>
                          <a:latin typeface="Times New Roman"/>
                          <a:ea typeface="Times New Roman"/>
                          <a:cs typeface="Times New Roman"/>
                          <a:sym typeface="Times New Roman"/>
                        </a:rPr>
                        <a:t>3</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171"/>
                        </a:lnSpc>
                        <a:defRPr/>
                      </a:pPr>
                      <a:r>
                        <a:rPr lang="en-US" sz="1573">
                          <a:solidFill>
                            <a:srgbClr val="000000"/>
                          </a:solidFill>
                          <a:latin typeface="Times New Roman"/>
                          <a:ea typeface="Times New Roman"/>
                          <a:cs typeface="Times New Roman"/>
                          <a:sym typeface="Times New Roman"/>
                        </a:rPr>
                        <a:t>Research Methodologies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20424">
                <a:tc>
                  <a:txBody>
                    <a:bodyPr anchor="t" rtlCol="false"/>
                    <a:lstStyle/>
                    <a:p>
                      <a:pPr algn="l">
                        <a:lnSpc>
                          <a:spcPts val="1767"/>
                        </a:lnSpc>
                        <a:defRPr/>
                      </a:pPr>
                      <a:r>
                        <a:rPr lang="en-US" sz="1473">
                          <a:solidFill>
                            <a:srgbClr val="000000"/>
                          </a:solidFill>
                          <a:latin typeface="Times New Roman"/>
                          <a:ea typeface="Times New Roman"/>
                          <a:cs typeface="Times New Roman"/>
                          <a:sym typeface="Times New Roman"/>
                        </a:rPr>
                        <a:t>4</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171"/>
                        </a:lnSpc>
                        <a:defRPr/>
                      </a:pPr>
                      <a:r>
                        <a:rPr lang="en-US" sz="1573">
                          <a:solidFill>
                            <a:srgbClr val="000000"/>
                          </a:solidFill>
                          <a:latin typeface="Times New Roman"/>
                          <a:ea typeface="Times New Roman"/>
                          <a:cs typeface="Times New Roman"/>
                          <a:sym typeface="Times New Roman"/>
                        </a:rPr>
                        <a:t>Objectives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20424">
                <a:tc>
                  <a:txBody>
                    <a:bodyPr anchor="t" rtlCol="false"/>
                    <a:lstStyle/>
                    <a:p>
                      <a:pPr algn="l">
                        <a:lnSpc>
                          <a:spcPts val="1767"/>
                        </a:lnSpc>
                        <a:defRPr/>
                      </a:pPr>
                      <a:r>
                        <a:rPr lang="en-US" sz="1473">
                          <a:solidFill>
                            <a:srgbClr val="000000"/>
                          </a:solidFill>
                          <a:latin typeface="Times New Roman"/>
                          <a:ea typeface="Times New Roman"/>
                          <a:cs typeface="Times New Roman"/>
                          <a:sym typeface="Times New Roman"/>
                        </a:rPr>
                        <a:t>5</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171"/>
                        </a:lnSpc>
                        <a:defRPr/>
                      </a:pPr>
                      <a:r>
                        <a:rPr lang="en-US" sz="1573">
                          <a:solidFill>
                            <a:srgbClr val="000000"/>
                          </a:solidFill>
                          <a:latin typeface="Times New Roman"/>
                          <a:ea typeface="Times New Roman"/>
                          <a:cs typeface="Times New Roman"/>
                          <a:sym typeface="Times New Roman"/>
                        </a:rPr>
                        <a:t>Data Analysis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20424">
                <a:tc>
                  <a:txBody>
                    <a:bodyPr anchor="t" rtlCol="false"/>
                    <a:lstStyle/>
                    <a:p>
                      <a:pPr algn="l">
                        <a:lnSpc>
                          <a:spcPts val="1767"/>
                        </a:lnSpc>
                        <a:defRPr/>
                      </a:pPr>
                      <a:r>
                        <a:rPr lang="en-US" sz="1473">
                          <a:solidFill>
                            <a:srgbClr val="000000"/>
                          </a:solidFill>
                          <a:latin typeface="Times New Roman"/>
                          <a:ea typeface="Times New Roman"/>
                          <a:cs typeface="Times New Roman"/>
                          <a:sym typeface="Times New Roman"/>
                        </a:rPr>
                        <a:t>6</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171"/>
                        </a:lnSpc>
                        <a:defRPr/>
                      </a:pPr>
                      <a:r>
                        <a:rPr lang="en-US" sz="1573">
                          <a:solidFill>
                            <a:srgbClr val="000000"/>
                          </a:solidFill>
                          <a:latin typeface="Times New Roman"/>
                          <a:ea typeface="Times New Roman"/>
                          <a:cs typeface="Times New Roman"/>
                          <a:sym typeface="Times New Roman"/>
                        </a:rPr>
                        <a:t>Findings and Conclusion</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20424">
                <a:tc>
                  <a:txBody>
                    <a:bodyPr anchor="t" rtlCol="false"/>
                    <a:lstStyle/>
                    <a:p>
                      <a:pPr algn="l">
                        <a:lnSpc>
                          <a:spcPts val="1767"/>
                        </a:lnSpc>
                        <a:defRPr/>
                      </a:pPr>
                      <a:r>
                        <a:rPr lang="en-US" sz="1473">
                          <a:solidFill>
                            <a:srgbClr val="000000"/>
                          </a:solidFill>
                          <a:latin typeface="Times New Roman"/>
                          <a:ea typeface="Times New Roman"/>
                          <a:cs typeface="Times New Roman"/>
                          <a:sym typeface="Times New Roman"/>
                        </a:rPr>
                        <a:t>7</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171"/>
                        </a:lnSpc>
                        <a:defRPr/>
                      </a:pPr>
                      <a:r>
                        <a:rPr lang="en-US" sz="1573">
                          <a:solidFill>
                            <a:srgbClr val="000000"/>
                          </a:solidFill>
                          <a:latin typeface="Times New Roman"/>
                          <a:ea typeface="Times New Roman"/>
                          <a:cs typeface="Times New Roman"/>
                          <a:sym typeface="Times New Roman"/>
                        </a:rPr>
                        <a:t>Limitations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20424">
                <a:tc>
                  <a:txBody>
                    <a:bodyPr anchor="t" rtlCol="false"/>
                    <a:lstStyle/>
                    <a:p>
                      <a:pPr algn="l">
                        <a:lnSpc>
                          <a:spcPts val="1767"/>
                        </a:lnSpc>
                        <a:defRPr/>
                      </a:pPr>
                      <a:r>
                        <a:rPr lang="en-US" sz="1473">
                          <a:solidFill>
                            <a:srgbClr val="000000"/>
                          </a:solidFill>
                          <a:latin typeface="Times New Roman"/>
                          <a:ea typeface="Times New Roman"/>
                          <a:cs typeface="Times New Roman"/>
                          <a:sym typeface="Times New Roman"/>
                        </a:rPr>
                        <a:t>8</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171"/>
                        </a:lnSpc>
                        <a:defRPr/>
                      </a:pPr>
                      <a:r>
                        <a:rPr lang="en-US" sz="1573">
                          <a:solidFill>
                            <a:srgbClr val="000000"/>
                          </a:solidFill>
                          <a:latin typeface="Times New Roman"/>
                          <a:ea typeface="Times New Roman"/>
                          <a:cs typeface="Times New Roman"/>
                          <a:sym typeface="Times New Roman"/>
                        </a:rPr>
                        <a:t>Future Scope</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520424">
                <a:tc>
                  <a:txBody>
                    <a:bodyPr anchor="t" rtlCol="false"/>
                    <a:lstStyle/>
                    <a:p>
                      <a:pPr algn="l">
                        <a:lnSpc>
                          <a:spcPts val="1767"/>
                        </a:lnSpc>
                        <a:defRPr/>
                      </a:pPr>
                      <a:r>
                        <a:rPr lang="en-US" sz="1473">
                          <a:solidFill>
                            <a:srgbClr val="000000"/>
                          </a:solidFill>
                          <a:latin typeface="Times New Roman"/>
                          <a:ea typeface="Times New Roman"/>
                          <a:cs typeface="Times New Roman"/>
                          <a:sym typeface="Times New Roman"/>
                        </a:rPr>
                        <a:t>9</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171"/>
                        </a:lnSpc>
                        <a:defRPr/>
                      </a:pPr>
                      <a:r>
                        <a:rPr lang="en-US" sz="1573">
                          <a:solidFill>
                            <a:srgbClr val="000000"/>
                          </a:solidFill>
                          <a:latin typeface="Times New Roman"/>
                          <a:ea typeface="Times New Roman"/>
                          <a:cs typeface="Times New Roman"/>
                          <a:sym typeface="Times New Roman"/>
                        </a:rPr>
                        <a:t>References</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787908"/>
            <a:chOff x="0" y="0"/>
            <a:chExt cx="2650220" cy="1050544"/>
          </a:xfrm>
        </p:grpSpPr>
        <p:sp>
          <p:nvSpPr>
            <p:cNvPr name="Freeform 6" id="6"/>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7" id="7"/>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8" id="8"/>
          <p:cNvGrpSpPr/>
          <p:nvPr/>
        </p:nvGrpSpPr>
        <p:grpSpPr>
          <a:xfrm rot="0">
            <a:off x="1810327" y="299257"/>
            <a:ext cx="1950719" cy="787908"/>
            <a:chOff x="0" y="0"/>
            <a:chExt cx="2600959" cy="1050544"/>
          </a:xfrm>
        </p:grpSpPr>
        <p:sp>
          <p:nvSpPr>
            <p:cNvPr name="Freeform 9" id="9"/>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10" id="10"/>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1" id="11"/>
          <p:cNvGrpSpPr/>
          <p:nvPr/>
        </p:nvGrpSpPr>
        <p:grpSpPr>
          <a:xfrm rot="0">
            <a:off x="3362037" y="1191120"/>
            <a:ext cx="3029526" cy="806913"/>
            <a:chOff x="0" y="0"/>
            <a:chExt cx="4039369" cy="1075884"/>
          </a:xfrm>
        </p:grpSpPr>
        <p:sp>
          <p:nvSpPr>
            <p:cNvPr name="Freeform 12" id="12"/>
            <p:cNvSpPr/>
            <p:nvPr/>
          </p:nvSpPr>
          <p:spPr>
            <a:xfrm flipH="false" flipV="false" rot="0">
              <a:off x="0" y="0"/>
              <a:ext cx="4039369" cy="1075884"/>
            </a:xfrm>
            <a:custGeom>
              <a:avLst/>
              <a:gdLst/>
              <a:ahLst/>
              <a:cxnLst/>
              <a:rect r="r" b="b" t="t" l="l"/>
              <a:pathLst>
                <a:path h="1075884" w="4039369">
                  <a:moveTo>
                    <a:pt x="0" y="0"/>
                  </a:moveTo>
                  <a:lnTo>
                    <a:pt x="4039369" y="0"/>
                  </a:lnTo>
                  <a:lnTo>
                    <a:pt x="4039369" y="1075884"/>
                  </a:lnTo>
                  <a:lnTo>
                    <a:pt x="0" y="1075884"/>
                  </a:lnTo>
                  <a:close/>
                </a:path>
              </a:pathLst>
            </a:custGeom>
          </p:spPr>
        </p:sp>
        <p:sp>
          <p:nvSpPr>
            <p:cNvPr name="TextBox 13" id="13"/>
            <p:cNvSpPr txBox="true"/>
            <p:nvPr/>
          </p:nvSpPr>
          <p:spPr>
            <a:xfrm>
              <a:off x="0" y="-19050"/>
              <a:ext cx="4039369" cy="1094934"/>
            </a:xfrm>
            <a:prstGeom prst="rect">
              <a:avLst/>
            </a:prstGeom>
          </p:spPr>
          <p:txBody>
            <a:bodyPr anchor="ctr" rtlCol="false" tIns="0" lIns="0" bIns="0" rIns="0"/>
            <a:lstStyle/>
            <a:p>
              <a:pPr algn="ctr">
                <a:lnSpc>
                  <a:spcPts val="4863"/>
                </a:lnSpc>
              </a:pPr>
              <a:r>
                <a:rPr lang="en-US" b="true" sz="4053">
                  <a:solidFill>
                    <a:srgbClr val="000000"/>
                  </a:solidFill>
                  <a:latin typeface="Times New Roman Bold"/>
                  <a:ea typeface="Times New Roman Bold"/>
                  <a:cs typeface="Times New Roman Bold"/>
                  <a:sym typeface="Times New Roman Bold"/>
                </a:rPr>
                <a:t>Introduction</a:t>
              </a:r>
            </a:p>
          </p:txBody>
        </p:sp>
      </p:grpSp>
      <p:grpSp>
        <p:nvGrpSpPr>
          <p:cNvPr name="Group 14" id="14"/>
          <p:cNvGrpSpPr/>
          <p:nvPr/>
        </p:nvGrpSpPr>
        <p:grpSpPr>
          <a:xfrm rot="0">
            <a:off x="657239" y="1998033"/>
            <a:ext cx="8542368" cy="5236641"/>
            <a:chOff x="0" y="0"/>
            <a:chExt cx="11288680" cy="6920185"/>
          </a:xfrm>
        </p:grpSpPr>
        <p:sp>
          <p:nvSpPr>
            <p:cNvPr name="Freeform 15" id="15"/>
            <p:cNvSpPr/>
            <p:nvPr/>
          </p:nvSpPr>
          <p:spPr>
            <a:xfrm flipH="false" flipV="false" rot="0">
              <a:off x="0" y="0"/>
              <a:ext cx="11288680" cy="6920185"/>
            </a:xfrm>
            <a:custGeom>
              <a:avLst/>
              <a:gdLst/>
              <a:ahLst/>
              <a:cxnLst/>
              <a:rect r="r" b="b" t="t" l="l"/>
              <a:pathLst>
                <a:path h="6920185" w="11288680">
                  <a:moveTo>
                    <a:pt x="0" y="0"/>
                  </a:moveTo>
                  <a:lnTo>
                    <a:pt x="11288680" y="0"/>
                  </a:lnTo>
                  <a:lnTo>
                    <a:pt x="11288680" y="6920185"/>
                  </a:lnTo>
                  <a:lnTo>
                    <a:pt x="0" y="6920185"/>
                  </a:lnTo>
                  <a:close/>
                </a:path>
              </a:pathLst>
            </a:custGeom>
          </p:spPr>
        </p:sp>
        <p:sp>
          <p:nvSpPr>
            <p:cNvPr name="TextBox 16" id="16"/>
            <p:cNvSpPr txBox="true"/>
            <p:nvPr/>
          </p:nvSpPr>
          <p:spPr>
            <a:xfrm>
              <a:off x="0" y="-9525"/>
              <a:ext cx="11288680" cy="6929710"/>
            </a:xfrm>
            <a:prstGeom prst="rect">
              <a:avLst/>
            </a:prstGeom>
          </p:spPr>
          <p:txBody>
            <a:bodyPr anchor="ctr" rtlCol="false" tIns="0" lIns="0" bIns="0" rIns="0"/>
            <a:lstStyle/>
            <a:p>
              <a:pPr algn="l" marL="381993" indent="-190996" lvl="1">
                <a:lnSpc>
                  <a:spcPts val="2296"/>
                </a:lnSpc>
                <a:buFont typeface="Arial"/>
                <a:buChar char="•"/>
              </a:pPr>
              <a:r>
                <a:rPr lang="en-US" sz="1913">
                  <a:solidFill>
                    <a:srgbClr val="000000"/>
                  </a:solidFill>
                  <a:latin typeface="Times New Roman"/>
                  <a:ea typeface="Times New Roman"/>
                  <a:cs typeface="Times New Roman"/>
                  <a:sym typeface="Times New Roman"/>
                </a:rPr>
                <a:t>Discounts are no longer just promotions, they're essential tools for customer acquisition and retention in today's competitive retail market (Smith &amp; Johnson, 2020).</a:t>
              </a:r>
            </a:p>
            <a:p>
              <a:pPr algn="l">
                <a:lnSpc>
                  <a:spcPts val="2296"/>
                </a:lnSpc>
              </a:pPr>
            </a:p>
            <a:p>
              <a:pPr algn="l" marL="381993" indent="-190996" lvl="1">
                <a:lnSpc>
                  <a:spcPts val="2296"/>
                </a:lnSpc>
                <a:buFont typeface="Arial"/>
                <a:buChar char="•"/>
              </a:pPr>
              <a:r>
                <a:rPr lang="en-US" sz="1913">
                  <a:solidFill>
                    <a:srgbClr val="000000"/>
                  </a:solidFill>
                  <a:latin typeface="Times New Roman"/>
                  <a:ea typeface="Times New Roman"/>
                  <a:cs typeface="Times New Roman"/>
                  <a:sym typeface="Times New Roman"/>
                </a:rPr>
                <a:t>Shoppers now face a constant stream of diverse deals, from simple percentage-offs to complex limited time offers with minimum spends (Chen et al., 2021).</a:t>
              </a:r>
            </a:p>
            <a:p>
              <a:pPr algn="l">
                <a:lnSpc>
                  <a:spcPts val="2296"/>
                </a:lnSpc>
              </a:pPr>
            </a:p>
            <a:p>
              <a:pPr algn="l" marL="381993" indent="-190996" lvl="1">
                <a:lnSpc>
                  <a:spcPts val="2296"/>
                </a:lnSpc>
                <a:buFont typeface="Arial"/>
                <a:buChar char="•"/>
              </a:pPr>
              <a:r>
                <a:rPr lang="en-US" sz="1913">
                  <a:solidFill>
                    <a:srgbClr val="000000"/>
                  </a:solidFill>
                  <a:latin typeface="Times New Roman"/>
                  <a:ea typeface="Times New Roman"/>
                  <a:cs typeface="Times New Roman"/>
                  <a:sym typeface="Times New Roman"/>
                </a:rPr>
                <a:t>However, a universal discount strategy fails because individual psychological traits like impulsiveness and deal proneness cause varied customer responses (Khan &amp; Lee, 2022).</a:t>
              </a:r>
            </a:p>
            <a:p>
              <a:pPr algn="l">
                <a:lnSpc>
                  <a:spcPts val="2296"/>
                </a:lnSpc>
              </a:pPr>
            </a:p>
            <a:p>
              <a:pPr algn="l" marL="381993" indent="-190996" lvl="1">
                <a:lnSpc>
                  <a:spcPts val="2296"/>
                </a:lnSpc>
                <a:buFont typeface="Arial"/>
                <a:buChar char="•"/>
              </a:pPr>
              <a:r>
                <a:rPr lang="en-US" sz="1913">
                  <a:solidFill>
                    <a:srgbClr val="000000"/>
                  </a:solidFill>
                  <a:latin typeface="Times New Roman"/>
                  <a:ea typeface="Times New Roman"/>
                  <a:cs typeface="Times New Roman"/>
                  <a:sym typeface="Times New Roman"/>
                </a:rPr>
                <a:t>The solution requires moving beyond basic demographics to identify which specific discount attributes (value, expiry, conditions) actually drive purchases for different shoppers (Grant, 2019).</a:t>
              </a:r>
            </a:p>
            <a:p>
              <a:pPr algn="l">
                <a:lnSpc>
                  <a:spcPts val="2296"/>
                </a:lnSpc>
              </a:pPr>
            </a:p>
            <a:p>
              <a:pPr algn="l" marL="381993" indent="-190996" lvl="1">
                <a:lnSpc>
                  <a:spcPts val="2296"/>
                </a:lnSpc>
                <a:buFont typeface="Arial"/>
                <a:buChar char="•"/>
              </a:pPr>
              <a:r>
                <a:rPr lang="en-US" sz="1913">
                  <a:solidFill>
                    <a:srgbClr val="000000"/>
                  </a:solidFill>
                  <a:latin typeface="Times New Roman"/>
                  <a:ea typeface="Times New Roman"/>
                  <a:cs typeface="Times New Roman"/>
                  <a:sym typeface="Times New Roman"/>
                </a:rPr>
                <a:t>This study addresses that gap by segmenting consumers based on psychology and preferences, creating a framework for data-driven, personalised promotions.</a:t>
              </a:r>
            </a:p>
            <a:p>
              <a:pPr algn="l" marL="382031" indent="-191015" lvl="1">
                <a:lnSpc>
                  <a:spcPts val="2296"/>
                </a:lnSpc>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787908"/>
            <a:chOff x="0" y="0"/>
            <a:chExt cx="2650220" cy="1050544"/>
          </a:xfrm>
        </p:grpSpPr>
        <p:sp>
          <p:nvSpPr>
            <p:cNvPr name="Freeform 6" id="6"/>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7" id="7"/>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8" id="8"/>
          <p:cNvGrpSpPr/>
          <p:nvPr/>
        </p:nvGrpSpPr>
        <p:grpSpPr>
          <a:xfrm rot="0">
            <a:off x="1810327" y="299257"/>
            <a:ext cx="1950719" cy="787908"/>
            <a:chOff x="0" y="0"/>
            <a:chExt cx="2600959" cy="1050544"/>
          </a:xfrm>
        </p:grpSpPr>
        <p:sp>
          <p:nvSpPr>
            <p:cNvPr name="Freeform 9" id="9"/>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10" id="10"/>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1" id="11"/>
          <p:cNvGrpSpPr/>
          <p:nvPr/>
        </p:nvGrpSpPr>
        <p:grpSpPr>
          <a:xfrm rot="0">
            <a:off x="2367857" y="1087165"/>
            <a:ext cx="4710995" cy="653760"/>
            <a:chOff x="0" y="0"/>
            <a:chExt cx="6281326" cy="871680"/>
          </a:xfrm>
        </p:grpSpPr>
        <p:sp>
          <p:nvSpPr>
            <p:cNvPr name="Freeform 12" id="12"/>
            <p:cNvSpPr/>
            <p:nvPr/>
          </p:nvSpPr>
          <p:spPr>
            <a:xfrm flipH="false" flipV="false" rot="0">
              <a:off x="0" y="0"/>
              <a:ext cx="6281327" cy="871680"/>
            </a:xfrm>
            <a:custGeom>
              <a:avLst/>
              <a:gdLst/>
              <a:ahLst/>
              <a:cxnLst/>
              <a:rect r="r" b="b" t="t" l="l"/>
              <a:pathLst>
                <a:path h="871680" w="6281327">
                  <a:moveTo>
                    <a:pt x="0" y="0"/>
                  </a:moveTo>
                  <a:lnTo>
                    <a:pt x="6281327" y="0"/>
                  </a:lnTo>
                  <a:lnTo>
                    <a:pt x="6281327" y="871680"/>
                  </a:lnTo>
                  <a:lnTo>
                    <a:pt x="0" y="871680"/>
                  </a:lnTo>
                  <a:close/>
                </a:path>
              </a:pathLst>
            </a:custGeom>
          </p:spPr>
        </p:sp>
        <p:sp>
          <p:nvSpPr>
            <p:cNvPr name="TextBox 13" id="13"/>
            <p:cNvSpPr txBox="true"/>
            <p:nvPr/>
          </p:nvSpPr>
          <p:spPr>
            <a:xfrm>
              <a:off x="0" y="-19050"/>
              <a:ext cx="6281326" cy="890730"/>
            </a:xfrm>
            <a:prstGeom prst="rect">
              <a:avLst/>
            </a:prstGeom>
          </p:spPr>
          <p:txBody>
            <a:bodyPr anchor="ctr" rtlCol="false" tIns="0" lIns="0" bIns="0" rIns="0"/>
            <a:lstStyle/>
            <a:p>
              <a:pPr algn="ctr">
                <a:lnSpc>
                  <a:spcPts val="3664"/>
                </a:lnSpc>
              </a:pPr>
              <a:r>
                <a:rPr lang="en-US" b="true" sz="3053">
                  <a:solidFill>
                    <a:srgbClr val="000000"/>
                  </a:solidFill>
                  <a:latin typeface="Times New Roman Bold"/>
                  <a:ea typeface="Times New Roman Bold"/>
                  <a:cs typeface="Times New Roman Bold"/>
                  <a:sym typeface="Times New Roman Bold"/>
                </a:rPr>
                <a:t>Literature Review</a:t>
              </a:r>
            </a:p>
          </p:txBody>
        </p:sp>
      </p:grpSp>
      <p:grpSp>
        <p:nvGrpSpPr>
          <p:cNvPr name="Group 14" id="14"/>
          <p:cNvGrpSpPr/>
          <p:nvPr/>
        </p:nvGrpSpPr>
        <p:grpSpPr>
          <a:xfrm rot="0">
            <a:off x="195491" y="1625723"/>
            <a:ext cx="9362618" cy="5574081"/>
            <a:chOff x="0" y="0"/>
            <a:chExt cx="12372635" cy="7366109"/>
          </a:xfrm>
        </p:grpSpPr>
        <p:sp>
          <p:nvSpPr>
            <p:cNvPr name="Freeform 15" id="15"/>
            <p:cNvSpPr/>
            <p:nvPr/>
          </p:nvSpPr>
          <p:spPr>
            <a:xfrm flipH="false" flipV="false" rot="0">
              <a:off x="0" y="0"/>
              <a:ext cx="12372635" cy="7366109"/>
            </a:xfrm>
            <a:custGeom>
              <a:avLst/>
              <a:gdLst/>
              <a:ahLst/>
              <a:cxnLst/>
              <a:rect r="r" b="b" t="t" l="l"/>
              <a:pathLst>
                <a:path h="7366109" w="12372635">
                  <a:moveTo>
                    <a:pt x="0" y="0"/>
                  </a:moveTo>
                  <a:lnTo>
                    <a:pt x="12372635" y="0"/>
                  </a:lnTo>
                  <a:lnTo>
                    <a:pt x="12372635" y="7366109"/>
                  </a:lnTo>
                  <a:lnTo>
                    <a:pt x="0" y="7366109"/>
                  </a:lnTo>
                  <a:close/>
                </a:path>
              </a:pathLst>
            </a:custGeom>
          </p:spPr>
        </p:sp>
        <p:sp>
          <p:nvSpPr>
            <p:cNvPr name="TextBox 16" id="16"/>
            <p:cNvSpPr txBox="true"/>
            <p:nvPr/>
          </p:nvSpPr>
          <p:spPr>
            <a:xfrm>
              <a:off x="0" y="-95250"/>
              <a:ext cx="12372635" cy="7461359"/>
            </a:xfrm>
            <a:prstGeom prst="rect">
              <a:avLst/>
            </a:prstGeom>
          </p:spPr>
          <p:txBody>
            <a:bodyPr anchor="ctr" rtlCol="false" tIns="0" lIns="0" bIns="0" rIns="0"/>
            <a:lstStyle/>
            <a:p>
              <a:pPr algn="l" marL="262202" indent="-131101" lvl="1">
                <a:lnSpc>
                  <a:spcPts val="2364"/>
                </a:lnSpc>
                <a:buFont typeface="Arial"/>
                <a:buChar char="•"/>
              </a:pPr>
              <a:r>
                <a:rPr lang="en-US" sz="1313">
                  <a:solidFill>
                    <a:srgbClr val="000000"/>
                  </a:solidFill>
                  <a:latin typeface="Times New Roman"/>
                  <a:ea typeface="Times New Roman"/>
                  <a:cs typeface="Times New Roman"/>
                  <a:sym typeface="Times New Roman"/>
                </a:rPr>
                <a:t>The study combines four established analytical techniques, Conjoint Analysis (CA), Structural Equation Modelling (SEM), K-means Clustering, and Logistic Regression into a single framework to bridge preference measurement and behavioural prediction (Head &amp; Ziolkowski, 2012).</a:t>
              </a:r>
            </a:p>
            <a:p>
              <a:pPr algn="l" marL="262202" indent="-131101" lvl="1">
                <a:lnSpc>
                  <a:spcPts val="2364"/>
                </a:lnSpc>
                <a:buFont typeface="Arial"/>
                <a:buChar char="•"/>
              </a:pPr>
              <a:r>
                <a:rPr lang="en-US" sz="1313">
                  <a:solidFill>
                    <a:srgbClr val="000000"/>
                  </a:solidFill>
                  <a:latin typeface="Times New Roman"/>
                  <a:ea typeface="Times New Roman"/>
                  <a:cs typeface="Times New Roman"/>
                  <a:sym typeface="Times New Roman"/>
                </a:rPr>
                <a:t> Based on Wang &amp; Wu (2014) and De Bruyn et al. (2008), CA was applied to estimate consumer utilities for key discount attributes (type, expiry, minimum spend, redemption). This step captures how consumers value different offer combinations while minimising survey fatigue.</a:t>
              </a:r>
            </a:p>
            <a:p>
              <a:pPr algn="l" marL="262202" indent="-131101" lvl="1">
                <a:lnSpc>
                  <a:spcPts val="2364"/>
                </a:lnSpc>
                <a:buFont typeface="Arial"/>
                <a:buChar char="•"/>
              </a:pPr>
              <a:r>
                <a:rPr lang="en-US" sz="1313">
                  <a:solidFill>
                    <a:srgbClr val="000000"/>
                  </a:solidFill>
                  <a:latin typeface="Times New Roman"/>
                  <a:ea typeface="Times New Roman"/>
                  <a:cs typeface="Times New Roman"/>
                  <a:sym typeface="Times New Roman"/>
                </a:rPr>
                <a:t> Grounded in the Theory of Planned Behaviour (TPB), SEM was used to explore how Attitude, Subjective Norms, Perceived Behavioural Control, Intention, and Behaviour influence coupon usage. Similar to Sentosa &amp; Mat (2012), this step explains why consumers act on their preferences rather than just what they prefer.</a:t>
              </a:r>
            </a:p>
            <a:p>
              <a:pPr algn="l" marL="262202" indent="-131101" lvl="1">
                <a:lnSpc>
                  <a:spcPts val="2364"/>
                </a:lnSpc>
                <a:buFont typeface="Arial"/>
                <a:buChar char="•"/>
              </a:pPr>
              <a:r>
                <a:rPr lang="en-US" sz="1313">
                  <a:solidFill>
                    <a:srgbClr val="000000"/>
                  </a:solidFill>
                  <a:latin typeface="Times New Roman"/>
                  <a:ea typeface="Times New Roman"/>
                  <a:cs typeface="Times New Roman"/>
                  <a:sym typeface="Times New Roman"/>
                </a:rPr>
                <a:t> Using outputs from CA and SEM, K-means clustering was performed to identify distinct consumer segments. This approach overcomes the limitations noted by John et al. (2023) and Vrhovac et al. (2024), who emphasised that demographic or transactional segmentation often fails to capture behavioural diversity.</a:t>
              </a:r>
            </a:p>
            <a:p>
              <a:pPr algn="l" marL="262202" indent="-131101" lvl="1">
                <a:lnSpc>
                  <a:spcPts val="2364"/>
                </a:lnSpc>
                <a:buFont typeface="Arial"/>
                <a:buChar char="•"/>
              </a:pPr>
              <a:r>
                <a:rPr lang="en-US" sz="1313">
                  <a:solidFill>
                    <a:srgbClr val="000000"/>
                  </a:solidFill>
                  <a:latin typeface="Times New Roman"/>
                  <a:ea typeface="Times New Roman"/>
                  <a:cs typeface="Times New Roman"/>
                  <a:sym typeface="Times New Roman"/>
                </a:rPr>
                <a:t> Following Chakraborty &amp; Cole (1991), Logistic Regression modelled the probability of purchase by integrating conjoint utilities, SEM scores, and cluster identities. This predictive model highlights which psychological and behavioural variables most strongly influence actual coupon redemption.</a:t>
              </a:r>
            </a:p>
            <a:p>
              <a:pPr algn="l" marL="262202" indent="-131101" lvl="1">
                <a:lnSpc>
                  <a:spcPts val="2364"/>
                </a:lnSpc>
                <a:buFont typeface="Arial"/>
                <a:buChar char="•"/>
              </a:pPr>
              <a:r>
                <a:rPr lang="en-US" sz="1313">
                  <a:solidFill>
                    <a:srgbClr val="000000"/>
                  </a:solidFill>
                  <a:latin typeface="Times New Roman"/>
                  <a:ea typeface="Times New Roman"/>
                  <a:cs typeface="Times New Roman"/>
                  <a:sym typeface="Times New Roman"/>
                </a:rPr>
                <a:t> Unlike prior studies that used these techniques in isolation, this framework connects CA → SEM → Clustering → Logistic Regression, creating a coherent path from consumer preference to purchase prediction. It fulfils the methodological need outlined by Langen &amp; Huber (2023) for integrated, data driven insights that move toward causal understanding in marketing analytics.</a:t>
              </a:r>
            </a:p>
            <a:p>
              <a:pPr algn="l">
                <a:lnSpc>
                  <a:spcPts val="2364"/>
                </a:lnSpc>
              </a:pP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787908"/>
            <a:chOff x="0" y="0"/>
            <a:chExt cx="2650220" cy="1050544"/>
          </a:xfrm>
        </p:grpSpPr>
        <p:sp>
          <p:nvSpPr>
            <p:cNvPr name="Freeform 6" id="6"/>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7" id="7"/>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8" id="8"/>
          <p:cNvGrpSpPr/>
          <p:nvPr/>
        </p:nvGrpSpPr>
        <p:grpSpPr>
          <a:xfrm rot="0">
            <a:off x="1810327" y="299257"/>
            <a:ext cx="1950719" cy="787908"/>
            <a:chOff x="0" y="0"/>
            <a:chExt cx="2600959" cy="1050544"/>
          </a:xfrm>
        </p:grpSpPr>
        <p:sp>
          <p:nvSpPr>
            <p:cNvPr name="Freeform 9" id="9"/>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10" id="10"/>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1" id="11"/>
          <p:cNvGrpSpPr/>
          <p:nvPr/>
        </p:nvGrpSpPr>
        <p:grpSpPr>
          <a:xfrm rot="0">
            <a:off x="2109269" y="1244339"/>
            <a:ext cx="5802449" cy="806751"/>
            <a:chOff x="0" y="0"/>
            <a:chExt cx="7736599" cy="1075668"/>
          </a:xfrm>
        </p:grpSpPr>
        <p:sp>
          <p:nvSpPr>
            <p:cNvPr name="Freeform 12" id="12"/>
            <p:cNvSpPr/>
            <p:nvPr/>
          </p:nvSpPr>
          <p:spPr>
            <a:xfrm flipH="false" flipV="false" rot="0">
              <a:off x="0" y="0"/>
              <a:ext cx="7736600" cy="1075668"/>
            </a:xfrm>
            <a:custGeom>
              <a:avLst/>
              <a:gdLst/>
              <a:ahLst/>
              <a:cxnLst/>
              <a:rect r="r" b="b" t="t" l="l"/>
              <a:pathLst>
                <a:path h="1075668" w="7736600">
                  <a:moveTo>
                    <a:pt x="0" y="0"/>
                  </a:moveTo>
                  <a:lnTo>
                    <a:pt x="7736600" y="0"/>
                  </a:lnTo>
                  <a:lnTo>
                    <a:pt x="7736600" y="1075668"/>
                  </a:lnTo>
                  <a:lnTo>
                    <a:pt x="0" y="1075668"/>
                  </a:lnTo>
                  <a:close/>
                </a:path>
              </a:pathLst>
            </a:custGeom>
          </p:spPr>
        </p:sp>
        <p:sp>
          <p:nvSpPr>
            <p:cNvPr name="TextBox 13" id="13"/>
            <p:cNvSpPr txBox="true"/>
            <p:nvPr/>
          </p:nvSpPr>
          <p:spPr>
            <a:xfrm>
              <a:off x="0" y="-19050"/>
              <a:ext cx="7736599" cy="1094718"/>
            </a:xfrm>
            <a:prstGeom prst="rect">
              <a:avLst/>
            </a:prstGeom>
          </p:spPr>
          <p:txBody>
            <a:bodyPr anchor="ctr" rtlCol="false" tIns="0" lIns="0" bIns="0" rIns="0"/>
            <a:lstStyle/>
            <a:p>
              <a:pPr algn="ctr">
                <a:lnSpc>
                  <a:spcPts val="4860"/>
                </a:lnSpc>
              </a:pPr>
              <a:r>
                <a:rPr lang="en-US" b="true" sz="4050">
                  <a:solidFill>
                    <a:srgbClr val="000000"/>
                  </a:solidFill>
                  <a:latin typeface="Times New Roman Bold"/>
                  <a:ea typeface="Times New Roman Bold"/>
                  <a:cs typeface="Times New Roman Bold"/>
                  <a:sym typeface="Times New Roman Bold"/>
                </a:rPr>
                <a:t>Research Methodologies</a:t>
              </a:r>
            </a:p>
          </p:txBody>
        </p:sp>
      </p:grpSp>
      <p:sp>
        <p:nvSpPr>
          <p:cNvPr name="TextBox 14" id="14"/>
          <p:cNvSpPr txBox="true"/>
          <p:nvPr/>
        </p:nvSpPr>
        <p:spPr>
          <a:xfrm rot="0">
            <a:off x="433865" y="1955840"/>
            <a:ext cx="8885871" cy="5168750"/>
          </a:xfrm>
          <a:prstGeom prst="rect">
            <a:avLst/>
          </a:prstGeom>
        </p:spPr>
        <p:txBody>
          <a:bodyPr anchor="t" rtlCol="false" tIns="0" lIns="0" bIns="0" rIns="0">
            <a:spAutoFit/>
          </a:bodyPr>
          <a:lstStyle/>
          <a:p>
            <a:pPr algn="l">
              <a:lnSpc>
                <a:spcPts val="2553"/>
              </a:lnSpc>
            </a:pPr>
            <a:r>
              <a:rPr lang="en-US" sz="1418">
                <a:solidFill>
                  <a:srgbClr val="000000"/>
                </a:solidFill>
                <a:latin typeface="Times New Roman"/>
                <a:ea typeface="Times New Roman"/>
                <a:cs typeface="Times New Roman"/>
                <a:sym typeface="Times New Roman"/>
              </a:rPr>
              <a:t>1. Data Collection</a:t>
            </a:r>
          </a:p>
          <a:p>
            <a:pPr algn="l" marL="278178" indent="-139089" lvl="1">
              <a:lnSpc>
                <a:spcPts val="2553"/>
              </a:lnSpc>
              <a:buFont typeface="Arial"/>
              <a:buChar char="•"/>
            </a:pPr>
            <a:r>
              <a:rPr lang="en-US" sz="1418">
                <a:solidFill>
                  <a:srgbClr val="000000"/>
                </a:solidFill>
                <a:latin typeface="Times New Roman"/>
                <a:ea typeface="Times New Roman"/>
                <a:cs typeface="Times New Roman"/>
                <a:sym typeface="Times New Roman"/>
              </a:rPr>
              <a:t>A structured online questionnaire was developed using Google Forms to collect primary data. The survey was designed with seven distinct sections to comprehensively capture respondent profiles, shopping behaviors, and psychological constructs relevant to the study.</a:t>
            </a:r>
          </a:p>
          <a:p>
            <a:pPr algn="l">
              <a:lnSpc>
                <a:spcPts val="2553"/>
              </a:lnSpc>
            </a:pPr>
            <a:r>
              <a:rPr lang="en-US" sz="1418">
                <a:solidFill>
                  <a:srgbClr val="000000"/>
                </a:solidFill>
                <a:latin typeface="Times New Roman"/>
                <a:ea typeface="Times New Roman"/>
                <a:cs typeface="Times New Roman"/>
                <a:sym typeface="Times New Roman"/>
              </a:rPr>
              <a:t>2. Instrument Design and Measures</a:t>
            </a:r>
          </a:p>
          <a:p>
            <a:pPr algn="l" marL="278178" indent="-139089" lvl="1">
              <a:lnSpc>
                <a:spcPts val="2553"/>
              </a:lnSpc>
              <a:buFont typeface="Arial"/>
              <a:buChar char="•"/>
            </a:pPr>
            <a:r>
              <a:rPr lang="en-US" sz="1418">
                <a:solidFill>
                  <a:srgbClr val="000000"/>
                </a:solidFill>
                <a:latin typeface="Times New Roman"/>
                <a:ea typeface="Times New Roman"/>
                <a:cs typeface="Times New Roman"/>
                <a:sym typeface="Times New Roman"/>
              </a:rPr>
              <a:t>The survey instrument incorporated multi-item scales to measure key psychological constructs, including:</a:t>
            </a:r>
          </a:p>
          <a:p>
            <a:pPr algn="l" marL="278178" indent="-139089" lvl="1">
              <a:lnSpc>
                <a:spcPts val="2553"/>
              </a:lnSpc>
              <a:buFont typeface="Arial"/>
              <a:buChar char="•"/>
            </a:pPr>
            <a:r>
              <a:rPr lang="en-US" sz="1418">
                <a:solidFill>
                  <a:srgbClr val="000000"/>
                </a:solidFill>
                <a:latin typeface="Times New Roman"/>
                <a:ea typeface="Times New Roman"/>
                <a:cs typeface="Times New Roman"/>
                <a:sym typeface="Times New Roman"/>
              </a:rPr>
              <a:t>Attitude, Subjective Norms, Perceived Behavioural Control, and Purchase Intention, measured on a 7-point Likert scale (from 1 = Strongly Disagree to 7 = Strongly Agree).</a:t>
            </a:r>
          </a:p>
          <a:p>
            <a:pPr algn="l" marL="278178" indent="-139089" lvl="1">
              <a:lnSpc>
                <a:spcPts val="2553"/>
              </a:lnSpc>
              <a:buFont typeface="Arial"/>
              <a:buChar char="•"/>
            </a:pPr>
            <a:r>
              <a:rPr lang="en-US" sz="1418">
                <a:solidFill>
                  <a:srgbClr val="000000"/>
                </a:solidFill>
                <a:latin typeface="Times New Roman"/>
                <a:ea typeface="Times New Roman"/>
                <a:cs typeface="Times New Roman"/>
                <a:sym typeface="Times New Roman"/>
              </a:rPr>
              <a:t>A Conjoint section to analyse consumer preferences for specific discount attributes </a:t>
            </a:r>
          </a:p>
          <a:p>
            <a:pPr algn="l" marL="278178" indent="-139089" lvl="1">
              <a:lnSpc>
                <a:spcPts val="2553"/>
              </a:lnSpc>
              <a:buFont typeface="Arial"/>
              <a:buChar char="•"/>
            </a:pPr>
            <a:r>
              <a:rPr lang="en-US" sz="1418">
                <a:solidFill>
                  <a:srgbClr val="000000"/>
                </a:solidFill>
                <a:latin typeface="Times New Roman"/>
                <a:ea typeface="Times New Roman"/>
                <a:cs typeface="Times New Roman"/>
                <a:sym typeface="Times New Roman"/>
              </a:rPr>
              <a:t>This multi-faceted design directly supports the application of advanced analytical techniques, including Structural Equation Modelling (SEM), Cluster Analysis, and Logistic Regression.</a:t>
            </a:r>
          </a:p>
          <a:p>
            <a:pPr algn="l">
              <a:lnSpc>
                <a:spcPts val="2553"/>
              </a:lnSpc>
            </a:pPr>
            <a:r>
              <a:rPr lang="en-US" sz="1418">
                <a:solidFill>
                  <a:srgbClr val="000000"/>
                </a:solidFill>
                <a:latin typeface="Times New Roman"/>
                <a:ea typeface="Times New Roman"/>
                <a:cs typeface="Times New Roman"/>
                <a:sym typeface="Times New Roman"/>
              </a:rPr>
              <a:t>3. Sample Characteristics</a:t>
            </a:r>
          </a:p>
          <a:p>
            <a:pPr algn="l" marL="278178" indent="-139089" lvl="1">
              <a:lnSpc>
                <a:spcPts val="2553"/>
              </a:lnSpc>
              <a:buFont typeface="Arial"/>
              <a:buChar char="•"/>
            </a:pPr>
            <a:r>
              <a:rPr lang="en-US" sz="1418">
                <a:solidFill>
                  <a:srgbClr val="000000"/>
                </a:solidFill>
                <a:latin typeface="Times New Roman"/>
                <a:ea typeface="Times New Roman"/>
                <a:cs typeface="Times New Roman"/>
                <a:sym typeface="Times New Roman"/>
              </a:rPr>
              <a:t>The final dataset comprised 253 valid responses, providing a robust foundation for statistical analysis.</a:t>
            </a:r>
          </a:p>
          <a:p>
            <a:pPr algn="l">
              <a:lnSpc>
                <a:spcPts val="2553"/>
              </a:lnSpc>
            </a:pPr>
            <a:r>
              <a:rPr lang="en-US" sz="1418">
                <a:solidFill>
                  <a:srgbClr val="000000"/>
                </a:solidFill>
                <a:latin typeface="Times New Roman"/>
                <a:ea typeface="Times New Roman"/>
                <a:cs typeface="Times New Roman"/>
                <a:sym typeface="Times New Roman"/>
              </a:rPr>
              <a:t>4. Data Analysis Framework</a:t>
            </a:r>
          </a:p>
          <a:p>
            <a:pPr algn="l" marL="278178" indent="-139089" lvl="1">
              <a:lnSpc>
                <a:spcPts val="2553"/>
              </a:lnSpc>
              <a:buFont typeface="Arial"/>
              <a:buChar char="•"/>
            </a:pPr>
            <a:r>
              <a:rPr lang="en-US" sz="1418">
                <a:solidFill>
                  <a:srgbClr val="000000"/>
                </a:solidFill>
                <a:latin typeface="Times New Roman"/>
                <a:ea typeface="Times New Roman"/>
                <a:cs typeface="Times New Roman"/>
                <a:sym typeface="Times New Roman"/>
              </a:rPr>
              <a:t>The data analysis was conducted using Python (with libraries including Pandas, NumPy, Scikit-learn, and StatsModels) and involved a multi-stage process: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787908"/>
            <a:chOff x="0" y="0"/>
            <a:chExt cx="2650220" cy="1050544"/>
          </a:xfrm>
        </p:grpSpPr>
        <p:sp>
          <p:nvSpPr>
            <p:cNvPr name="Freeform 6" id="6"/>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7" id="7"/>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8" id="8"/>
          <p:cNvGrpSpPr/>
          <p:nvPr/>
        </p:nvGrpSpPr>
        <p:grpSpPr>
          <a:xfrm rot="0">
            <a:off x="1810327" y="299257"/>
            <a:ext cx="1950719" cy="787908"/>
            <a:chOff x="0" y="0"/>
            <a:chExt cx="2600959" cy="1050544"/>
          </a:xfrm>
        </p:grpSpPr>
        <p:sp>
          <p:nvSpPr>
            <p:cNvPr name="Freeform 9" id="9"/>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10" id="10"/>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1" id="11"/>
          <p:cNvGrpSpPr/>
          <p:nvPr/>
        </p:nvGrpSpPr>
        <p:grpSpPr>
          <a:xfrm rot="0">
            <a:off x="3242023" y="1091939"/>
            <a:ext cx="3269554" cy="806751"/>
            <a:chOff x="0" y="0"/>
            <a:chExt cx="4359405" cy="1075668"/>
          </a:xfrm>
        </p:grpSpPr>
        <p:sp>
          <p:nvSpPr>
            <p:cNvPr name="Freeform 12" id="12"/>
            <p:cNvSpPr/>
            <p:nvPr/>
          </p:nvSpPr>
          <p:spPr>
            <a:xfrm flipH="false" flipV="false" rot="0">
              <a:off x="0" y="0"/>
              <a:ext cx="4359405" cy="1075668"/>
            </a:xfrm>
            <a:custGeom>
              <a:avLst/>
              <a:gdLst/>
              <a:ahLst/>
              <a:cxnLst/>
              <a:rect r="r" b="b" t="t" l="l"/>
              <a:pathLst>
                <a:path h="1075668" w="4359405">
                  <a:moveTo>
                    <a:pt x="0" y="0"/>
                  </a:moveTo>
                  <a:lnTo>
                    <a:pt x="4359405" y="0"/>
                  </a:lnTo>
                  <a:lnTo>
                    <a:pt x="4359405" y="1075668"/>
                  </a:lnTo>
                  <a:lnTo>
                    <a:pt x="0" y="1075668"/>
                  </a:lnTo>
                  <a:close/>
                </a:path>
              </a:pathLst>
            </a:custGeom>
          </p:spPr>
        </p:sp>
        <p:sp>
          <p:nvSpPr>
            <p:cNvPr name="TextBox 13" id="13"/>
            <p:cNvSpPr txBox="true"/>
            <p:nvPr/>
          </p:nvSpPr>
          <p:spPr>
            <a:xfrm>
              <a:off x="0" y="-19050"/>
              <a:ext cx="4359405" cy="1094718"/>
            </a:xfrm>
            <a:prstGeom prst="rect">
              <a:avLst/>
            </a:prstGeom>
          </p:spPr>
          <p:txBody>
            <a:bodyPr anchor="ctr" rtlCol="false" tIns="0" lIns="0" bIns="0" rIns="0"/>
            <a:lstStyle/>
            <a:p>
              <a:pPr algn="ctr">
                <a:lnSpc>
                  <a:spcPts val="4860"/>
                </a:lnSpc>
              </a:pPr>
              <a:r>
                <a:rPr lang="en-US" b="true" sz="4050">
                  <a:solidFill>
                    <a:srgbClr val="000000"/>
                  </a:solidFill>
                  <a:latin typeface="Times New Roman Bold"/>
                  <a:ea typeface="Times New Roman Bold"/>
                  <a:cs typeface="Times New Roman Bold"/>
                  <a:sym typeface="Times New Roman Bold"/>
                </a:rPr>
                <a:t>Objectives</a:t>
              </a:r>
            </a:p>
          </p:txBody>
        </p:sp>
      </p:grpSp>
      <p:sp>
        <p:nvSpPr>
          <p:cNvPr name="TextBox 14" id="14"/>
          <p:cNvSpPr txBox="true"/>
          <p:nvPr/>
        </p:nvSpPr>
        <p:spPr>
          <a:xfrm rot="0">
            <a:off x="421377" y="1914285"/>
            <a:ext cx="8910846" cy="4517898"/>
          </a:xfrm>
          <a:prstGeom prst="rect">
            <a:avLst/>
          </a:prstGeom>
        </p:spPr>
        <p:txBody>
          <a:bodyPr anchor="t" rtlCol="false" tIns="0" lIns="0" bIns="0" rIns="0">
            <a:spAutoFit/>
          </a:bodyPr>
          <a:lstStyle/>
          <a:p>
            <a:pPr algn="l">
              <a:lnSpc>
                <a:spcPts val="3977"/>
              </a:lnSpc>
            </a:pPr>
            <a:r>
              <a:rPr lang="en-US" sz="2209">
                <a:solidFill>
                  <a:srgbClr val="000000"/>
                </a:solidFill>
                <a:latin typeface="Times New Roman"/>
                <a:ea typeface="Times New Roman"/>
                <a:cs typeface="Times New Roman"/>
                <a:sym typeface="Times New Roman"/>
              </a:rPr>
              <a:t>To develop an integrated analytical framework to understand, segment, and predict consumer responses to discount deals:</a:t>
            </a:r>
          </a:p>
          <a:p>
            <a:pPr algn="l" marL="433517" indent="-216759" lvl="1">
              <a:lnSpc>
                <a:spcPts val="3977"/>
              </a:lnSpc>
              <a:buFont typeface="Arial"/>
              <a:buChar char="•"/>
            </a:pPr>
            <a:r>
              <a:rPr lang="en-US" sz="2209">
                <a:solidFill>
                  <a:srgbClr val="000000"/>
                </a:solidFill>
                <a:latin typeface="Times New Roman"/>
                <a:ea typeface="Times New Roman"/>
                <a:cs typeface="Times New Roman"/>
                <a:sym typeface="Times New Roman"/>
              </a:rPr>
              <a:t>Study 1: </a:t>
            </a:r>
            <a:r>
              <a:rPr lang="en-US" sz="2209">
                <a:solidFill>
                  <a:srgbClr val="000000"/>
                </a:solidFill>
                <a:latin typeface="Times New Roman"/>
                <a:ea typeface="Times New Roman"/>
                <a:cs typeface="Times New Roman"/>
                <a:sym typeface="Times New Roman"/>
              </a:rPr>
              <a:t>To identify key discount attributes influencing consumer choice and quantify attribute importance and part-worth utilities.</a:t>
            </a:r>
          </a:p>
          <a:p>
            <a:pPr algn="l" marL="433517" indent="-216759" lvl="1">
              <a:lnSpc>
                <a:spcPts val="3977"/>
              </a:lnSpc>
              <a:buFont typeface="Arial"/>
              <a:buChar char="•"/>
            </a:pPr>
            <a:r>
              <a:rPr lang="en-US" sz="2209">
                <a:solidFill>
                  <a:srgbClr val="000000"/>
                </a:solidFill>
                <a:latin typeface="Times New Roman"/>
                <a:ea typeface="Times New Roman"/>
                <a:cs typeface="Times New Roman"/>
                <a:sym typeface="Times New Roman"/>
              </a:rPr>
              <a:t>Study 2: To examine psychological drivers of purchase intention.</a:t>
            </a:r>
          </a:p>
          <a:p>
            <a:pPr algn="l" marL="433517" indent="-216759" lvl="1">
              <a:lnSpc>
                <a:spcPts val="3977"/>
              </a:lnSpc>
              <a:buFont typeface="Arial"/>
              <a:buChar char="•"/>
            </a:pPr>
            <a:r>
              <a:rPr lang="en-US" sz="2209">
                <a:solidFill>
                  <a:srgbClr val="000000"/>
                </a:solidFill>
                <a:latin typeface="Times New Roman"/>
                <a:ea typeface="Times New Roman"/>
                <a:cs typeface="Times New Roman"/>
                <a:sym typeface="Times New Roman"/>
              </a:rPr>
              <a:t>Study 3: To segment consumers into homogeneous groups.</a:t>
            </a:r>
          </a:p>
          <a:p>
            <a:pPr algn="l" marL="433353" indent="-216677" lvl="1">
              <a:lnSpc>
                <a:spcPts val="3977"/>
              </a:lnSpc>
              <a:buFont typeface="Arial"/>
              <a:buChar char="•"/>
            </a:pPr>
            <a:r>
              <a:rPr lang="en-US" sz="2209">
                <a:solidFill>
                  <a:srgbClr val="000000"/>
                </a:solidFill>
                <a:latin typeface="Times New Roman"/>
                <a:ea typeface="Times New Roman"/>
                <a:cs typeface="Times New Roman"/>
                <a:sym typeface="Times New Roman"/>
              </a:rPr>
              <a:t>Study 4: To predict the likelihood of purchase when consumers receive preferred offers, linking preference and behavioral data.</a:t>
            </a:r>
          </a:p>
          <a:p>
            <a:pPr algn="l" marL="433517" indent="-216759" lvl="1">
              <a:lnSpc>
                <a:spcPts val="3977"/>
              </a:lnSpc>
              <a:buFont typeface="Arial"/>
              <a:buChar char="•"/>
            </a:pPr>
            <a:r>
              <a:rPr lang="en-US" sz="2209">
                <a:solidFill>
                  <a:srgbClr val="000000"/>
                </a:solidFill>
                <a:latin typeface="Times New Roman"/>
                <a:ea typeface="Times New Roman"/>
                <a:cs typeface="Times New Roman"/>
                <a:sym typeface="Times New Roman"/>
              </a:rPr>
              <a:t> Study 5: To study application of the Integrated Framework.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787908"/>
            <a:chOff x="0" y="0"/>
            <a:chExt cx="2650220" cy="1050544"/>
          </a:xfrm>
        </p:grpSpPr>
        <p:sp>
          <p:nvSpPr>
            <p:cNvPr name="Freeform 6" id="6"/>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7" id="7"/>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8" id="8"/>
          <p:cNvGrpSpPr/>
          <p:nvPr/>
        </p:nvGrpSpPr>
        <p:grpSpPr>
          <a:xfrm rot="0">
            <a:off x="1810327" y="299257"/>
            <a:ext cx="1950719" cy="787908"/>
            <a:chOff x="0" y="0"/>
            <a:chExt cx="2600959" cy="1050544"/>
          </a:xfrm>
        </p:grpSpPr>
        <p:sp>
          <p:nvSpPr>
            <p:cNvPr name="Freeform 9" id="9"/>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10" id="10"/>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1" id="11"/>
          <p:cNvGrpSpPr/>
          <p:nvPr/>
        </p:nvGrpSpPr>
        <p:grpSpPr>
          <a:xfrm rot="0">
            <a:off x="2001365" y="1091939"/>
            <a:ext cx="5943928" cy="806751"/>
            <a:chOff x="0" y="0"/>
            <a:chExt cx="7925237" cy="1075668"/>
          </a:xfrm>
        </p:grpSpPr>
        <p:sp>
          <p:nvSpPr>
            <p:cNvPr name="Freeform 12" id="12"/>
            <p:cNvSpPr/>
            <p:nvPr/>
          </p:nvSpPr>
          <p:spPr>
            <a:xfrm flipH="false" flipV="false" rot="0">
              <a:off x="0" y="0"/>
              <a:ext cx="7925237" cy="1075668"/>
            </a:xfrm>
            <a:custGeom>
              <a:avLst/>
              <a:gdLst/>
              <a:ahLst/>
              <a:cxnLst/>
              <a:rect r="r" b="b" t="t" l="l"/>
              <a:pathLst>
                <a:path h="1075668" w="7925237">
                  <a:moveTo>
                    <a:pt x="0" y="0"/>
                  </a:moveTo>
                  <a:lnTo>
                    <a:pt x="7925237" y="0"/>
                  </a:lnTo>
                  <a:lnTo>
                    <a:pt x="7925237" y="1075668"/>
                  </a:lnTo>
                  <a:lnTo>
                    <a:pt x="0" y="1075668"/>
                  </a:lnTo>
                  <a:close/>
                </a:path>
              </a:pathLst>
            </a:custGeom>
          </p:spPr>
        </p:sp>
        <p:sp>
          <p:nvSpPr>
            <p:cNvPr name="TextBox 13" id="13"/>
            <p:cNvSpPr txBox="true"/>
            <p:nvPr/>
          </p:nvSpPr>
          <p:spPr>
            <a:xfrm>
              <a:off x="0" y="-19050"/>
              <a:ext cx="7925237" cy="1094718"/>
            </a:xfrm>
            <a:prstGeom prst="rect">
              <a:avLst/>
            </a:prstGeom>
          </p:spPr>
          <p:txBody>
            <a:bodyPr anchor="ctr" rtlCol="false" tIns="0" lIns="0" bIns="0" rIns="0"/>
            <a:lstStyle/>
            <a:p>
              <a:pPr algn="ctr">
                <a:lnSpc>
                  <a:spcPts val="4860"/>
                </a:lnSpc>
              </a:pPr>
              <a:r>
                <a:rPr lang="en-US" b="true" sz="4050">
                  <a:solidFill>
                    <a:srgbClr val="000000"/>
                  </a:solidFill>
                  <a:latin typeface="Times New Roman Bold"/>
                  <a:ea typeface="Times New Roman Bold"/>
                  <a:cs typeface="Times New Roman Bold"/>
                  <a:sym typeface="Times New Roman Bold"/>
                </a:rPr>
                <a:t>Exploratory Data Analysis</a:t>
              </a:r>
            </a:p>
          </p:txBody>
        </p:sp>
      </p:grpSp>
      <p:graphicFrame>
        <p:nvGraphicFramePr>
          <p:cNvPr name="Table 14" id="14"/>
          <p:cNvGraphicFramePr>
            <a:graphicFrameLocks noGrp="true"/>
          </p:cNvGraphicFramePr>
          <p:nvPr/>
        </p:nvGraphicFramePr>
        <p:xfrm>
          <a:off x="528613" y="1898690"/>
          <a:ext cx="8696374" cy="5086826"/>
        </p:xfrm>
        <a:graphic>
          <a:graphicData uri="http://schemas.openxmlformats.org/drawingml/2006/table">
            <a:tbl>
              <a:tblPr/>
              <a:tblGrid>
                <a:gridCol w="2496895"/>
                <a:gridCol w="2630581"/>
                <a:gridCol w="3568898"/>
              </a:tblGrid>
              <a:tr h="728468">
                <a:tc>
                  <a:txBody>
                    <a:bodyPr anchor="t" rtlCol="false"/>
                    <a:lstStyle/>
                    <a:p>
                      <a:pPr algn="ctr">
                        <a:lnSpc>
                          <a:spcPts val="1959"/>
                        </a:lnSpc>
                        <a:defRPr/>
                      </a:pPr>
                      <a:r>
                        <a:rPr lang="en-US" sz="1399" b="true">
                          <a:solidFill>
                            <a:srgbClr val="000000"/>
                          </a:solidFill>
                          <a:latin typeface="Times New Roman Bold"/>
                          <a:ea typeface="Times New Roman Bold"/>
                          <a:cs typeface="Times New Roman Bold"/>
                          <a:sym typeface="Times New Roman Bold"/>
                        </a:rPr>
                        <a:t>Demographic Factor</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959"/>
                        </a:lnSpc>
                        <a:defRPr/>
                      </a:pPr>
                      <a:r>
                        <a:rPr lang="en-US" sz="1399" b="true">
                          <a:solidFill>
                            <a:srgbClr val="000000"/>
                          </a:solidFill>
                          <a:latin typeface="Times New Roman Bold"/>
                          <a:ea typeface="Times New Roman Bold"/>
                          <a:cs typeface="Times New Roman Bold"/>
                          <a:sym typeface="Times New Roman Bold"/>
                        </a:rPr>
                        <a:t>Key Finding</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959"/>
                        </a:lnSpc>
                        <a:defRPr/>
                      </a:pPr>
                      <a:r>
                        <a:rPr lang="en-US" sz="1399" b="true">
                          <a:solidFill>
                            <a:srgbClr val="000000"/>
                          </a:solidFill>
                          <a:latin typeface="Times New Roman Bold"/>
                          <a:ea typeface="Times New Roman Bold"/>
                          <a:cs typeface="Times New Roman Bold"/>
                          <a:sym typeface="Times New Roman Bold"/>
                        </a:rPr>
                        <a:t>Interpretation</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1672">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Online Shopping Frequency</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51.4% shop less than monthly</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Infrequent but consistent e-commerce engagement</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1672">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Average Monthly Online Spending</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51% spend &lt;₹2,000 monthly</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Price-conscious consumer segment</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1672">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Monthly Household Income</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44.7% above ₹1,00,000</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Strong purchasing capacity among respondents</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1672">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Loyalty Program Usage</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56.9% use loyalty programs</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ctr">
                        <a:lnSpc>
                          <a:spcPts val="1959"/>
                        </a:lnSpc>
                        <a:defRPr/>
                      </a:pPr>
                      <a:r>
                        <a:rPr lang="en-US" sz="1399">
                          <a:solidFill>
                            <a:srgbClr val="000000"/>
                          </a:solidFill>
                          <a:latin typeface="Times New Roman"/>
                          <a:ea typeface="Times New Roman"/>
                          <a:cs typeface="Times New Roman"/>
                          <a:sym typeface="Times New Roman"/>
                        </a:rPr>
                        <a:t>Customer openness to incentive-driven engagement</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r h="871672">
                <a:tc>
                  <a:txBody>
                    <a:bodyPr anchor="t" rtlCol="false"/>
                    <a:lstStyle/>
                    <a:p>
                      <a:pPr algn="l">
                        <a:lnSpc>
                          <a:spcPts val="1959"/>
                        </a:lnSpc>
                        <a:defRPr/>
                      </a:pPr>
                      <a:r>
                        <a:rPr lang="en-US" sz="1399">
                          <a:solidFill>
                            <a:srgbClr val="000000"/>
                          </a:solidFill>
                          <a:latin typeface="Times New Roman"/>
                          <a:ea typeface="Times New Roman"/>
                          <a:cs typeface="Times New Roman"/>
                          <a:sym typeface="Times New Roman"/>
                        </a:rPr>
                        <a:t>Discount Preference</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959"/>
                        </a:lnSpc>
                        <a:defRPr/>
                      </a:pPr>
                      <a:r>
                        <a:rPr lang="en-US" sz="1399">
                          <a:solidFill>
                            <a:srgbClr val="0F1115"/>
                          </a:solidFill>
                          <a:latin typeface="Times New Roman"/>
                          <a:ea typeface="Times New Roman"/>
                          <a:cs typeface="Times New Roman"/>
                          <a:sym typeface="Times New Roman"/>
                        </a:rPr>
                        <a:t>65.6% neutral to discount type</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c>
                  <a:txBody>
                    <a:bodyPr anchor="t" rtlCol="false"/>
                    <a:lstStyle/>
                    <a:p>
                      <a:pPr algn="l">
                        <a:lnSpc>
                          <a:spcPts val="1959"/>
                        </a:lnSpc>
                        <a:defRPr/>
                      </a:pPr>
                      <a:r>
                        <a:rPr lang="en-US" sz="1399">
                          <a:solidFill>
                            <a:srgbClr val="0F1115"/>
                          </a:solidFill>
                          <a:latin typeface="Times New Roman"/>
                          <a:ea typeface="Times New Roman"/>
                          <a:cs typeface="Times New Roman"/>
                          <a:sym typeface="Times New Roman"/>
                        </a:rPr>
                        <a:t>Limited sensitivity to personalized vs. general discounts</a:t>
                      </a:r>
                      <a:endParaRPr lang="en-US" sz="1100"/>
                    </a:p>
                  </a:txBody>
                  <a:tcPr marL="152400" marR="152400" marT="152400" marB="152400" anchor="ctr">
                    <a:lnL cmpd="sng" algn="ctr" cap="flat" w="28575">
                      <a:solidFill>
                        <a:srgbClr val="000000"/>
                      </a:solidFill>
                      <a:prstDash val="solid"/>
                      <a:round/>
                      <a:headEnd type="none" w="med" len="med"/>
                      <a:tailEnd type="none" w="med" len="med"/>
                    </a:lnL>
                    <a:lnR cmpd="sng" algn="ctr" cap="flat" w="28575">
                      <a:solidFill>
                        <a:srgbClr val="000000"/>
                      </a:solidFill>
                      <a:prstDash val="solid"/>
                      <a:round/>
                      <a:headEnd type="none" w="med" len="med"/>
                      <a:tailEnd type="none" w="med" len="med"/>
                    </a:lnR>
                    <a:lnT cmpd="sng" algn="ctr" cap="flat" w="28575">
                      <a:solidFill>
                        <a:srgbClr val="000000"/>
                      </a:solidFill>
                      <a:prstDash val="solid"/>
                      <a:round/>
                      <a:headEnd type="none" w="med" len="med"/>
                      <a:tailEnd type="none" w="med" len="med"/>
                    </a:lnT>
                    <a:lnB cmpd="sng" algn="ctr" cap="flat" w="28575">
                      <a:solidFill>
                        <a:srgbClr val="000000"/>
                      </a:solidFill>
                      <a:prstDash val="solid"/>
                      <a:round/>
                      <a:headEnd type="none" w="med" len="med"/>
                      <a:tailEnd type="none" w="med" len="med"/>
                    </a:lnB>
                  </a:tcPr>
                </a:tc>
              </a:tr>
            </a:tbl>
          </a:graphicData>
        </a:graphic>
      </p:graphicFrame>
      <p:sp>
        <p:nvSpPr>
          <p:cNvPr name="TextBox 15" id="15"/>
          <p:cNvSpPr txBox="true"/>
          <p:nvPr/>
        </p:nvSpPr>
        <p:spPr>
          <a:xfrm rot="0">
            <a:off x="4652776" y="7011810"/>
            <a:ext cx="448047"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T</a:t>
            </a:r>
            <a:r>
              <a:rPr lang="en-US" sz="1193">
                <a:solidFill>
                  <a:srgbClr val="0F1115"/>
                </a:solidFill>
                <a:latin typeface="Times New Roman"/>
                <a:ea typeface="Times New Roman"/>
                <a:cs typeface="Times New Roman"/>
                <a:sym typeface="Times New Roman"/>
              </a:rPr>
              <a:t>able 1</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8655"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787908"/>
            <a:chOff x="0" y="0"/>
            <a:chExt cx="2650220" cy="1050544"/>
          </a:xfrm>
        </p:grpSpPr>
        <p:sp>
          <p:nvSpPr>
            <p:cNvPr name="Freeform 5" id="5"/>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6" id="6"/>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7" id="7"/>
          <p:cNvGrpSpPr/>
          <p:nvPr/>
        </p:nvGrpSpPr>
        <p:grpSpPr>
          <a:xfrm rot="0">
            <a:off x="1810327" y="299257"/>
            <a:ext cx="1950719" cy="787908"/>
            <a:chOff x="0" y="0"/>
            <a:chExt cx="2600959" cy="1050544"/>
          </a:xfrm>
        </p:grpSpPr>
        <p:sp>
          <p:nvSpPr>
            <p:cNvPr name="Freeform 8" id="8"/>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9" id="9"/>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0" id="10"/>
          <p:cNvGrpSpPr/>
          <p:nvPr/>
        </p:nvGrpSpPr>
        <p:grpSpPr>
          <a:xfrm rot="0">
            <a:off x="648674" y="3317358"/>
            <a:ext cx="8456251" cy="1237177"/>
            <a:chOff x="0" y="0"/>
            <a:chExt cx="9737986" cy="1424699"/>
          </a:xfrm>
        </p:grpSpPr>
        <p:sp>
          <p:nvSpPr>
            <p:cNvPr name="Freeform 11" id="11"/>
            <p:cNvSpPr/>
            <p:nvPr/>
          </p:nvSpPr>
          <p:spPr>
            <a:xfrm flipH="false" flipV="false" rot="0">
              <a:off x="0" y="0"/>
              <a:ext cx="9737986" cy="1424699"/>
            </a:xfrm>
            <a:custGeom>
              <a:avLst/>
              <a:gdLst/>
              <a:ahLst/>
              <a:cxnLst/>
              <a:rect r="r" b="b" t="t" l="l"/>
              <a:pathLst>
                <a:path h="1424699" w="9737986">
                  <a:moveTo>
                    <a:pt x="0" y="0"/>
                  </a:moveTo>
                  <a:lnTo>
                    <a:pt x="9737986" y="0"/>
                  </a:lnTo>
                  <a:lnTo>
                    <a:pt x="9737986" y="1424699"/>
                  </a:lnTo>
                  <a:lnTo>
                    <a:pt x="0" y="1424699"/>
                  </a:lnTo>
                  <a:close/>
                </a:path>
              </a:pathLst>
            </a:custGeom>
          </p:spPr>
        </p:sp>
        <p:sp>
          <p:nvSpPr>
            <p:cNvPr name="TextBox 12" id="12"/>
            <p:cNvSpPr txBox="true"/>
            <p:nvPr/>
          </p:nvSpPr>
          <p:spPr>
            <a:xfrm>
              <a:off x="0" y="-19050"/>
              <a:ext cx="9737986" cy="1443749"/>
            </a:xfrm>
            <a:prstGeom prst="rect">
              <a:avLst/>
            </a:prstGeom>
          </p:spPr>
          <p:txBody>
            <a:bodyPr anchor="ctr" rtlCol="false" tIns="0" lIns="0" bIns="0" rIns="0"/>
            <a:lstStyle/>
            <a:p>
              <a:pPr algn="ctr">
                <a:lnSpc>
                  <a:spcPts val="4860"/>
                </a:lnSpc>
              </a:pPr>
              <a:r>
                <a:rPr lang="en-US" b="true" sz="4050">
                  <a:solidFill>
                    <a:srgbClr val="000000"/>
                  </a:solidFill>
                  <a:latin typeface="Times New Roman Bold"/>
                  <a:ea typeface="Times New Roman Bold"/>
                  <a:cs typeface="Times New Roman Bold"/>
                  <a:sym typeface="Times New Roman Bold"/>
                </a:rPr>
                <a:t>Study 1 : To identify key discount attributes influencing consumer choice</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787908"/>
            <a:chOff x="0" y="0"/>
            <a:chExt cx="2650220" cy="1050544"/>
          </a:xfrm>
        </p:grpSpPr>
        <p:sp>
          <p:nvSpPr>
            <p:cNvPr name="Freeform 5" id="5"/>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6" id="6"/>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7" id="7"/>
          <p:cNvGrpSpPr/>
          <p:nvPr/>
        </p:nvGrpSpPr>
        <p:grpSpPr>
          <a:xfrm rot="0">
            <a:off x="1810327" y="299257"/>
            <a:ext cx="1950719" cy="787908"/>
            <a:chOff x="0" y="0"/>
            <a:chExt cx="2600959" cy="1050544"/>
          </a:xfrm>
        </p:grpSpPr>
        <p:sp>
          <p:nvSpPr>
            <p:cNvPr name="Freeform 8" id="8"/>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9" id="9"/>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sp>
        <p:nvSpPr>
          <p:cNvPr name="Freeform 10" id="10"/>
          <p:cNvSpPr/>
          <p:nvPr/>
        </p:nvSpPr>
        <p:spPr>
          <a:xfrm flipH="false" flipV="false" rot="0">
            <a:off x="1396501" y="2861175"/>
            <a:ext cx="7173538" cy="4214454"/>
          </a:xfrm>
          <a:custGeom>
            <a:avLst/>
            <a:gdLst/>
            <a:ahLst/>
            <a:cxnLst/>
            <a:rect r="r" b="b" t="t" l="l"/>
            <a:pathLst>
              <a:path h="4214454" w="7173538">
                <a:moveTo>
                  <a:pt x="0" y="0"/>
                </a:moveTo>
                <a:lnTo>
                  <a:pt x="7173538" y="0"/>
                </a:lnTo>
                <a:lnTo>
                  <a:pt x="7173538" y="4214453"/>
                </a:lnTo>
                <a:lnTo>
                  <a:pt x="0" y="4214453"/>
                </a:lnTo>
                <a:lnTo>
                  <a:pt x="0" y="0"/>
                </a:lnTo>
                <a:close/>
              </a:path>
            </a:pathLst>
          </a:custGeom>
          <a:blipFill>
            <a:blip r:embed="rId4"/>
            <a:stretch>
              <a:fillRect l="0" t="0" r="0" b="0"/>
            </a:stretch>
          </a:blipFill>
          <a:ln w="19050" cap="sq">
            <a:solidFill>
              <a:srgbClr val="000000"/>
            </a:solidFill>
            <a:prstDash val="solid"/>
            <a:miter/>
          </a:ln>
        </p:spPr>
      </p:sp>
      <p:sp>
        <p:nvSpPr>
          <p:cNvPr name="TextBox 11" id="11"/>
          <p:cNvSpPr txBox="true"/>
          <p:nvPr/>
        </p:nvSpPr>
        <p:spPr>
          <a:xfrm rot="0">
            <a:off x="898357" y="1403331"/>
            <a:ext cx="8131727" cy="1263777"/>
          </a:xfrm>
          <a:prstGeom prst="rect">
            <a:avLst/>
          </a:prstGeom>
        </p:spPr>
        <p:txBody>
          <a:bodyPr anchor="t" rtlCol="false" tIns="0" lIns="0" bIns="0" rIns="0">
            <a:spAutoFit/>
          </a:bodyPr>
          <a:lstStyle/>
          <a:p>
            <a:pPr algn="l">
              <a:lnSpc>
                <a:spcPts val="2484"/>
              </a:lnSpc>
            </a:pPr>
            <a:r>
              <a:rPr lang="en-US" sz="1800">
                <a:solidFill>
                  <a:srgbClr val="0F1115"/>
                </a:solidFill>
                <a:latin typeface="Times New Roman"/>
                <a:ea typeface="Times New Roman"/>
                <a:cs typeface="Times New Roman"/>
                <a:sym typeface="Times New Roman"/>
              </a:rPr>
              <a:t>Conjoint Analysis is used in this study to measure consumer preferences for different discount coupon attributes. It helps identify which specific features i.e. discount type, minimum spend, expiry period, and redemption method, are most valued by clothing shoppers and have the greatest impact on their purchase decisions</a:t>
            </a:r>
          </a:p>
        </p:txBody>
      </p:sp>
      <p:sp>
        <p:nvSpPr>
          <p:cNvPr name="TextBox 12" id="12"/>
          <p:cNvSpPr txBox="true"/>
          <p:nvPr/>
        </p:nvSpPr>
        <p:spPr>
          <a:xfrm rot="0">
            <a:off x="4964220" y="6733582"/>
            <a:ext cx="277937"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a:t>
            </a:r>
            <a:r>
              <a:rPr lang="en-US" sz="1193">
                <a:solidFill>
                  <a:srgbClr val="0F1115"/>
                </a:solidFill>
                <a:latin typeface="Times New Roman"/>
                <a:ea typeface="Times New Roman"/>
                <a:cs typeface="Times New Roman"/>
                <a:sym typeface="Times New Roman"/>
              </a:rPr>
              <a:t>1</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787908"/>
            <a:chOff x="0" y="0"/>
            <a:chExt cx="2650220" cy="1050544"/>
          </a:xfrm>
        </p:grpSpPr>
        <p:sp>
          <p:nvSpPr>
            <p:cNvPr name="Freeform 5" id="5"/>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6" id="6"/>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7" id="7"/>
          <p:cNvGrpSpPr/>
          <p:nvPr/>
        </p:nvGrpSpPr>
        <p:grpSpPr>
          <a:xfrm rot="0">
            <a:off x="1810327" y="299257"/>
            <a:ext cx="1950719" cy="787908"/>
            <a:chOff x="0" y="0"/>
            <a:chExt cx="2600959" cy="1050544"/>
          </a:xfrm>
        </p:grpSpPr>
        <p:sp>
          <p:nvSpPr>
            <p:cNvPr name="Freeform 8" id="8"/>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9" id="9"/>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sp>
        <p:nvSpPr>
          <p:cNvPr name="Freeform 10" id="10"/>
          <p:cNvSpPr/>
          <p:nvPr/>
        </p:nvSpPr>
        <p:spPr>
          <a:xfrm flipH="false" flipV="false" rot="0">
            <a:off x="-478254" y="1233960"/>
            <a:ext cx="6156727" cy="5825517"/>
          </a:xfrm>
          <a:custGeom>
            <a:avLst/>
            <a:gdLst/>
            <a:ahLst/>
            <a:cxnLst/>
            <a:rect r="r" b="b" t="t" l="l"/>
            <a:pathLst>
              <a:path h="5825517" w="6156727">
                <a:moveTo>
                  <a:pt x="0" y="0"/>
                </a:moveTo>
                <a:lnTo>
                  <a:pt x="6156727" y="0"/>
                </a:lnTo>
                <a:lnTo>
                  <a:pt x="6156727" y="5825517"/>
                </a:lnTo>
                <a:lnTo>
                  <a:pt x="0" y="5825517"/>
                </a:lnTo>
                <a:lnTo>
                  <a:pt x="0" y="0"/>
                </a:lnTo>
                <a:close/>
              </a:path>
            </a:pathLst>
          </a:custGeom>
          <a:blipFill>
            <a:blip r:embed="rId4"/>
            <a:stretch>
              <a:fillRect l="0" t="0" r="-14631" b="-2129"/>
            </a:stretch>
          </a:blipFill>
          <a:ln cap="sq">
            <a:noFill/>
            <a:prstDash val="solid"/>
            <a:miter/>
          </a:ln>
        </p:spPr>
      </p:sp>
      <p:sp>
        <p:nvSpPr>
          <p:cNvPr name="TextBox 11" id="11"/>
          <p:cNvSpPr txBox="true"/>
          <p:nvPr/>
        </p:nvSpPr>
        <p:spPr>
          <a:xfrm rot="0">
            <a:off x="5678473" y="1197441"/>
            <a:ext cx="3942900" cy="6157005"/>
          </a:xfrm>
          <a:prstGeom prst="rect">
            <a:avLst/>
          </a:prstGeom>
        </p:spPr>
        <p:txBody>
          <a:bodyPr anchor="t" rtlCol="false" tIns="0" lIns="0" bIns="0" rIns="0">
            <a:spAutoFit/>
          </a:bodyPr>
          <a:lstStyle/>
          <a:p>
            <a:pPr algn="l" marL="347307" indent="-173654" lvl="1">
              <a:lnSpc>
                <a:spcPts val="2895"/>
              </a:lnSpc>
              <a:buFont typeface="Arial"/>
              <a:buChar char="•"/>
            </a:pPr>
            <a:r>
              <a:rPr lang="en-US" sz="1608">
                <a:solidFill>
                  <a:srgbClr val="000000"/>
                </a:solidFill>
                <a:latin typeface="Times New Roman"/>
                <a:ea typeface="Times New Roman"/>
                <a:cs typeface="Times New Roman"/>
                <a:sym typeface="Times New Roman"/>
              </a:rPr>
              <a:t>Minimum Spend (28 %) is the most influential factor, showing consumers prefer coupons that require lower spending thresholds for redemption the most.</a:t>
            </a:r>
          </a:p>
          <a:p>
            <a:pPr algn="l">
              <a:lnSpc>
                <a:spcPts val="2895"/>
              </a:lnSpc>
            </a:pPr>
          </a:p>
          <a:p>
            <a:pPr algn="l" marL="347307" indent="-173654" lvl="1">
              <a:lnSpc>
                <a:spcPts val="2895"/>
              </a:lnSpc>
              <a:buFont typeface="Arial"/>
              <a:buChar char="•"/>
            </a:pPr>
            <a:r>
              <a:rPr lang="en-US" sz="1608">
                <a:solidFill>
                  <a:srgbClr val="000000"/>
                </a:solidFill>
                <a:latin typeface="Times New Roman"/>
                <a:ea typeface="Times New Roman"/>
                <a:cs typeface="Times New Roman"/>
                <a:sym typeface="Times New Roman"/>
              </a:rPr>
              <a:t>Discount Type (27 %) and Expiry (26.0%) are almost equally important, indicating that both-the format of the discount (e.g., flat, % off) and the coupon’s validity period significantly shape consumer preference.</a:t>
            </a:r>
          </a:p>
          <a:p>
            <a:pPr algn="l">
              <a:lnSpc>
                <a:spcPts val="2895"/>
              </a:lnSpc>
            </a:pPr>
          </a:p>
          <a:p>
            <a:pPr algn="l" marL="347307" indent="-173654" lvl="1">
              <a:lnSpc>
                <a:spcPts val="2895"/>
              </a:lnSpc>
              <a:buFont typeface="Arial"/>
              <a:buChar char="•"/>
            </a:pPr>
            <a:r>
              <a:rPr lang="en-US" sz="1608">
                <a:solidFill>
                  <a:srgbClr val="000000"/>
                </a:solidFill>
                <a:latin typeface="Times New Roman"/>
                <a:ea typeface="Times New Roman"/>
                <a:cs typeface="Times New Roman"/>
                <a:sym typeface="Times New Roman"/>
              </a:rPr>
              <a:t>Redemption Limit (19 %) has the least influence but still matters, overly restrictive limits can reduce appeal, while flexible use enhances perceived value.</a:t>
            </a:r>
          </a:p>
          <a:p>
            <a:pPr algn="l">
              <a:lnSpc>
                <a:spcPts val="2895"/>
              </a:lnSpc>
            </a:pPr>
          </a:p>
        </p:txBody>
      </p:sp>
      <p:sp>
        <p:nvSpPr>
          <p:cNvPr name="TextBox 12" id="12"/>
          <p:cNvSpPr txBox="true"/>
          <p:nvPr/>
        </p:nvSpPr>
        <p:spPr>
          <a:xfrm rot="0">
            <a:off x="2838794" y="6949940"/>
            <a:ext cx="315813"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2</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1" id="11"/>
          <p:cNvGrpSpPr/>
          <p:nvPr/>
        </p:nvGrpSpPr>
        <p:grpSpPr>
          <a:xfrm rot="0">
            <a:off x="1962022" y="1179677"/>
            <a:ext cx="6147392" cy="775040"/>
            <a:chOff x="0" y="0"/>
            <a:chExt cx="8196523" cy="1033387"/>
          </a:xfrm>
        </p:grpSpPr>
        <p:sp>
          <p:nvSpPr>
            <p:cNvPr name="Freeform 12" id="12"/>
            <p:cNvSpPr/>
            <p:nvPr/>
          </p:nvSpPr>
          <p:spPr>
            <a:xfrm flipH="false" flipV="false" rot="0">
              <a:off x="0" y="0"/>
              <a:ext cx="8196524" cy="1033387"/>
            </a:xfrm>
            <a:custGeom>
              <a:avLst/>
              <a:gdLst/>
              <a:ahLst/>
              <a:cxnLst/>
              <a:rect r="r" b="b" t="t" l="l"/>
              <a:pathLst>
                <a:path h="1033387" w="8196524">
                  <a:moveTo>
                    <a:pt x="0" y="0"/>
                  </a:moveTo>
                  <a:lnTo>
                    <a:pt x="8196524" y="0"/>
                  </a:lnTo>
                  <a:lnTo>
                    <a:pt x="8196524" y="1033387"/>
                  </a:lnTo>
                  <a:lnTo>
                    <a:pt x="0" y="1033387"/>
                  </a:lnTo>
                  <a:close/>
                </a:path>
              </a:pathLst>
            </a:custGeom>
          </p:spPr>
        </p:sp>
        <p:sp>
          <p:nvSpPr>
            <p:cNvPr name="TextBox 13" id="13"/>
            <p:cNvSpPr txBox="true"/>
            <p:nvPr/>
          </p:nvSpPr>
          <p:spPr>
            <a:xfrm>
              <a:off x="0" y="-190500"/>
              <a:ext cx="8196523" cy="1223887"/>
            </a:xfrm>
            <a:prstGeom prst="rect">
              <a:avLst/>
            </a:prstGeom>
          </p:spPr>
          <p:txBody>
            <a:bodyPr anchor="ctr" rtlCol="false" tIns="0" lIns="0" bIns="0" rIns="0"/>
            <a:lstStyle/>
            <a:p>
              <a:pPr algn="ctr">
                <a:lnSpc>
                  <a:spcPts val="5471"/>
                </a:lnSpc>
              </a:pPr>
              <a:r>
                <a:rPr lang="en-US" b="true" sz="3039">
                  <a:solidFill>
                    <a:srgbClr val="0F1115"/>
                  </a:solidFill>
                  <a:latin typeface="Times New Roman Bold"/>
                  <a:ea typeface="Times New Roman Bold"/>
                  <a:cs typeface="Times New Roman Bold"/>
                  <a:sym typeface="Times New Roman Bold"/>
                </a:rPr>
                <a:t> Interpretation</a:t>
              </a:r>
            </a:p>
          </p:txBody>
        </p:sp>
      </p:grpSp>
      <p:sp>
        <p:nvSpPr>
          <p:cNvPr name="Freeform 14" id="14"/>
          <p:cNvSpPr/>
          <p:nvPr/>
        </p:nvSpPr>
        <p:spPr>
          <a:xfrm flipH="false" flipV="false" rot="0">
            <a:off x="1640611" y="2464000"/>
            <a:ext cx="6472377" cy="2725211"/>
          </a:xfrm>
          <a:custGeom>
            <a:avLst/>
            <a:gdLst/>
            <a:ahLst/>
            <a:cxnLst/>
            <a:rect r="r" b="b" t="t" l="l"/>
            <a:pathLst>
              <a:path h="2725211" w="6472377">
                <a:moveTo>
                  <a:pt x="0" y="0"/>
                </a:moveTo>
                <a:lnTo>
                  <a:pt x="6472378" y="0"/>
                </a:lnTo>
                <a:lnTo>
                  <a:pt x="6472378" y="2725211"/>
                </a:lnTo>
                <a:lnTo>
                  <a:pt x="0" y="2725211"/>
                </a:lnTo>
                <a:lnTo>
                  <a:pt x="0" y="0"/>
                </a:lnTo>
                <a:close/>
              </a:path>
            </a:pathLst>
          </a:custGeom>
          <a:blipFill>
            <a:blip r:embed="rId5"/>
            <a:stretch>
              <a:fillRect l="0" t="0" r="0" b="0"/>
            </a:stretch>
          </a:blipFill>
          <a:ln w="38100" cap="sq">
            <a:solidFill>
              <a:srgbClr val="000000"/>
            </a:solidFill>
            <a:prstDash val="solid"/>
            <a:miter/>
          </a:ln>
        </p:spPr>
      </p:sp>
      <p:sp>
        <p:nvSpPr>
          <p:cNvPr name="TextBox 15" id="15"/>
          <p:cNvSpPr txBox="true"/>
          <p:nvPr/>
        </p:nvSpPr>
        <p:spPr>
          <a:xfrm rot="0">
            <a:off x="1106983" y="5608311"/>
            <a:ext cx="7539635" cy="1373276"/>
          </a:xfrm>
          <a:prstGeom prst="rect">
            <a:avLst/>
          </a:prstGeom>
        </p:spPr>
        <p:txBody>
          <a:bodyPr anchor="t" rtlCol="false" tIns="0" lIns="0" bIns="0" rIns="0">
            <a:spAutoFit/>
          </a:bodyPr>
          <a:lstStyle/>
          <a:p>
            <a:pPr algn="l">
              <a:lnSpc>
                <a:spcPts val="2773"/>
              </a:lnSpc>
            </a:pPr>
            <a:r>
              <a:rPr lang="en-US" sz="2010">
                <a:solidFill>
                  <a:srgbClr val="0F1115"/>
                </a:solidFill>
                <a:latin typeface="Times New Roman"/>
                <a:ea typeface="Times New Roman"/>
                <a:cs typeface="Times New Roman"/>
                <a:sym typeface="Times New Roman"/>
              </a:rPr>
              <a:t>All coefficients are statistically significant (p &lt; 0.05)</a:t>
            </a:r>
          </a:p>
          <a:p>
            <a:pPr algn="l" marL="484489" indent="-242245" lvl="1">
              <a:lnSpc>
                <a:spcPts val="2773"/>
              </a:lnSpc>
              <a:buFont typeface="Arial"/>
              <a:buChar char="•"/>
            </a:pPr>
            <a:r>
              <a:rPr lang="en-US" sz="2010">
                <a:solidFill>
                  <a:srgbClr val="0F1115"/>
                </a:solidFill>
                <a:latin typeface="Times New Roman"/>
                <a:ea typeface="Times New Roman"/>
                <a:cs typeface="Times New Roman"/>
                <a:sym typeface="Times New Roman"/>
              </a:rPr>
              <a:t>Strong evidence that every attribute level influences preferences</a:t>
            </a:r>
          </a:p>
          <a:p>
            <a:pPr algn="l" marL="484489" indent="-242245" lvl="1">
              <a:lnSpc>
                <a:spcPts val="2773"/>
              </a:lnSpc>
              <a:buFont typeface="Arial"/>
              <a:buChar char="•"/>
            </a:pPr>
            <a:r>
              <a:rPr lang="en-US" sz="2010">
                <a:solidFill>
                  <a:srgbClr val="0F1115"/>
                </a:solidFill>
                <a:latin typeface="Times New Roman"/>
                <a:ea typeface="Times New Roman"/>
                <a:cs typeface="Times New Roman"/>
                <a:sym typeface="Times New Roman"/>
              </a:rPr>
              <a:t>No redundant features in the model</a:t>
            </a:r>
          </a:p>
          <a:p>
            <a:pPr algn="l" marL="484247" indent="-242124" lvl="1">
              <a:lnSpc>
                <a:spcPts val="2773"/>
              </a:lnSpc>
              <a:buFont typeface="Arial"/>
              <a:buChar char="•"/>
            </a:pPr>
            <a:r>
              <a:rPr lang="en-US" sz="2010">
                <a:solidFill>
                  <a:srgbClr val="0F1115"/>
                </a:solidFill>
                <a:latin typeface="Times New Roman"/>
                <a:ea typeface="Times New Roman"/>
                <a:cs typeface="Times New Roman"/>
                <a:sym typeface="Times New Roman"/>
              </a:rPr>
              <a:t>High predictive power for consumer choices</a:t>
            </a:r>
          </a:p>
        </p:txBody>
      </p:sp>
      <p:sp>
        <p:nvSpPr>
          <p:cNvPr name="TextBox 16" id="16"/>
          <p:cNvSpPr txBox="true"/>
          <p:nvPr/>
        </p:nvSpPr>
        <p:spPr>
          <a:xfrm rot="0">
            <a:off x="1640611" y="1973767"/>
            <a:ext cx="7539635" cy="344576"/>
          </a:xfrm>
          <a:prstGeom prst="rect">
            <a:avLst/>
          </a:prstGeom>
        </p:spPr>
        <p:txBody>
          <a:bodyPr anchor="t" rtlCol="false" tIns="0" lIns="0" bIns="0" rIns="0">
            <a:spAutoFit/>
          </a:bodyPr>
          <a:lstStyle/>
          <a:p>
            <a:pPr algn="l">
              <a:lnSpc>
                <a:spcPts val="2773"/>
              </a:lnSpc>
            </a:pPr>
            <a:r>
              <a:rPr lang="en-US" sz="2010">
                <a:solidFill>
                  <a:srgbClr val="0F1115"/>
                </a:solidFill>
                <a:latin typeface="Times New Roman"/>
                <a:ea typeface="Times New Roman"/>
                <a:cs typeface="Times New Roman"/>
                <a:sym typeface="Times New Roman"/>
              </a:rPr>
              <a:t>OLS Regression Results Summary</a:t>
            </a:r>
          </a:p>
        </p:txBody>
      </p:sp>
      <p:sp>
        <p:nvSpPr>
          <p:cNvPr name="TextBox 17" id="17"/>
          <p:cNvSpPr txBox="true"/>
          <p:nvPr/>
        </p:nvSpPr>
        <p:spPr>
          <a:xfrm rot="0">
            <a:off x="4652776" y="5313036"/>
            <a:ext cx="448047"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T</a:t>
            </a:r>
            <a:r>
              <a:rPr lang="en-US" sz="1193">
                <a:solidFill>
                  <a:srgbClr val="0F1115"/>
                </a:solidFill>
                <a:latin typeface="Times New Roman"/>
                <a:ea typeface="Times New Roman"/>
                <a:cs typeface="Times New Roman"/>
                <a:sym typeface="Times New Roman"/>
              </a:rPr>
              <a:t>able 2</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1" id="11"/>
          <p:cNvGrpSpPr/>
          <p:nvPr/>
        </p:nvGrpSpPr>
        <p:grpSpPr>
          <a:xfrm rot="0">
            <a:off x="482533" y="1403733"/>
            <a:ext cx="8426240" cy="775040"/>
            <a:chOff x="0" y="0"/>
            <a:chExt cx="11234987" cy="1033387"/>
          </a:xfrm>
        </p:grpSpPr>
        <p:sp>
          <p:nvSpPr>
            <p:cNvPr name="Freeform 12" id="12"/>
            <p:cNvSpPr/>
            <p:nvPr/>
          </p:nvSpPr>
          <p:spPr>
            <a:xfrm flipH="false" flipV="false" rot="0">
              <a:off x="0" y="0"/>
              <a:ext cx="11234986" cy="1033387"/>
            </a:xfrm>
            <a:custGeom>
              <a:avLst/>
              <a:gdLst/>
              <a:ahLst/>
              <a:cxnLst/>
              <a:rect r="r" b="b" t="t" l="l"/>
              <a:pathLst>
                <a:path h="1033387" w="11234986">
                  <a:moveTo>
                    <a:pt x="0" y="0"/>
                  </a:moveTo>
                  <a:lnTo>
                    <a:pt x="11234986" y="0"/>
                  </a:lnTo>
                  <a:lnTo>
                    <a:pt x="11234986" y="1033387"/>
                  </a:lnTo>
                  <a:lnTo>
                    <a:pt x="0" y="1033387"/>
                  </a:lnTo>
                  <a:close/>
                </a:path>
              </a:pathLst>
            </a:custGeom>
          </p:spPr>
        </p:sp>
        <p:sp>
          <p:nvSpPr>
            <p:cNvPr name="TextBox 13" id="13"/>
            <p:cNvSpPr txBox="true"/>
            <p:nvPr/>
          </p:nvSpPr>
          <p:spPr>
            <a:xfrm>
              <a:off x="0" y="-200025"/>
              <a:ext cx="11234987" cy="1233412"/>
            </a:xfrm>
            <a:prstGeom prst="rect">
              <a:avLst/>
            </a:prstGeom>
          </p:spPr>
          <p:txBody>
            <a:bodyPr anchor="ctr" rtlCol="false" tIns="0" lIns="0" bIns="0" rIns="0"/>
            <a:lstStyle/>
            <a:p>
              <a:pPr algn="ctr">
                <a:lnSpc>
                  <a:spcPts val="5435"/>
                </a:lnSpc>
              </a:pPr>
              <a:r>
                <a:rPr lang="en-US" b="true" sz="3019">
                  <a:solidFill>
                    <a:srgbClr val="0F1115"/>
                  </a:solidFill>
                  <a:latin typeface="Times New Roman Bold"/>
                  <a:ea typeface="Times New Roman Bold"/>
                  <a:cs typeface="Times New Roman Bold"/>
                  <a:sym typeface="Times New Roman Bold"/>
                </a:rPr>
                <a:t>Part-Worth Utilities</a:t>
              </a:r>
            </a:p>
          </p:txBody>
        </p:sp>
      </p:grpSp>
      <p:sp>
        <p:nvSpPr>
          <p:cNvPr name="TextBox 14" id="14"/>
          <p:cNvSpPr txBox="true"/>
          <p:nvPr/>
        </p:nvSpPr>
        <p:spPr>
          <a:xfrm rot="0">
            <a:off x="873645" y="2445473"/>
            <a:ext cx="8148435" cy="3430676"/>
          </a:xfrm>
          <a:prstGeom prst="rect">
            <a:avLst/>
          </a:prstGeom>
        </p:spPr>
        <p:txBody>
          <a:bodyPr anchor="t" rtlCol="false" tIns="0" lIns="0" bIns="0" rIns="0">
            <a:spAutoFit/>
          </a:bodyPr>
          <a:lstStyle/>
          <a:p>
            <a:pPr algn="l">
              <a:lnSpc>
                <a:spcPts val="2773"/>
              </a:lnSpc>
            </a:pPr>
            <a:r>
              <a:rPr lang="en-US" b="true" sz="2010">
                <a:solidFill>
                  <a:srgbClr val="0F1115"/>
                </a:solidFill>
                <a:latin typeface="Times New Roman Bold"/>
                <a:ea typeface="Times New Roman Bold"/>
                <a:cs typeface="Times New Roman Bold"/>
                <a:sym typeface="Times New Roman Bold"/>
              </a:rPr>
              <a:t>Most Valued Features:</a:t>
            </a:r>
          </a:p>
          <a:p>
            <a:pPr algn="l" marL="418217" indent="-209109" lvl="1">
              <a:lnSpc>
                <a:spcPts val="2773"/>
              </a:lnSpc>
              <a:buFont typeface="Arial"/>
              <a:buChar char="•"/>
            </a:pPr>
            <a:r>
              <a:rPr lang="en-US" sz="2010">
                <a:solidFill>
                  <a:srgbClr val="0F1115"/>
                </a:solidFill>
                <a:latin typeface="Times New Roman"/>
                <a:ea typeface="Times New Roman"/>
                <a:cs typeface="Times New Roman"/>
                <a:sym typeface="Times New Roman"/>
              </a:rPr>
              <a:t>Rs. 200 Cashback </a:t>
            </a:r>
            <a:r>
              <a:rPr lang="en-US" sz="2010">
                <a:solidFill>
                  <a:srgbClr val="0F1115"/>
                </a:solidFill>
                <a:latin typeface="Times New Roman"/>
                <a:ea typeface="Times New Roman"/>
                <a:cs typeface="Times New Roman"/>
                <a:sym typeface="Times New Roman"/>
              </a:rPr>
              <a:t>Discount (Utility: 1.71)</a:t>
            </a:r>
          </a:p>
          <a:p>
            <a:pPr algn="l" marL="418217" indent="-209109" lvl="1">
              <a:lnSpc>
                <a:spcPts val="2773"/>
              </a:lnSpc>
              <a:buFont typeface="Arial"/>
              <a:buChar char="•"/>
            </a:pPr>
            <a:r>
              <a:rPr lang="en-US" sz="2010">
                <a:solidFill>
                  <a:srgbClr val="0F1115"/>
                </a:solidFill>
                <a:latin typeface="Times New Roman"/>
                <a:ea typeface="Times New Roman"/>
                <a:cs typeface="Times New Roman"/>
                <a:sym typeface="Times New Roman"/>
              </a:rPr>
              <a:t>Rs. 1500 Minimum spend (Utility: 1.51)</a:t>
            </a:r>
          </a:p>
          <a:p>
            <a:pPr algn="l" marL="418217" indent="-209109" lvl="1">
              <a:lnSpc>
                <a:spcPts val="2773"/>
              </a:lnSpc>
              <a:buFont typeface="Arial"/>
              <a:buChar char="•"/>
            </a:pPr>
            <a:r>
              <a:rPr lang="en-US" sz="2010">
                <a:solidFill>
                  <a:srgbClr val="0F1115"/>
                </a:solidFill>
                <a:latin typeface="Times New Roman"/>
                <a:ea typeface="Times New Roman"/>
                <a:cs typeface="Times New Roman"/>
                <a:sym typeface="Times New Roman"/>
              </a:rPr>
              <a:t>5-Days Expiry (Utility: 1.35)</a:t>
            </a:r>
          </a:p>
          <a:p>
            <a:pPr algn="l" marL="418132" indent="-209066" lvl="1">
              <a:lnSpc>
                <a:spcPts val="2773"/>
              </a:lnSpc>
              <a:buFont typeface="Arial"/>
              <a:buChar char="•"/>
            </a:pPr>
            <a:r>
              <a:rPr lang="en-US" sz="2010">
                <a:solidFill>
                  <a:srgbClr val="0F1115"/>
                </a:solidFill>
                <a:latin typeface="Times New Roman"/>
                <a:ea typeface="Times New Roman"/>
                <a:cs typeface="Times New Roman"/>
                <a:sym typeface="Times New Roman"/>
              </a:rPr>
              <a:t>Wallet Credit Redemption (Utility: 1.11)</a:t>
            </a:r>
          </a:p>
          <a:p>
            <a:pPr algn="l">
              <a:lnSpc>
                <a:spcPts val="2773"/>
              </a:lnSpc>
            </a:pPr>
          </a:p>
          <a:p>
            <a:pPr algn="l">
              <a:lnSpc>
                <a:spcPts val="2773"/>
              </a:lnSpc>
            </a:pPr>
            <a:r>
              <a:rPr lang="en-US" b="true" sz="2010">
                <a:solidFill>
                  <a:srgbClr val="0F1115"/>
                </a:solidFill>
                <a:latin typeface="Times New Roman Bold"/>
                <a:ea typeface="Times New Roman Bold"/>
                <a:cs typeface="Times New Roman Bold"/>
                <a:sym typeface="Times New Roman Bold"/>
              </a:rPr>
              <a:t>Least Valued Features:</a:t>
            </a:r>
          </a:p>
          <a:p>
            <a:pPr algn="l" marL="418217" indent="-209109" lvl="1">
              <a:lnSpc>
                <a:spcPts val="2773"/>
              </a:lnSpc>
              <a:buFont typeface="Arial"/>
              <a:buChar char="•"/>
            </a:pPr>
            <a:r>
              <a:rPr lang="en-US" sz="2010">
                <a:solidFill>
                  <a:srgbClr val="0F1115"/>
                </a:solidFill>
                <a:latin typeface="Times New Roman"/>
                <a:ea typeface="Times New Roman"/>
                <a:cs typeface="Times New Roman"/>
                <a:sym typeface="Times New Roman"/>
              </a:rPr>
              <a:t>7</a:t>
            </a:r>
            <a:r>
              <a:rPr lang="en-US" sz="2010">
                <a:solidFill>
                  <a:srgbClr val="0F1115"/>
                </a:solidFill>
                <a:latin typeface="Times New Roman"/>
                <a:ea typeface="Times New Roman"/>
                <a:cs typeface="Times New Roman"/>
                <a:sym typeface="Times New Roman"/>
              </a:rPr>
              <a:t>-Day Expiry (Utility: 0.17)</a:t>
            </a:r>
          </a:p>
          <a:p>
            <a:pPr algn="l" marL="418132" indent="-209066" lvl="1">
              <a:lnSpc>
                <a:spcPts val="2773"/>
              </a:lnSpc>
              <a:buFont typeface="Arial"/>
              <a:buChar char="•"/>
            </a:pPr>
            <a:r>
              <a:rPr lang="en-US" sz="2010">
                <a:solidFill>
                  <a:srgbClr val="0F1115"/>
                </a:solidFill>
                <a:latin typeface="Times New Roman"/>
                <a:ea typeface="Times New Roman"/>
                <a:cs typeface="Times New Roman"/>
                <a:sym typeface="Times New Roman"/>
              </a:rPr>
              <a:t>Rs. 2000 Minimum Spend (Utility: 0.26)</a:t>
            </a:r>
          </a:p>
          <a:p>
            <a:pPr algn="l" marL="418132" indent="-209066" lvl="1">
              <a:lnSpc>
                <a:spcPts val="2773"/>
              </a:lnSpc>
              <a:buFont typeface="Arial"/>
              <a:buChar char="•"/>
            </a:pPr>
            <a:r>
              <a:rPr lang="en-US" sz="2010">
                <a:solidFill>
                  <a:srgbClr val="0F1115"/>
                </a:solidFill>
                <a:latin typeface="Times New Roman"/>
                <a:ea typeface="Times New Roman"/>
                <a:cs typeface="Times New Roman"/>
                <a:sym typeface="Times New Roman"/>
              </a:rPr>
              <a:t>Automatic at Checkout Redemption (Utility: 0.23)</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8655"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0" id="10"/>
          <p:cNvGrpSpPr/>
          <p:nvPr/>
        </p:nvGrpSpPr>
        <p:grpSpPr>
          <a:xfrm rot="0">
            <a:off x="329204" y="3055941"/>
            <a:ext cx="9095193" cy="1416351"/>
            <a:chOff x="0" y="0"/>
            <a:chExt cx="12126924" cy="1888468"/>
          </a:xfrm>
        </p:grpSpPr>
        <p:sp>
          <p:nvSpPr>
            <p:cNvPr name="Freeform 11" id="11"/>
            <p:cNvSpPr/>
            <p:nvPr/>
          </p:nvSpPr>
          <p:spPr>
            <a:xfrm flipH="false" flipV="false" rot="0">
              <a:off x="0" y="0"/>
              <a:ext cx="12126924" cy="1888468"/>
            </a:xfrm>
            <a:custGeom>
              <a:avLst/>
              <a:gdLst/>
              <a:ahLst/>
              <a:cxnLst/>
              <a:rect r="r" b="b" t="t" l="l"/>
              <a:pathLst>
                <a:path h="1888468" w="12126924">
                  <a:moveTo>
                    <a:pt x="0" y="0"/>
                  </a:moveTo>
                  <a:lnTo>
                    <a:pt x="12126924" y="0"/>
                  </a:lnTo>
                  <a:lnTo>
                    <a:pt x="12126924" y="1888468"/>
                  </a:lnTo>
                  <a:lnTo>
                    <a:pt x="0" y="1888468"/>
                  </a:lnTo>
                  <a:close/>
                </a:path>
              </a:pathLst>
            </a:custGeom>
          </p:spPr>
        </p:sp>
        <p:sp>
          <p:nvSpPr>
            <p:cNvPr name="TextBox 12" id="12"/>
            <p:cNvSpPr txBox="true"/>
            <p:nvPr/>
          </p:nvSpPr>
          <p:spPr>
            <a:xfrm>
              <a:off x="0" y="-19050"/>
              <a:ext cx="12126924" cy="1907518"/>
            </a:xfrm>
            <a:prstGeom prst="rect">
              <a:avLst/>
            </a:prstGeom>
          </p:spPr>
          <p:txBody>
            <a:bodyPr anchor="ctr" rtlCol="false" tIns="0" lIns="0" bIns="0" rIns="0"/>
            <a:lstStyle/>
            <a:p>
              <a:pPr algn="ctr">
                <a:lnSpc>
                  <a:spcPts val="4860"/>
                </a:lnSpc>
              </a:pPr>
              <a:r>
                <a:rPr lang="en-US" b="true" sz="4050">
                  <a:solidFill>
                    <a:srgbClr val="000000"/>
                  </a:solidFill>
                  <a:latin typeface="Times New Roman Bold"/>
                  <a:ea typeface="Times New Roman Bold"/>
                  <a:cs typeface="Times New Roman Bold"/>
                  <a:sym typeface="Times New Roman Bold"/>
                </a:rPr>
                <a:t>Study 2 : To examine psychological drivers of purchase intention </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sp>
        <p:nvSpPr>
          <p:cNvPr name="Freeform 10" id="10"/>
          <p:cNvSpPr/>
          <p:nvPr/>
        </p:nvSpPr>
        <p:spPr>
          <a:xfrm flipH="false" flipV="false" rot="5400000">
            <a:off x="-185823" y="2284455"/>
            <a:ext cx="5759520" cy="3860605"/>
          </a:xfrm>
          <a:custGeom>
            <a:avLst/>
            <a:gdLst/>
            <a:ahLst/>
            <a:cxnLst/>
            <a:rect r="r" b="b" t="t" l="l"/>
            <a:pathLst>
              <a:path h="3860605" w="5759520">
                <a:moveTo>
                  <a:pt x="0" y="0"/>
                </a:moveTo>
                <a:lnTo>
                  <a:pt x="5759520" y="0"/>
                </a:lnTo>
                <a:lnTo>
                  <a:pt x="5759520" y="3860604"/>
                </a:lnTo>
                <a:lnTo>
                  <a:pt x="0" y="38606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948940" y="1379610"/>
            <a:ext cx="3609345" cy="5819775"/>
          </a:xfrm>
          <a:prstGeom prst="rect">
            <a:avLst/>
          </a:prstGeom>
        </p:spPr>
        <p:txBody>
          <a:bodyPr anchor="t" rtlCol="false" tIns="0" lIns="0" bIns="0" rIns="0">
            <a:spAutoFit/>
          </a:bodyPr>
          <a:lstStyle/>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often make purchases spontaneously without much planning.</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Discounts and coupons often tempt me to buy things I hadn’t planned to.</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regret impulsive purchases after using a discount.</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If I don’t use a discount before it expires, I feel like I missed a great deal.</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Limited-time coupons push me to purchase faster.</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often compare my discounts with friends/family to ensure I’m not missing out.</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carefully evaluate discounts to see if they truly give me value.</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prefer coupons that give guaranteed savings over uncertain rewards.</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A higher discount percentage always feels more attractive to me.</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trust that companies give genuine discounts and not inflated prices.</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feel secure using online coupons from reputed brands.</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prefer discounts that are simple and transparent.</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Using discounts/coupons when I shop is a good idea.</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Getting a discount makes the shopping experience more enjoyable.</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Using discounts is beneficial for my finances.</a:t>
            </a:r>
          </a:p>
          <a:p>
            <a:pPr algn="l">
              <a:lnSpc>
                <a:spcPts val="1261"/>
              </a:lnSpc>
              <a:spcBef>
                <a:spcPct val="0"/>
              </a:spcBef>
            </a:pPr>
          </a:p>
        </p:txBody>
      </p:sp>
      <p:sp>
        <p:nvSpPr>
          <p:cNvPr name="Freeform 12" id="12"/>
          <p:cNvSpPr/>
          <p:nvPr/>
        </p:nvSpPr>
        <p:spPr>
          <a:xfrm flipH="false" flipV="false" rot="5400000">
            <a:off x="3927342" y="2284455"/>
            <a:ext cx="5759520" cy="3860605"/>
          </a:xfrm>
          <a:custGeom>
            <a:avLst/>
            <a:gdLst/>
            <a:ahLst/>
            <a:cxnLst/>
            <a:rect r="r" b="b" t="t" l="l"/>
            <a:pathLst>
              <a:path h="3860605" w="5759520">
                <a:moveTo>
                  <a:pt x="0" y="0"/>
                </a:moveTo>
                <a:lnTo>
                  <a:pt x="5759520" y="0"/>
                </a:lnTo>
                <a:lnTo>
                  <a:pt x="5759520" y="3860604"/>
                </a:lnTo>
                <a:lnTo>
                  <a:pt x="0" y="38606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5002430" y="1379610"/>
            <a:ext cx="3609345" cy="5667375"/>
          </a:xfrm>
          <a:prstGeom prst="rect">
            <a:avLst/>
          </a:prstGeom>
        </p:spPr>
        <p:txBody>
          <a:bodyPr anchor="t" rtlCol="false" tIns="0" lIns="0" bIns="0" rIns="0">
            <a:spAutoFit/>
          </a:bodyPr>
          <a:lstStyle/>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 </a:t>
            </a:r>
            <a:r>
              <a:rPr lang="en-US" sz="1051">
                <a:solidFill>
                  <a:srgbClr val="000000"/>
                </a:solidFill>
                <a:latin typeface="Calibri (MS)"/>
                <a:ea typeface="Calibri (MS)"/>
                <a:cs typeface="Calibri (MS)"/>
                <a:sym typeface="Calibri (MS)"/>
              </a:rPr>
              <a:t>Using discounts is a smart way to shop.</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Using discounts/coupons is usually a hassle.</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People who are important to me think I should use discounts/coupons.</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My friends/family often encourage me to use discounts.</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Most people in my social circle use coupons for shopping.</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feel social pressure to take advantage of discount offers.</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find it easy to locate and use valid discounts/coupons.</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know how to apply coupons/promotions while shopping online or in-store.</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Using discounts requires little effort for me.</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(reverse) Problems like expired codes or complicated checkout prevent me from using discounts.</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intend to use discounts/coupons the next time I shop.</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plan to search for discount codes before making purchases.</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 will try to use available discount offers in the coming month.</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In the past month, how often did you use a discount or coupon when making purchases? (Never / 1–2 times / 3–5 times / 6–10 times / 11+ times) (ordinal)</a:t>
            </a:r>
          </a:p>
          <a:p>
            <a:pPr algn="l">
              <a:lnSpc>
                <a:spcPts val="1261"/>
              </a:lnSpc>
            </a:pPr>
          </a:p>
          <a:p>
            <a:pPr algn="l" marL="226999" indent="-113500" lvl="1">
              <a:lnSpc>
                <a:spcPts val="1261"/>
              </a:lnSpc>
              <a:buFont typeface="Arial"/>
              <a:buChar char="•"/>
            </a:pPr>
            <a:r>
              <a:rPr lang="en-US" sz="1051">
                <a:solidFill>
                  <a:srgbClr val="000000"/>
                </a:solidFill>
                <a:latin typeface="Calibri (MS)"/>
                <a:ea typeface="Calibri (MS)"/>
                <a:cs typeface="Calibri (MS)"/>
                <a:sym typeface="Calibri (MS)"/>
              </a:rPr>
              <a:t>Approximately what proportion of your purchases last month used some discount? (0–25% / 26–50% / 51–75% / 76–100%) (ordinal)</a:t>
            </a:r>
          </a:p>
          <a:p>
            <a:pPr algn="l">
              <a:lnSpc>
                <a:spcPts val="1261"/>
              </a:lnSpc>
              <a:spcBef>
                <a:spcPct val="0"/>
              </a:spcBef>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0" id="10"/>
          <p:cNvGrpSpPr/>
          <p:nvPr/>
        </p:nvGrpSpPr>
        <p:grpSpPr>
          <a:xfrm rot="0">
            <a:off x="856506" y="1011197"/>
            <a:ext cx="8290560" cy="762240"/>
            <a:chOff x="0" y="0"/>
            <a:chExt cx="11054080" cy="1016320"/>
          </a:xfrm>
        </p:grpSpPr>
        <p:sp>
          <p:nvSpPr>
            <p:cNvPr name="Freeform 11" id="11"/>
            <p:cNvSpPr/>
            <p:nvPr/>
          </p:nvSpPr>
          <p:spPr>
            <a:xfrm flipH="false" flipV="false" rot="0">
              <a:off x="0" y="0"/>
              <a:ext cx="11054080" cy="1016320"/>
            </a:xfrm>
            <a:custGeom>
              <a:avLst/>
              <a:gdLst/>
              <a:ahLst/>
              <a:cxnLst/>
              <a:rect r="r" b="b" t="t" l="l"/>
              <a:pathLst>
                <a:path h="1016320" w="11054080">
                  <a:moveTo>
                    <a:pt x="0" y="0"/>
                  </a:moveTo>
                  <a:lnTo>
                    <a:pt x="11054080" y="0"/>
                  </a:lnTo>
                  <a:lnTo>
                    <a:pt x="11054080" y="1016320"/>
                  </a:lnTo>
                  <a:lnTo>
                    <a:pt x="0" y="1016320"/>
                  </a:lnTo>
                  <a:close/>
                </a:path>
              </a:pathLst>
            </a:custGeom>
          </p:spPr>
        </p:sp>
        <p:sp>
          <p:nvSpPr>
            <p:cNvPr name="TextBox 12" id="12"/>
            <p:cNvSpPr txBox="true"/>
            <p:nvPr/>
          </p:nvSpPr>
          <p:spPr>
            <a:xfrm>
              <a:off x="0" y="-28575"/>
              <a:ext cx="11054080" cy="1044895"/>
            </a:xfrm>
            <a:prstGeom prst="rect">
              <a:avLst/>
            </a:prstGeom>
          </p:spPr>
          <p:txBody>
            <a:bodyPr anchor="ctr" rtlCol="false" tIns="0" lIns="0" bIns="0" rIns="0"/>
            <a:lstStyle/>
            <a:p>
              <a:pPr algn="ctr">
                <a:lnSpc>
                  <a:spcPts val="3600"/>
                </a:lnSpc>
              </a:pPr>
            </a:p>
          </p:txBody>
        </p:sp>
      </p:grpSp>
      <p:sp>
        <p:nvSpPr>
          <p:cNvPr name="TextBox 13" id="13"/>
          <p:cNvSpPr txBox="true"/>
          <p:nvPr/>
        </p:nvSpPr>
        <p:spPr>
          <a:xfrm rot="0">
            <a:off x="376274" y="2680335"/>
            <a:ext cx="9001052" cy="1897380"/>
          </a:xfrm>
          <a:prstGeom prst="rect">
            <a:avLst/>
          </a:prstGeom>
        </p:spPr>
        <p:txBody>
          <a:bodyPr anchor="t" rtlCol="false" tIns="0" lIns="0" bIns="0" rIns="0">
            <a:spAutoFit/>
          </a:bodyPr>
          <a:lstStyle/>
          <a:p>
            <a:pPr algn="l" marL="388620" indent="-194310" lvl="1">
              <a:lnSpc>
                <a:spcPts val="2520"/>
              </a:lnSpc>
              <a:buFont typeface="Arial"/>
              <a:buChar char="•"/>
            </a:pPr>
            <a:r>
              <a:rPr lang="en-US" sz="1800">
                <a:solidFill>
                  <a:srgbClr val="000000"/>
                </a:solidFill>
                <a:latin typeface="Times New Roman"/>
                <a:ea typeface="Times New Roman"/>
                <a:cs typeface="Times New Roman"/>
                <a:sym typeface="Times New Roman"/>
              </a:rPr>
              <a:t>Bartlett’s Test (p = 0.001) confirmed that the correlation matrix was suitable for factor analysis, while the Kaiser-Meyer-Olkin (KMO) measure of 0.903 indicated excellent sampling adequacy.</a:t>
            </a:r>
          </a:p>
          <a:p>
            <a:pPr algn="l" marL="388620" indent="-194310" lvl="1">
              <a:lnSpc>
                <a:spcPts val="2520"/>
              </a:lnSpc>
              <a:buFont typeface="Arial"/>
              <a:buChar char="•"/>
            </a:pPr>
            <a:r>
              <a:rPr lang="en-US" sz="1800">
                <a:solidFill>
                  <a:srgbClr val="000000"/>
                </a:solidFill>
                <a:latin typeface="Times New Roman"/>
                <a:ea typeface="Times New Roman"/>
                <a:cs typeface="Times New Roman"/>
                <a:sym typeface="Times New Roman"/>
              </a:rPr>
              <a:t>The analysis extracted five significant latent factors i.e. Attitude (ATT), Subjective Norms (SN), Perceived Behavioural Control (PBC), Behavioural Intention (INT), and Actual Behaviour (BEH).</a:t>
            </a:r>
          </a:p>
        </p:txBody>
      </p:sp>
      <p:sp>
        <p:nvSpPr>
          <p:cNvPr name="Freeform 14" id="14"/>
          <p:cNvSpPr/>
          <p:nvPr/>
        </p:nvSpPr>
        <p:spPr>
          <a:xfrm flipH="false" flipV="false" rot="0">
            <a:off x="1606783" y="4863465"/>
            <a:ext cx="6540034" cy="2002744"/>
          </a:xfrm>
          <a:custGeom>
            <a:avLst/>
            <a:gdLst/>
            <a:ahLst/>
            <a:cxnLst/>
            <a:rect r="r" b="b" t="t" l="l"/>
            <a:pathLst>
              <a:path h="2002744" w="6540034">
                <a:moveTo>
                  <a:pt x="0" y="0"/>
                </a:moveTo>
                <a:lnTo>
                  <a:pt x="6540034" y="0"/>
                </a:lnTo>
                <a:lnTo>
                  <a:pt x="6540034" y="2002744"/>
                </a:lnTo>
                <a:lnTo>
                  <a:pt x="0" y="2002744"/>
                </a:lnTo>
                <a:lnTo>
                  <a:pt x="0" y="0"/>
                </a:lnTo>
                <a:close/>
              </a:path>
            </a:pathLst>
          </a:custGeom>
          <a:blipFill>
            <a:blip r:embed="rId4"/>
            <a:stretch>
              <a:fillRect l="0" t="0" r="0" b="0"/>
            </a:stretch>
          </a:blipFill>
          <a:ln w="38100" cap="sq">
            <a:solidFill>
              <a:srgbClr val="000000"/>
            </a:solidFill>
            <a:prstDash val="solid"/>
            <a:miter/>
          </a:ln>
        </p:spPr>
      </p:sp>
      <p:grpSp>
        <p:nvGrpSpPr>
          <p:cNvPr name="Group 15" id="15"/>
          <p:cNvGrpSpPr/>
          <p:nvPr/>
        </p:nvGrpSpPr>
        <p:grpSpPr>
          <a:xfrm rot="0">
            <a:off x="3051066" y="1392317"/>
            <a:ext cx="3901440" cy="941756"/>
            <a:chOff x="0" y="0"/>
            <a:chExt cx="5201920" cy="1255674"/>
          </a:xfrm>
        </p:grpSpPr>
        <p:sp>
          <p:nvSpPr>
            <p:cNvPr name="Freeform 16" id="16"/>
            <p:cNvSpPr/>
            <p:nvPr/>
          </p:nvSpPr>
          <p:spPr>
            <a:xfrm flipH="false" flipV="false" rot="0">
              <a:off x="0" y="0"/>
              <a:ext cx="5201920" cy="1255674"/>
            </a:xfrm>
            <a:custGeom>
              <a:avLst/>
              <a:gdLst/>
              <a:ahLst/>
              <a:cxnLst/>
              <a:rect r="r" b="b" t="t" l="l"/>
              <a:pathLst>
                <a:path h="1255674" w="5201920">
                  <a:moveTo>
                    <a:pt x="0" y="0"/>
                  </a:moveTo>
                  <a:lnTo>
                    <a:pt x="5201920" y="0"/>
                  </a:lnTo>
                  <a:lnTo>
                    <a:pt x="5201920" y="1255674"/>
                  </a:lnTo>
                  <a:lnTo>
                    <a:pt x="0" y="125567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7" id="17"/>
            <p:cNvSpPr txBox="true"/>
            <p:nvPr/>
          </p:nvSpPr>
          <p:spPr>
            <a:xfrm rot="0">
              <a:off x="600138" y="148277"/>
              <a:ext cx="4001644" cy="901970"/>
            </a:xfrm>
            <a:prstGeom prst="rect">
              <a:avLst/>
            </a:prstGeom>
          </p:spPr>
          <p:txBody>
            <a:bodyPr anchor="t" rtlCol="false" tIns="0" lIns="0" bIns="0" rIns="0">
              <a:spAutoFit/>
            </a:bodyPr>
            <a:lstStyle/>
            <a:p>
              <a:pPr algn="ctr">
                <a:lnSpc>
                  <a:spcPts val="2717"/>
                </a:lnSpc>
              </a:pPr>
              <a:r>
                <a:rPr lang="en-US" sz="1941">
                  <a:solidFill>
                    <a:srgbClr val="000000"/>
                  </a:solidFill>
                  <a:latin typeface="Times New Roman"/>
                  <a:ea typeface="Times New Roman"/>
                  <a:cs typeface="Times New Roman"/>
                  <a:sym typeface="Times New Roman"/>
                </a:rPr>
                <a:t>EXPLORATORY FACTOR ANALYSIS</a:t>
              </a:r>
            </a:p>
          </p:txBody>
        </p:sp>
      </p:grpSp>
      <p:sp>
        <p:nvSpPr>
          <p:cNvPr name="TextBox 18" id="18"/>
          <p:cNvSpPr txBox="true"/>
          <p:nvPr/>
        </p:nvSpPr>
        <p:spPr>
          <a:xfrm rot="0">
            <a:off x="4652776" y="6942246"/>
            <a:ext cx="448047"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T</a:t>
            </a:r>
            <a:r>
              <a:rPr lang="en-US" sz="1193">
                <a:solidFill>
                  <a:srgbClr val="0F1115"/>
                </a:solidFill>
                <a:latin typeface="Times New Roman"/>
                <a:ea typeface="Times New Roman"/>
                <a:cs typeface="Times New Roman"/>
                <a:sym typeface="Times New Roman"/>
              </a:rPr>
              <a:t>able 3</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62493"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sp>
        <p:nvSpPr>
          <p:cNvPr name="Freeform 10" id="10"/>
          <p:cNvSpPr/>
          <p:nvPr/>
        </p:nvSpPr>
        <p:spPr>
          <a:xfrm flipH="false" flipV="false" rot="0">
            <a:off x="111709" y="3907969"/>
            <a:ext cx="2498613" cy="2421733"/>
          </a:xfrm>
          <a:custGeom>
            <a:avLst/>
            <a:gdLst/>
            <a:ahLst/>
            <a:cxnLst/>
            <a:rect r="r" b="b" t="t" l="l"/>
            <a:pathLst>
              <a:path h="2421733" w="2498613">
                <a:moveTo>
                  <a:pt x="0" y="0"/>
                </a:moveTo>
                <a:lnTo>
                  <a:pt x="2498614" y="0"/>
                </a:lnTo>
                <a:lnTo>
                  <a:pt x="2498614" y="2421733"/>
                </a:lnTo>
                <a:lnTo>
                  <a:pt x="0" y="2421733"/>
                </a:lnTo>
                <a:lnTo>
                  <a:pt x="0" y="0"/>
                </a:lnTo>
                <a:close/>
              </a:path>
            </a:pathLst>
          </a:custGeom>
          <a:blipFill>
            <a:blip r:embed="rId4"/>
            <a:stretch>
              <a:fillRect l="0" t="0" r="0" b="0"/>
            </a:stretch>
          </a:blipFill>
          <a:ln w="38100" cap="sq">
            <a:solidFill>
              <a:srgbClr val="000000"/>
            </a:solidFill>
            <a:prstDash val="solid"/>
            <a:miter/>
          </a:ln>
        </p:spPr>
      </p:sp>
      <p:grpSp>
        <p:nvGrpSpPr>
          <p:cNvPr name="Group 11" id="11"/>
          <p:cNvGrpSpPr/>
          <p:nvPr/>
        </p:nvGrpSpPr>
        <p:grpSpPr>
          <a:xfrm rot="0">
            <a:off x="2498613" y="3907969"/>
            <a:ext cx="4142097" cy="2426633"/>
            <a:chOff x="0" y="0"/>
            <a:chExt cx="5522796" cy="3235511"/>
          </a:xfrm>
        </p:grpSpPr>
        <p:sp>
          <p:nvSpPr>
            <p:cNvPr name="Freeform 12" id="12"/>
            <p:cNvSpPr/>
            <p:nvPr/>
          </p:nvSpPr>
          <p:spPr>
            <a:xfrm flipH="false" flipV="false" rot="0">
              <a:off x="443098" y="0"/>
              <a:ext cx="4826961" cy="3235511"/>
            </a:xfrm>
            <a:custGeom>
              <a:avLst/>
              <a:gdLst/>
              <a:ahLst/>
              <a:cxnLst/>
              <a:rect r="r" b="b" t="t" l="l"/>
              <a:pathLst>
                <a:path h="3235511" w="4826961">
                  <a:moveTo>
                    <a:pt x="0" y="0"/>
                  </a:moveTo>
                  <a:lnTo>
                    <a:pt x="4826962" y="0"/>
                  </a:lnTo>
                  <a:lnTo>
                    <a:pt x="4826962" y="3235511"/>
                  </a:lnTo>
                  <a:lnTo>
                    <a:pt x="0" y="32355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0" y="150321"/>
              <a:ext cx="5522796" cy="2032395"/>
            </a:xfrm>
            <a:prstGeom prst="rect">
              <a:avLst/>
            </a:prstGeom>
          </p:spPr>
          <p:txBody>
            <a:bodyPr anchor="t" rtlCol="false" tIns="0" lIns="0" bIns="0" rIns="0">
              <a:spAutoFit/>
            </a:bodyPr>
            <a:lstStyle/>
            <a:p>
              <a:pPr algn="ctr">
                <a:lnSpc>
                  <a:spcPts val="1711"/>
                </a:lnSpc>
              </a:pPr>
              <a:r>
                <a:rPr lang="en-US" b="true" sz="1425" i="true">
                  <a:solidFill>
                    <a:srgbClr val="000000"/>
                  </a:solidFill>
                  <a:latin typeface="Times New Roman Bold Italics"/>
                  <a:ea typeface="Times New Roman Bold Italics"/>
                  <a:cs typeface="Times New Roman Bold Italics"/>
                  <a:sym typeface="Times New Roman Bold Italics"/>
                </a:rPr>
                <a:t>Measurement model</a:t>
              </a:r>
            </a:p>
            <a:p>
              <a:pPr algn="ctr">
                <a:lnSpc>
                  <a:spcPts val="1711"/>
                </a:lnSpc>
              </a:pPr>
              <a:r>
                <a:rPr lang="en-US" sz="1425" i="true">
                  <a:solidFill>
                    <a:srgbClr val="000000"/>
                  </a:solidFill>
                  <a:latin typeface="Times New Roman Italics"/>
                  <a:ea typeface="Times New Roman Italics"/>
                  <a:cs typeface="Times New Roman Italics"/>
                  <a:sym typeface="Times New Roman Italics"/>
                </a:rPr>
                <a:t>ATT =~ a1 + a2 + a3 + a4</a:t>
              </a:r>
            </a:p>
            <a:p>
              <a:pPr algn="ctr">
                <a:lnSpc>
                  <a:spcPts val="1711"/>
                </a:lnSpc>
              </a:pPr>
              <a:r>
                <a:rPr lang="en-US" sz="1425" i="true">
                  <a:solidFill>
                    <a:srgbClr val="000000"/>
                  </a:solidFill>
                  <a:latin typeface="Times New Roman Italics"/>
                  <a:ea typeface="Times New Roman Italics"/>
                  <a:cs typeface="Times New Roman Italics"/>
                  <a:sym typeface="Times New Roman Italics"/>
                </a:rPr>
                <a:t>SN =~ sn1 + sn2 + sn3</a:t>
              </a:r>
            </a:p>
            <a:p>
              <a:pPr algn="ctr">
                <a:lnSpc>
                  <a:spcPts val="1711"/>
                </a:lnSpc>
              </a:pPr>
              <a:r>
                <a:rPr lang="en-US" sz="1425" i="true">
                  <a:solidFill>
                    <a:srgbClr val="000000"/>
                  </a:solidFill>
                  <a:latin typeface="Times New Roman Italics"/>
                  <a:ea typeface="Times New Roman Italics"/>
                  <a:cs typeface="Times New Roman Italics"/>
                  <a:sym typeface="Times New Roman Italics"/>
                </a:rPr>
                <a:t> PBC =~ pb1 + pb2 + pb3</a:t>
              </a:r>
            </a:p>
            <a:p>
              <a:pPr algn="ctr">
                <a:lnSpc>
                  <a:spcPts val="1711"/>
                </a:lnSpc>
              </a:pPr>
              <a:r>
                <a:rPr lang="en-US" sz="1425" i="true">
                  <a:solidFill>
                    <a:srgbClr val="000000"/>
                  </a:solidFill>
                  <a:latin typeface="Times New Roman Italics"/>
                  <a:ea typeface="Times New Roman Italics"/>
                  <a:cs typeface="Times New Roman Italics"/>
                  <a:sym typeface="Times New Roman Italics"/>
                </a:rPr>
                <a:t>INT =~ bint1 + bint2 + bint3</a:t>
              </a:r>
            </a:p>
            <a:p>
              <a:pPr algn="ctr">
                <a:lnSpc>
                  <a:spcPts val="1711"/>
                </a:lnSpc>
              </a:pPr>
              <a:r>
                <a:rPr lang="en-US" sz="1425" i="true">
                  <a:solidFill>
                    <a:srgbClr val="000000"/>
                  </a:solidFill>
                  <a:latin typeface="Times New Roman Italics"/>
                  <a:ea typeface="Times New Roman Italics"/>
                  <a:cs typeface="Times New Roman Italics"/>
                  <a:sym typeface="Times New Roman Italics"/>
                </a:rPr>
                <a:t> BEH =~ beh1 + beh2</a:t>
              </a:r>
            </a:p>
            <a:p>
              <a:pPr algn="ctr">
                <a:lnSpc>
                  <a:spcPts val="1711"/>
                </a:lnSpc>
                <a:spcBef>
                  <a:spcPct val="0"/>
                </a:spcBef>
              </a:pPr>
            </a:p>
          </p:txBody>
        </p:sp>
        <p:sp>
          <p:nvSpPr>
            <p:cNvPr name="TextBox 14" id="14"/>
            <p:cNvSpPr txBox="true"/>
            <p:nvPr/>
          </p:nvSpPr>
          <p:spPr>
            <a:xfrm rot="0">
              <a:off x="1393820" y="2065978"/>
              <a:ext cx="2735156" cy="1169533"/>
            </a:xfrm>
            <a:prstGeom prst="rect">
              <a:avLst/>
            </a:prstGeom>
          </p:spPr>
          <p:txBody>
            <a:bodyPr anchor="t" rtlCol="false" tIns="0" lIns="0" bIns="0" rIns="0">
              <a:spAutoFit/>
            </a:bodyPr>
            <a:lstStyle/>
            <a:p>
              <a:pPr algn="ctr">
                <a:lnSpc>
                  <a:spcPts val="1711"/>
                </a:lnSpc>
              </a:pPr>
              <a:r>
                <a:rPr lang="en-US" b="true" sz="1425" i="true">
                  <a:solidFill>
                    <a:srgbClr val="000000"/>
                  </a:solidFill>
                  <a:latin typeface="Times New Roman Bold Italics"/>
                  <a:ea typeface="Times New Roman Bold Italics"/>
                  <a:cs typeface="Times New Roman Bold Italics"/>
                  <a:sym typeface="Times New Roman Bold Italics"/>
                </a:rPr>
                <a:t>Structural model</a:t>
              </a:r>
            </a:p>
            <a:p>
              <a:pPr algn="ctr">
                <a:lnSpc>
                  <a:spcPts val="1711"/>
                </a:lnSpc>
              </a:pPr>
              <a:r>
                <a:rPr lang="en-US" sz="1425" i="true">
                  <a:solidFill>
                    <a:srgbClr val="000000"/>
                  </a:solidFill>
                  <a:latin typeface="Times New Roman Italics"/>
                  <a:ea typeface="Times New Roman Italics"/>
                  <a:cs typeface="Times New Roman Italics"/>
                  <a:sym typeface="Times New Roman Italics"/>
                </a:rPr>
                <a:t> INT ~ ATT + SN + PBC</a:t>
              </a:r>
            </a:p>
            <a:p>
              <a:pPr algn="ctr">
                <a:lnSpc>
                  <a:spcPts val="1711"/>
                </a:lnSpc>
              </a:pPr>
              <a:r>
                <a:rPr lang="en-US" sz="1425" i="true">
                  <a:solidFill>
                    <a:srgbClr val="000000"/>
                  </a:solidFill>
                  <a:latin typeface="Times New Roman Italics"/>
                  <a:ea typeface="Times New Roman Italics"/>
                  <a:cs typeface="Times New Roman Italics"/>
                  <a:sym typeface="Times New Roman Italics"/>
                </a:rPr>
                <a:t> BEH ~ INT + PBC</a:t>
              </a:r>
            </a:p>
            <a:p>
              <a:pPr algn="ctr">
                <a:lnSpc>
                  <a:spcPts val="1711"/>
                </a:lnSpc>
                <a:spcBef>
                  <a:spcPct val="0"/>
                </a:spcBef>
              </a:pPr>
            </a:p>
          </p:txBody>
        </p:sp>
      </p:grpSp>
      <p:sp>
        <p:nvSpPr>
          <p:cNvPr name="Freeform 15" id="15"/>
          <p:cNvSpPr/>
          <p:nvPr/>
        </p:nvSpPr>
        <p:spPr>
          <a:xfrm flipH="false" flipV="false" rot="0">
            <a:off x="6655664" y="3907969"/>
            <a:ext cx="2831277" cy="2426633"/>
          </a:xfrm>
          <a:custGeom>
            <a:avLst/>
            <a:gdLst/>
            <a:ahLst/>
            <a:cxnLst/>
            <a:rect r="r" b="b" t="t" l="l"/>
            <a:pathLst>
              <a:path h="2426633" w="2831277">
                <a:moveTo>
                  <a:pt x="0" y="0"/>
                </a:moveTo>
                <a:lnTo>
                  <a:pt x="2831278" y="0"/>
                </a:lnTo>
                <a:lnTo>
                  <a:pt x="2831278" y="2426633"/>
                </a:lnTo>
                <a:lnTo>
                  <a:pt x="0" y="2426633"/>
                </a:lnTo>
                <a:lnTo>
                  <a:pt x="0" y="0"/>
                </a:lnTo>
                <a:close/>
              </a:path>
            </a:pathLst>
          </a:custGeom>
          <a:blipFill>
            <a:blip r:embed="rId7"/>
            <a:stretch>
              <a:fillRect l="0" t="0" r="-58011" b="0"/>
            </a:stretch>
          </a:blipFill>
          <a:ln w="38100" cap="sq">
            <a:solidFill>
              <a:srgbClr val="000000"/>
            </a:solidFill>
            <a:prstDash val="solid"/>
            <a:miter/>
          </a:ln>
        </p:spPr>
      </p:sp>
      <p:grpSp>
        <p:nvGrpSpPr>
          <p:cNvPr name="Group 16" id="16"/>
          <p:cNvGrpSpPr/>
          <p:nvPr/>
        </p:nvGrpSpPr>
        <p:grpSpPr>
          <a:xfrm rot="0">
            <a:off x="2926080" y="1651441"/>
            <a:ext cx="3901440" cy="941756"/>
            <a:chOff x="0" y="0"/>
            <a:chExt cx="5201920" cy="1255674"/>
          </a:xfrm>
        </p:grpSpPr>
        <p:sp>
          <p:nvSpPr>
            <p:cNvPr name="Freeform 17" id="17"/>
            <p:cNvSpPr/>
            <p:nvPr/>
          </p:nvSpPr>
          <p:spPr>
            <a:xfrm flipH="false" flipV="false" rot="0">
              <a:off x="0" y="0"/>
              <a:ext cx="5201920" cy="1255674"/>
            </a:xfrm>
            <a:custGeom>
              <a:avLst/>
              <a:gdLst/>
              <a:ahLst/>
              <a:cxnLst/>
              <a:rect r="r" b="b" t="t" l="l"/>
              <a:pathLst>
                <a:path h="1255674" w="5201920">
                  <a:moveTo>
                    <a:pt x="0" y="0"/>
                  </a:moveTo>
                  <a:lnTo>
                    <a:pt x="5201920" y="0"/>
                  </a:lnTo>
                  <a:lnTo>
                    <a:pt x="5201920" y="1255674"/>
                  </a:lnTo>
                  <a:lnTo>
                    <a:pt x="0" y="125567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8" id="18"/>
            <p:cNvSpPr txBox="true"/>
            <p:nvPr/>
          </p:nvSpPr>
          <p:spPr>
            <a:xfrm rot="0">
              <a:off x="600138" y="148277"/>
              <a:ext cx="4001644" cy="901970"/>
            </a:xfrm>
            <a:prstGeom prst="rect">
              <a:avLst/>
            </a:prstGeom>
          </p:spPr>
          <p:txBody>
            <a:bodyPr anchor="t" rtlCol="false" tIns="0" lIns="0" bIns="0" rIns="0">
              <a:spAutoFit/>
            </a:bodyPr>
            <a:lstStyle/>
            <a:p>
              <a:pPr algn="ctr">
                <a:lnSpc>
                  <a:spcPts val="2717"/>
                </a:lnSpc>
              </a:pPr>
              <a:r>
                <a:rPr lang="en-US" sz="1941">
                  <a:solidFill>
                    <a:srgbClr val="000000"/>
                  </a:solidFill>
                  <a:latin typeface="Times New Roman"/>
                  <a:ea typeface="Times New Roman"/>
                  <a:cs typeface="Times New Roman"/>
                  <a:sym typeface="Times New Roman"/>
                </a:rPr>
                <a:t>CONFIRMATORY FACTOR ANALYSIS</a:t>
              </a:r>
            </a:p>
          </p:txBody>
        </p:sp>
      </p:grpSp>
      <p:sp>
        <p:nvSpPr>
          <p:cNvPr name="TextBox 19" id="19"/>
          <p:cNvSpPr txBox="true"/>
          <p:nvPr/>
        </p:nvSpPr>
        <p:spPr>
          <a:xfrm rot="0">
            <a:off x="731520" y="2975584"/>
            <a:ext cx="8165574" cy="292019"/>
          </a:xfrm>
          <a:prstGeom prst="rect">
            <a:avLst/>
          </a:prstGeom>
        </p:spPr>
        <p:txBody>
          <a:bodyPr anchor="t" rtlCol="false" tIns="0" lIns="0" bIns="0" rIns="0">
            <a:spAutoFit/>
          </a:bodyPr>
          <a:lstStyle/>
          <a:p>
            <a:pPr algn="ctr">
              <a:lnSpc>
                <a:spcPts val="2154"/>
              </a:lnSpc>
              <a:spcBef>
                <a:spcPct val="0"/>
              </a:spcBef>
            </a:pPr>
            <a:r>
              <a:rPr lang="en-US" sz="1795">
                <a:solidFill>
                  <a:srgbClr val="000000"/>
                </a:solidFill>
                <a:latin typeface="Times New Roman"/>
                <a:ea typeface="Times New Roman"/>
                <a:cs typeface="Times New Roman"/>
                <a:sym typeface="Times New Roman"/>
              </a:rPr>
              <a:t>The objective was to validate the factor structure and assess the model’s fit.</a:t>
            </a:r>
          </a:p>
        </p:txBody>
      </p:sp>
      <p:sp>
        <p:nvSpPr>
          <p:cNvPr name="TextBox 20" id="20"/>
          <p:cNvSpPr txBox="true"/>
          <p:nvPr/>
        </p:nvSpPr>
        <p:spPr>
          <a:xfrm rot="0">
            <a:off x="1080661" y="6464617"/>
            <a:ext cx="560710" cy="228600"/>
          </a:xfrm>
          <a:prstGeom prst="rect">
            <a:avLst/>
          </a:prstGeom>
        </p:spPr>
        <p:txBody>
          <a:bodyPr anchor="t" rtlCol="false" tIns="0" lIns="0" bIns="0" rIns="0">
            <a:spAutoFit/>
          </a:bodyPr>
          <a:lstStyle/>
          <a:p>
            <a:pPr algn="ctr">
              <a:lnSpc>
                <a:spcPts val="1791"/>
              </a:lnSpc>
              <a:spcBef>
                <a:spcPct val="0"/>
              </a:spcBef>
            </a:pPr>
            <a:r>
              <a:rPr lang="en-US" sz="1493">
                <a:solidFill>
                  <a:srgbClr val="000000"/>
                </a:solidFill>
                <a:latin typeface="Times New Roman"/>
                <a:ea typeface="Times New Roman"/>
                <a:cs typeface="Times New Roman"/>
                <a:sym typeface="Times New Roman"/>
              </a:rPr>
              <a:t>Table 4</a:t>
            </a:r>
          </a:p>
        </p:txBody>
      </p:sp>
      <p:sp>
        <p:nvSpPr>
          <p:cNvPr name="TextBox 21" id="21"/>
          <p:cNvSpPr txBox="true"/>
          <p:nvPr/>
        </p:nvSpPr>
        <p:spPr>
          <a:xfrm rot="0">
            <a:off x="7790948" y="6464617"/>
            <a:ext cx="560710" cy="228600"/>
          </a:xfrm>
          <a:prstGeom prst="rect">
            <a:avLst/>
          </a:prstGeom>
        </p:spPr>
        <p:txBody>
          <a:bodyPr anchor="t" rtlCol="false" tIns="0" lIns="0" bIns="0" rIns="0">
            <a:spAutoFit/>
          </a:bodyPr>
          <a:lstStyle/>
          <a:p>
            <a:pPr algn="ctr">
              <a:lnSpc>
                <a:spcPts val="1791"/>
              </a:lnSpc>
              <a:spcBef>
                <a:spcPct val="0"/>
              </a:spcBef>
            </a:pPr>
            <a:r>
              <a:rPr lang="en-US" sz="1493">
                <a:solidFill>
                  <a:srgbClr val="000000"/>
                </a:solidFill>
                <a:latin typeface="Times New Roman"/>
                <a:ea typeface="Times New Roman"/>
                <a:cs typeface="Times New Roman"/>
                <a:sym typeface="Times New Roman"/>
              </a:rPr>
              <a:t>Table 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sp>
        <p:nvSpPr>
          <p:cNvPr name="Freeform 11" id="11"/>
          <p:cNvSpPr/>
          <p:nvPr/>
        </p:nvSpPr>
        <p:spPr>
          <a:xfrm flipH="false" flipV="false" rot="0">
            <a:off x="2437661" y="1314716"/>
            <a:ext cx="5042779" cy="1217260"/>
          </a:xfrm>
          <a:custGeom>
            <a:avLst/>
            <a:gdLst/>
            <a:ahLst/>
            <a:cxnLst/>
            <a:rect r="r" b="b" t="t" l="l"/>
            <a:pathLst>
              <a:path h="1217260" w="5042779">
                <a:moveTo>
                  <a:pt x="0" y="0"/>
                </a:moveTo>
                <a:lnTo>
                  <a:pt x="5042779" y="0"/>
                </a:lnTo>
                <a:lnTo>
                  <a:pt x="5042779" y="1217260"/>
                </a:lnTo>
                <a:lnTo>
                  <a:pt x="0" y="121726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595840" y="1403733"/>
            <a:ext cx="8426240" cy="775040"/>
            <a:chOff x="0" y="0"/>
            <a:chExt cx="11234987" cy="1033387"/>
          </a:xfrm>
        </p:grpSpPr>
        <p:sp>
          <p:nvSpPr>
            <p:cNvPr name="Freeform 13" id="13"/>
            <p:cNvSpPr/>
            <p:nvPr/>
          </p:nvSpPr>
          <p:spPr>
            <a:xfrm flipH="false" flipV="false" rot="0">
              <a:off x="0" y="0"/>
              <a:ext cx="11234986" cy="1033387"/>
            </a:xfrm>
            <a:custGeom>
              <a:avLst/>
              <a:gdLst/>
              <a:ahLst/>
              <a:cxnLst/>
              <a:rect r="r" b="b" t="t" l="l"/>
              <a:pathLst>
                <a:path h="1033387" w="11234986">
                  <a:moveTo>
                    <a:pt x="0" y="0"/>
                  </a:moveTo>
                  <a:lnTo>
                    <a:pt x="11234986" y="0"/>
                  </a:lnTo>
                  <a:lnTo>
                    <a:pt x="11234986" y="1033387"/>
                  </a:lnTo>
                  <a:lnTo>
                    <a:pt x="0" y="1033387"/>
                  </a:lnTo>
                  <a:close/>
                </a:path>
              </a:pathLst>
            </a:custGeom>
          </p:spPr>
        </p:sp>
        <p:sp>
          <p:nvSpPr>
            <p:cNvPr name="TextBox 14" id="14"/>
            <p:cNvSpPr txBox="true"/>
            <p:nvPr/>
          </p:nvSpPr>
          <p:spPr>
            <a:xfrm>
              <a:off x="0" y="-200025"/>
              <a:ext cx="11234987" cy="1233412"/>
            </a:xfrm>
            <a:prstGeom prst="rect">
              <a:avLst/>
            </a:prstGeom>
          </p:spPr>
          <p:txBody>
            <a:bodyPr anchor="ctr" rtlCol="false" tIns="0" lIns="0" bIns="0" rIns="0"/>
            <a:lstStyle/>
            <a:p>
              <a:pPr algn="ctr">
                <a:lnSpc>
                  <a:spcPts val="5400"/>
                </a:lnSpc>
              </a:pPr>
              <a:r>
                <a:rPr lang="en-US" b="true" sz="3000">
                  <a:solidFill>
                    <a:srgbClr val="0F1115"/>
                  </a:solidFill>
                  <a:latin typeface="Times New Roman Bold"/>
                  <a:ea typeface="Times New Roman Bold"/>
                  <a:cs typeface="Times New Roman Bold"/>
                  <a:sym typeface="Times New Roman Bold"/>
                </a:rPr>
                <a:t> </a:t>
              </a:r>
              <a:r>
                <a:rPr lang="en-US" b="true" sz="3000">
                  <a:solidFill>
                    <a:srgbClr val="0F1115"/>
                  </a:solidFill>
                  <a:latin typeface="Times New Roman Bold"/>
                  <a:ea typeface="Times New Roman Bold"/>
                  <a:cs typeface="Times New Roman Bold"/>
                  <a:sym typeface="Times New Roman Bold"/>
                </a:rPr>
                <a:t>Theory of Planned Behavior</a:t>
              </a:r>
            </a:p>
          </p:txBody>
        </p:sp>
      </p:grpSp>
      <p:sp>
        <p:nvSpPr>
          <p:cNvPr name="TextBox 15" id="15"/>
          <p:cNvSpPr txBox="true"/>
          <p:nvPr/>
        </p:nvSpPr>
        <p:spPr>
          <a:xfrm rot="0">
            <a:off x="760339" y="2688917"/>
            <a:ext cx="8397424" cy="3619772"/>
          </a:xfrm>
          <a:prstGeom prst="rect">
            <a:avLst/>
          </a:prstGeom>
        </p:spPr>
        <p:txBody>
          <a:bodyPr anchor="t" rtlCol="false" tIns="0" lIns="0" bIns="0" rIns="0">
            <a:spAutoFit/>
          </a:bodyPr>
          <a:lstStyle/>
          <a:p>
            <a:pPr algn="l">
              <a:lnSpc>
                <a:spcPts val="2858"/>
              </a:lnSpc>
            </a:pPr>
            <a:r>
              <a:rPr lang="en-US" sz="2071">
                <a:solidFill>
                  <a:srgbClr val="0F1115"/>
                </a:solidFill>
                <a:latin typeface="Times New Roman"/>
                <a:ea typeface="Times New Roman"/>
                <a:cs typeface="Times New Roman"/>
                <a:sym typeface="Times New Roman"/>
              </a:rPr>
              <a:t>The CFA-validated constructs, Attitude (ATT), Subjective Norm (SN), Perceived Behavioural Control (PBC), Intention (INT), and Behaviour (BEH) align perfectly with the TPB framework.</a:t>
            </a:r>
          </a:p>
          <a:p>
            <a:pPr algn="l">
              <a:lnSpc>
                <a:spcPts val="2858"/>
              </a:lnSpc>
            </a:pPr>
          </a:p>
          <a:p>
            <a:pPr algn="l" marL="447219" indent="-223610" lvl="1">
              <a:lnSpc>
                <a:spcPts val="2858"/>
              </a:lnSpc>
              <a:buAutoNum type="arabicPeriod" startAt="1"/>
            </a:pPr>
            <a:r>
              <a:rPr lang="en-US" sz="2071">
                <a:solidFill>
                  <a:srgbClr val="0F1115"/>
                </a:solidFill>
                <a:latin typeface="Times New Roman"/>
                <a:ea typeface="Times New Roman"/>
                <a:cs typeface="Times New Roman"/>
                <a:sym typeface="Times New Roman"/>
              </a:rPr>
              <a:t> </a:t>
            </a:r>
            <a:r>
              <a:rPr lang="en-US" b="true" sz="2071">
                <a:solidFill>
                  <a:srgbClr val="0F1115"/>
                </a:solidFill>
                <a:latin typeface="Times New Roman Bold"/>
                <a:ea typeface="Times New Roman Bold"/>
                <a:cs typeface="Times New Roman Bold"/>
                <a:sym typeface="Times New Roman Bold"/>
              </a:rPr>
              <a:t>Attitude, SN, and PBC → influence → Behavioral Intention (INT)</a:t>
            </a:r>
          </a:p>
          <a:p>
            <a:pPr algn="l" marL="447219" indent="-223610" lvl="1">
              <a:lnSpc>
                <a:spcPts val="2858"/>
              </a:lnSpc>
              <a:buAutoNum type="arabicPeriod" startAt="1"/>
            </a:pPr>
            <a:r>
              <a:rPr lang="en-US" b="true" sz="2071">
                <a:solidFill>
                  <a:srgbClr val="0F1115"/>
                </a:solidFill>
                <a:latin typeface="Times New Roman Bold"/>
                <a:ea typeface="Times New Roman Bold"/>
                <a:cs typeface="Times New Roman Bold"/>
                <a:sym typeface="Times New Roman Bold"/>
              </a:rPr>
              <a:t> </a:t>
            </a:r>
            <a:r>
              <a:rPr lang="en-US" b="true" sz="2071">
                <a:solidFill>
                  <a:srgbClr val="0F1115"/>
                </a:solidFill>
                <a:latin typeface="Times New Roman Bold"/>
                <a:ea typeface="Times New Roman Bold"/>
                <a:cs typeface="Times New Roman Bold"/>
                <a:sym typeface="Times New Roman Bold"/>
              </a:rPr>
              <a:t>Behavioral Intention (INT) → drives → Actual Behavior (BEH)</a:t>
            </a:r>
          </a:p>
          <a:p>
            <a:pPr algn="l">
              <a:lnSpc>
                <a:spcPts val="2858"/>
              </a:lnSpc>
            </a:pPr>
          </a:p>
          <a:p>
            <a:pPr algn="l">
              <a:lnSpc>
                <a:spcPts val="2858"/>
              </a:lnSpc>
            </a:pPr>
            <a:r>
              <a:rPr lang="en-US" sz="2071">
                <a:solidFill>
                  <a:srgbClr val="0F1115"/>
                </a:solidFill>
                <a:latin typeface="Times New Roman"/>
                <a:ea typeface="Times New Roman"/>
                <a:cs typeface="Times New Roman"/>
                <a:sym typeface="Times New Roman"/>
              </a:rPr>
              <a:t>The CFA model statistically validates these theoretical relationships, providing empirical support for TPB in the context of consumer purchase behaviour.</a:t>
            </a:r>
          </a:p>
          <a:p>
            <a:pPr algn="l">
              <a:lnSpc>
                <a:spcPts val="2858"/>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905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0" id="10"/>
          <p:cNvGrpSpPr/>
          <p:nvPr/>
        </p:nvGrpSpPr>
        <p:grpSpPr>
          <a:xfrm rot="0">
            <a:off x="427383" y="1261169"/>
            <a:ext cx="9090921" cy="1060440"/>
            <a:chOff x="0" y="0"/>
            <a:chExt cx="12121228" cy="1413920"/>
          </a:xfrm>
        </p:grpSpPr>
        <p:sp>
          <p:nvSpPr>
            <p:cNvPr name="Freeform 11" id="11"/>
            <p:cNvSpPr/>
            <p:nvPr/>
          </p:nvSpPr>
          <p:spPr>
            <a:xfrm flipH="false" flipV="false" rot="0">
              <a:off x="0" y="0"/>
              <a:ext cx="12121228" cy="1413920"/>
            </a:xfrm>
            <a:custGeom>
              <a:avLst/>
              <a:gdLst/>
              <a:ahLst/>
              <a:cxnLst/>
              <a:rect r="r" b="b" t="t" l="l"/>
              <a:pathLst>
                <a:path h="1413920" w="12121228">
                  <a:moveTo>
                    <a:pt x="0" y="0"/>
                  </a:moveTo>
                  <a:lnTo>
                    <a:pt x="12121228" y="0"/>
                  </a:lnTo>
                  <a:lnTo>
                    <a:pt x="12121228" y="1413920"/>
                  </a:lnTo>
                  <a:lnTo>
                    <a:pt x="0" y="1413920"/>
                  </a:lnTo>
                  <a:close/>
                </a:path>
              </a:pathLst>
            </a:custGeom>
          </p:spPr>
        </p:sp>
        <p:sp>
          <p:nvSpPr>
            <p:cNvPr name="TextBox 12" id="12"/>
            <p:cNvSpPr txBox="true"/>
            <p:nvPr/>
          </p:nvSpPr>
          <p:spPr>
            <a:xfrm>
              <a:off x="0" y="-28575"/>
              <a:ext cx="12121228" cy="1442495"/>
            </a:xfrm>
            <a:prstGeom prst="rect">
              <a:avLst/>
            </a:prstGeom>
          </p:spPr>
          <p:txBody>
            <a:bodyPr anchor="ctr" rtlCol="false" tIns="0" lIns="0" bIns="0" rIns="0"/>
            <a:lstStyle/>
            <a:p>
              <a:pPr algn="ctr">
                <a:lnSpc>
                  <a:spcPts val="3600"/>
                </a:lnSpc>
              </a:pPr>
              <a:r>
                <a:rPr lang="en-US" b="true" sz="3000">
                  <a:solidFill>
                    <a:srgbClr val="000000"/>
                  </a:solidFill>
                  <a:latin typeface="Times New Roman Bold"/>
                  <a:ea typeface="Times New Roman Bold"/>
                  <a:cs typeface="Times New Roman Bold"/>
                  <a:sym typeface="Times New Roman Bold"/>
                </a:rPr>
                <a:t> Theory of Planned Behavior: Our Psychological Framework</a:t>
              </a:r>
            </a:p>
          </p:txBody>
        </p:sp>
      </p:grpSp>
      <p:sp>
        <p:nvSpPr>
          <p:cNvPr name="Freeform 13" id="13"/>
          <p:cNvSpPr/>
          <p:nvPr/>
        </p:nvSpPr>
        <p:spPr>
          <a:xfrm flipH="false" flipV="false" rot="0">
            <a:off x="741045" y="2492613"/>
            <a:ext cx="8160873" cy="4158427"/>
          </a:xfrm>
          <a:custGeom>
            <a:avLst/>
            <a:gdLst/>
            <a:ahLst/>
            <a:cxnLst/>
            <a:rect r="r" b="b" t="t" l="l"/>
            <a:pathLst>
              <a:path h="4158427" w="8160873">
                <a:moveTo>
                  <a:pt x="0" y="0"/>
                </a:moveTo>
                <a:lnTo>
                  <a:pt x="8160873" y="0"/>
                </a:lnTo>
                <a:lnTo>
                  <a:pt x="8160873" y="4158426"/>
                </a:lnTo>
                <a:lnTo>
                  <a:pt x="0" y="4158426"/>
                </a:lnTo>
                <a:lnTo>
                  <a:pt x="0" y="0"/>
                </a:lnTo>
                <a:close/>
              </a:path>
            </a:pathLst>
          </a:custGeom>
          <a:blipFill>
            <a:blip r:embed="rId4"/>
            <a:stretch>
              <a:fillRect l="0" t="-288" r="0" b="-288"/>
            </a:stretch>
          </a:blipFill>
          <a:ln w="19050" cap="sq">
            <a:solidFill>
              <a:srgbClr val="000000"/>
            </a:solidFill>
            <a:prstDash val="solid"/>
            <a:miter/>
          </a:ln>
        </p:spPr>
      </p:sp>
      <p:sp>
        <p:nvSpPr>
          <p:cNvPr name="TextBox 14" id="14"/>
          <p:cNvSpPr txBox="true"/>
          <p:nvPr/>
        </p:nvSpPr>
        <p:spPr>
          <a:xfrm rot="0">
            <a:off x="4699873" y="6803439"/>
            <a:ext cx="315754"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3</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0" id="10"/>
          <p:cNvGrpSpPr/>
          <p:nvPr/>
        </p:nvGrpSpPr>
        <p:grpSpPr>
          <a:xfrm rot="0">
            <a:off x="2994494" y="1110150"/>
            <a:ext cx="3764612" cy="806751"/>
            <a:chOff x="0" y="0"/>
            <a:chExt cx="5019483" cy="1075668"/>
          </a:xfrm>
        </p:grpSpPr>
        <p:sp>
          <p:nvSpPr>
            <p:cNvPr name="Freeform 11" id="11"/>
            <p:cNvSpPr/>
            <p:nvPr/>
          </p:nvSpPr>
          <p:spPr>
            <a:xfrm flipH="false" flipV="false" rot="0">
              <a:off x="0" y="0"/>
              <a:ext cx="5019483" cy="1075668"/>
            </a:xfrm>
            <a:custGeom>
              <a:avLst/>
              <a:gdLst/>
              <a:ahLst/>
              <a:cxnLst/>
              <a:rect r="r" b="b" t="t" l="l"/>
              <a:pathLst>
                <a:path h="1075668" w="5019483">
                  <a:moveTo>
                    <a:pt x="0" y="0"/>
                  </a:moveTo>
                  <a:lnTo>
                    <a:pt x="5019483" y="0"/>
                  </a:lnTo>
                  <a:lnTo>
                    <a:pt x="5019483" y="1075668"/>
                  </a:lnTo>
                  <a:lnTo>
                    <a:pt x="0" y="1075668"/>
                  </a:lnTo>
                  <a:close/>
                </a:path>
              </a:pathLst>
            </a:custGeom>
          </p:spPr>
        </p:sp>
        <p:sp>
          <p:nvSpPr>
            <p:cNvPr name="TextBox 12" id="12"/>
            <p:cNvSpPr txBox="true"/>
            <p:nvPr/>
          </p:nvSpPr>
          <p:spPr>
            <a:xfrm>
              <a:off x="0" y="-19050"/>
              <a:ext cx="5019483" cy="1094718"/>
            </a:xfrm>
            <a:prstGeom prst="rect">
              <a:avLst/>
            </a:prstGeom>
          </p:spPr>
          <p:txBody>
            <a:bodyPr anchor="ctr" rtlCol="false" tIns="0" lIns="0" bIns="0" rIns="0"/>
            <a:lstStyle/>
            <a:p>
              <a:pPr algn="ctr">
                <a:lnSpc>
                  <a:spcPts val="4860"/>
                </a:lnSpc>
              </a:pPr>
              <a:r>
                <a:rPr lang="en-US" b="true" sz="4050">
                  <a:solidFill>
                    <a:srgbClr val="000000"/>
                  </a:solidFill>
                  <a:latin typeface="Times New Roman Bold"/>
                  <a:ea typeface="Times New Roman Bold"/>
                  <a:cs typeface="Times New Roman Bold"/>
                  <a:sym typeface="Times New Roman Bold"/>
                </a:rPr>
                <a:t>SEM PLOT</a:t>
              </a:r>
            </a:p>
          </p:txBody>
        </p:sp>
      </p:grpSp>
      <p:sp>
        <p:nvSpPr>
          <p:cNvPr name="Freeform 13" id="13"/>
          <p:cNvSpPr/>
          <p:nvPr/>
        </p:nvSpPr>
        <p:spPr>
          <a:xfrm flipH="false" flipV="false" rot="0">
            <a:off x="1534269" y="1847463"/>
            <a:ext cx="7103046" cy="5208052"/>
          </a:xfrm>
          <a:custGeom>
            <a:avLst/>
            <a:gdLst/>
            <a:ahLst/>
            <a:cxnLst/>
            <a:rect r="r" b="b" t="t" l="l"/>
            <a:pathLst>
              <a:path h="5208052" w="7103046">
                <a:moveTo>
                  <a:pt x="0" y="0"/>
                </a:moveTo>
                <a:lnTo>
                  <a:pt x="7103046" y="0"/>
                </a:lnTo>
                <a:lnTo>
                  <a:pt x="7103046" y="5208052"/>
                </a:lnTo>
                <a:lnTo>
                  <a:pt x="0" y="5208052"/>
                </a:lnTo>
                <a:lnTo>
                  <a:pt x="0" y="0"/>
                </a:lnTo>
                <a:close/>
              </a:path>
            </a:pathLst>
          </a:custGeom>
          <a:blipFill>
            <a:blip r:embed="rId4"/>
            <a:stretch>
              <a:fillRect l="0" t="0" r="0" b="0"/>
            </a:stretch>
          </a:blipFill>
        </p:spPr>
      </p:sp>
      <p:sp>
        <p:nvSpPr>
          <p:cNvPr name="TextBox 14" id="14"/>
          <p:cNvSpPr txBox="true"/>
          <p:nvPr/>
        </p:nvSpPr>
        <p:spPr>
          <a:xfrm rot="0">
            <a:off x="4718923" y="6945978"/>
            <a:ext cx="315754"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4</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8655"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787908"/>
            <a:chOff x="0" y="0"/>
            <a:chExt cx="2650220" cy="1050544"/>
          </a:xfrm>
        </p:grpSpPr>
        <p:sp>
          <p:nvSpPr>
            <p:cNvPr name="Freeform 5" id="5"/>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6" id="6"/>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7" id="7"/>
          <p:cNvGrpSpPr/>
          <p:nvPr/>
        </p:nvGrpSpPr>
        <p:grpSpPr>
          <a:xfrm rot="0">
            <a:off x="1810327" y="299257"/>
            <a:ext cx="1950719" cy="787908"/>
            <a:chOff x="0" y="0"/>
            <a:chExt cx="2600959" cy="1050544"/>
          </a:xfrm>
        </p:grpSpPr>
        <p:sp>
          <p:nvSpPr>
            <p:cNvPr name="Freeform 8" id="8"/>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9" id="9"/>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0" id="10"/>
          <p:cNvGrpSpPr/>
          <p:nvPr/>
        </p:nvGrpSpPr>
        <p:grpSpPr>
          <a:xfrm rot="0">
            <a:off x="1366373" y="2711510"/>
            <a:ext cx="7020854" cy="1892180"/>
            <a:chOff x="0" y="0"/>
            <a:chExt cx="9361139" cy="2522907"/>
          </a:xfrm>
        </p:grpSpPr>
        <p:sp>
          <p:nvSpPr>
            <p:cNvPr name="Freeform 11" id="11"/>
            <p:cNvSpPr/>
            <p:nvPr/>
          </p:nvSpPr>
          <p:spPr>
            <a:xfrm flipH="false" flipV="false" rot="0">
              <a:off x="0" y="0"/>
              <a:ext cx="9361139" cy="2522907"/>
            </a:xfrm>
            <a:custGeom>
              <a:avLst/>
              <a:gdLst/>
              <a:ahLst/>
              <a:cxnLst/>
              <a:rect r="r" b="b" t="t" l="l"/>
              <a:pathLst>
                <a:path h="2522907" w="9361139">
                  <a:moveTo>
                    <a:pt x="0" y="0"/>
                  </a:moveTo>
                  <a:lnTo>
                    <a:pt x="9361139" y="0"/>
                  </a:lnTo>
                  <a:lnTo>
                    <a:pt x="9361139" y="2522907"/>
                  </a:lnTo>
                  <a:lnTo>
                    <a:pt x="0" y="2522907"/>
                  </a:lnTo>
                  <a:close/>
                </a:path>
              </a:pathLst>
            </a:custGeom>
          </p:spPr>
        </p:sp>
        <p:sp>
          <p:nvSpPr>
            <p:cNvPr name="TextBox 12" id="12"/>
            <p:cNvSpPr txBox="true"/>
            <p:nvPr/>
          </p:nvSpPr>
          <p:spPr>
            <a:xfrm>
              <a:off x="0" y="-28575"/>
              <a:ext cx="9361139" cy="2551482"/>
            </a:xfrm>
            <a:prstGeom prst="rect">
              <a:avLst/>
            </a:prstGeom>
          </p:spPr>
          <p:txBody>
            <a:bodyPr anchor="ctr" rtlCol="false" tIns="0" lIns="0" bIns="0" rIns="0"/>
            <a:lstStyle/>
            <a:p>
              <a:pPr algn="ctr">
                <a:lnSpc>
                  <a:spcPts val="4800"/>
                </a:lnSpc>
              </a:pPr>
              <a:r>
                <a:rPr lang="en-US" sz="4000" b="true">
                  <a:solidFill>
                    <a:srgbClr val="000000"/>
                  </a:solidFill>
                  <a:latin typeface="Times New Roman Bold"/>
                  <a:ea typeface="Times New Roman Bold"/>
                  <a:cs typeface="Times New Roman Bold"/>
                  <a:sym typeface="Times New Roman Bold"/>
                </a:rPr>
                <a:t>Study 3 : To segment consumers into homogeneous groups</a:t>
              </a:r>
            </a:p>
            <a:p>
              <a:pPr algn="ctr">
                <a:lnSpc>
                  <a:spcPts val="3960"/>
                </a:lnSpc>
              </a:pP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787908"/>
            <a:chOff x="0" y="0"/>
            <a:chExt cx="2650220" cy="1050544"/>
          </a:xfrm>
        </p:grpSpPr>
        <p:sp>
          <p:nvSpPr>
            <p:cNvPr name="Freeform 5" id="5"/>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6" id="6"/>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7" id="7"/>
          <p:cNvGrpSpPr/>
          <p:nvPr/>
        </p:nvGrpSpPr>
        <p:grpSpPr>
          <a:xfrm rot="0">
            <a:off x="1810327" y="299257"/>
            <a:ext cx="1950719" cy="787908"/>
            <a:chOff x="0" y="0"/>
            <a:chExt cx="2600959" cy="1050544"/>
          </a:xfrm>
        </p:grpSpPr>
        <p:sp>
          <p:nvSpPr>
            <p:cNvPr name="Freeform 8" id="8"/>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9" id="9"/>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sp>
        <p:nvSpPr>
          <p:cNvPr name="Freeform 10" id="10"/>
          <p:cNvSpPr/>
          <p:nvPr/>
        </p:nvSpPr>
        <p:spPr>
          <a:xfrm flipH="false" flipV="false" rot="0">
            <a:off x="1044564" y="2846503"/>
            <a:ext cx="7664471" cy="4062170"/>
          </a:xfrm>
          <a:custGeom>
            <a:avLst/>
            <a:gdLst/>
            <a:ahLst/>
            <a:cxnLst/>
            <a:rect r="r" b="b" t="t" l="l"/>
            <a:pathLst>
              <a:path h="4062170" w="7664471">
                <a:moveTo>
                  <a:pt x="0" y="0"/>
                </a:moveTo>
                <a:lnTo>
                  <a:pt x="7664472" y="0"/>
                </a:lnTo>
                <a:lnTo>
                  <a:pt x="7664472" y="4062170"/>
                </a:lnTo>
                <a:lnTo>
                  <a:pt x="0" y="4062170"/>
                </a:lnTo>
                <a:lnTo>
                  <a:pt x="0" y="0"/>
                </a:lnTo>
                <a:close/>
              </a:path>
            </a:pathLst>
          </a:custGeom>
          <a:blipFill>
            <a:blip r:embed="rId4"/>
            <a:stretch>
              <a:fillRect l="0" t="0" r="0" b="0"/>
            </a:stretch>
          </a:blipFill>
          <a:ln w="19050" cap="sq">
            <a:solidFill>
              <a:srgbClr val="000000"/>
            </a:solidFill>
            <a:prstDash val="solid"/>
            <a:miter/>
          </a:ln>
        </p:spPr>
      </p:sp>
      <p:sp>
        <p:nvSpPr>
          <p:cNvPr name="TextBox 11" id="11"/>
          <p:cNvSpPr txBox="true"/>
          <p:nvPr/>
        </p:nvSpPr>
        <p:spPr>
          <a:xfrm rot="0">
            <a:off x="902385" y="1321521"/>
            <a:ext cx="7948830" cy="1276350"/>
          </a:xfrm>
          <a:prstGeom prst="rect">
            <a:avLst/>
          </a:prstGeom>
        </p:spPr>
        <p:txBody>
          <a:bodyPr anchor="t" rtlCol="false" tIns="0" lIns="0" bIns="0" rIns="0">
            <a:spAutoFit/>
          </a:bodyPr>
          <a:lstStyle/>
          <a:p>
            <a:pPr algn="l">
              <a:lnSpc>
                <a:spcPts val="2536"/>
              </a:lnSpc>
            </a:pPr>
            <a:r>
              <a:rPr lang="en-US" sz="2113">
                <a:solidFill>
                  <a:srgbClr val="0F1115"/>
                </a:solidFill>
                <a:latin typeface="Times New Roman"/>
                <a:ea typeface="Times New Roman"/>
                <a:cs typeface="Times New Roman"/>
                <a:sym typeface="Times New Roman"/>
              </a:rPr>
              <a:t>Clustering is used in this study to segment customers into distinct groups based on their psychological traits, shopping behaviors, and responses to discount coupons. This helps identify different customer types in the clothing market for targeted marketing strategies.</a:t>
            </a:r>
          </a:p>
        </p:txBody>
      </p:sp>
      <p:sp>
        <p:nvSpPr>
          <p:cNvPr name="TextBox 12" id="12"/>
          <p:cNvSpPr txBox="true"/>
          <p:nvPr/>
        </p:nvSpPr>
        <p:spPr>
          <a:xfrm rot="0">
            <a:off x="4718923" y="6889623"/>
            <a:ext cx="315754"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5</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787908"/>
            <a:chOff x="0" y="0"/>
            <a:chExt cx="2650220" cy="1050544"/>
          </a:xfrm>
        </p:grpSpPr>
        <p:sp>
          <p:nvSpPr>
            <p:cNvPr name="Freeform 5" id="5"/>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6" id="6"/>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7" id="7"/>
          <p:cNvGrpSpPr/>
          <p:nvPr/>
        </p:nvGrpSpPr>
        <p:grpSpPr>
          <a:xfrm rot="0">
            <a:off x="1810327" y="299257"/>
            <a:ext cx="1950719" cy="787908"/>
            <a:chOff x="0" y="0"/>
            <a:chExt cx="2600959" cy="1050544"/>
          </a:xfrm>
        </p:grpSpPr>
        <p:sp>
          <p:nvSpPr>
            <p:cNvPr name="Freeform 8" id="8"/>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9" id="9"/>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0" id="10"/>
          <p:cNvGrpSpPr/>
          <p:nvPr/>
        </p:nvGrpSpPr>
        <p:grpSpPr>
          <a:xfrm rot="0">
            <a:off x="908039" y="1417733"/>
            <a:ext cx="3029526" cy="762240"/>
            <a:chOff x="0" y="0"/>
            <a:chExt cx="4039369" cy="1016320"/>
          </a:xfrm>
        </p:grpSpPr>
        <p:sp>
          <p:nvSpPr>
            <p:cNvPr name="Freeform 11" id="11"/>
            <p:cNvSpPr/>
            <p:nvPr/>
          </p:nvSpPr>
          <p:spPr>
            <a:xfrm flipH="false" flipV="false" rot="0">
              <a:off x="0" y="0"/>
              <a:ext cx="4039369" cy="1016320"/>
            </a:xfrm>
            <a:custGeom>
              <a:avLst/>
              <a:gdLst/>
              <a:ahLst/>
              <a:cxnLst/>
              <a:rect r="r" b="b" t="t" l="l"/>
              <a:pathLst>
                <a:path h="1016320" w="4039369">
                  <a:moveTo>
                    <a:pt x="0" y="0"/>
                  </a:moveTo>
                  <a:lnTo>
                    <a:pt x="4039369" y="0"/>
                  </a:lnTo>
                  <a:lnTo>
                    <a:pt x="4039369" y="1016320"/>
                  </a:lnTo>
                  <a:lnTo>
                    <a:pt x="0" y="1016320"/>
                  </a:lnTo>
                  <a:close/>
                </a:path>
              </a:pathLst>
            </a:custGeom>
          </p:spPr>
        </p:sp>
        <p:sp>
          <p:nvSpPr>
            <p:cNvPr name="TextBox 12" id="12"/>
            <p:cNvSpPr txBox="true"/>
            <p:nvPr/>
          </p:nvSpPr>
          <p:spPr>
            <a:xfrm>
              <a:off x="0" y="-28575"/>
              <a:ext cx="4039369" cy="1044895"/>
            </a:xfrm>
            <a:prstGeom prst="rect">
              <a:avLst/>
            </a:prstGeom>
          </p:spPr>
          <p:txBody>
            <a:bodyPr anchor="ctr" rtlCol="false" tIns="0" lIns="0" bIns="0" rIns="0"/>
            <a:lstStyle/>
            <a:p>
              <a:pPr algn="ctr">
                <a:lnSpc>
                  <a:spcPts val="3840"/>
                </a:lnSpc>
              </a:pPr>
              <a:r>
                <a:rPr lang="en-US" b="true" sz="3200">
                  <a:solidFill>
                    <a:srgbClr val="000000"/>
                  </a:solidFill>
                  <a:latin typeface="Times New Roman Bold"/>
                  <a:ea typeface="Times New Roman Bold"/>
                  <a:cs typeface="Times New Roman Bold"/>
                  <a:sym typeface="Times New Roman Bold"/>
                </a:rPr>
                <a:t> Elbow Method</a:t>
              </a:r>
            </a:p>
          </p:txBody>
        </p:sp>
      </p:grpSp>
      <p:grpSp>
        <p:nvGrpSpPr>
          <p:cNvPr name="Group 13" id="13"/>
          <p:cNvGrpSpPr/>
          <p:nvPr/>
        </p:nvGrpSpPr>
        <p:grpSpPr>
          <a:xfrm rot="0">
            <a:off x="5784595" y="1417733"/>
            <a:ext cx="3029526" cy="762240"/>
            <a:chOff x="0" y="0"/>
            <a:chExt cx="4039369" cy="1016320"/>
          </a:xfrm>
        </p:grpSpPr>
        <p:sp>
          <p:nvSpPr>
            <p:cNvPr name="Freeform 14" id="14"/>
            <p:cNvSpPr/>
            <p:nvPr/>
          </p:nvSpPr>
          <p:spPr>
            <a:xfrm flipH="false" flipV="false" rot="0">
              <a:off x="0" y="0"/>
              <a:ext cx="4039369" cy="1016320"/>
            </a:xfrm>
            <a:custGeom>
              <a:avLst/>
              <a:gdLst/>
              <a:ahLst/>
              <a:cxnLst/>
              <a:rect r="r" b="b" t="t" l="l"/>
              <a:pathLst>
                <a:path h="1016320" w="4039369">
                  <a:moveTo>
                    <a:pt x="0" y="0"/>
                  </a:moveTo>
                  <a:lnTo>
                    <a:pt x="4039369" y="0"/>
                  </a:lnTo>
                  <a:lnTo>
                    <a:pt x="4039369" y="1016320"/>
                  </a:lnTo>
                  <a:lnTo>
                    <a:pt x="0" y="1016320"/>
                  </a:lnTo>
                  <a:close/>
                </a:path>
              </a:pathLst>
            </a:custGeom>
          </p:spPr>
        </p:sp>
        <p:sp>
          <p:nvSpPr>
            <p:cNvPr name="TextBox 15" id="15"/>
            <p:cNvSpPr txBox="true"/>
            <p:nvPr/>
          </p:nvSpPr>
          <p:spPr>
            <a:xfrm>
              <a:off x="0" y="-28575"/>
              <a:ext cx="4039369" cy="1044895"/>
            </a:xfrm>
            <a:prstGeom prst="rect">
              <a:avLst/>
            </a:prstGeom>
          </p:spPr>
          <p:txBody>
            <a:bodyPr anchor="ctr" rtlCol="false" tIns="0" lIns="0" bIns="0" rIns="0"/>
            <a:lstStyle/>
            <a:p>
              <a:pPr algn="ctr">
                <a:lnSpc>
                  <a:spcPts val="3840"/>
                </a:lnSpc>
              </a:pPr>
              <a:r>
                <a:rPr lang="en-US" b="true" sz="3200">
                  <a:solidFill>
                    <a:srgbClr val="000000"/>
                  </a:solidFill>
                  <a:latin typeface="Times New Roman Bold"/>
                  <a:ea typeface="Times New Roman Bold"/>
                  <a:cs typeface="Times New Roman Bold"/>
                  <a:sym typeface="Times New Roman Bold"/>
                </a:rPr>
                <a:t>Silhouette score</a:t>
              </a:r>
            </a:p>
          </p:txBody>
        </p:sp>
      </p:grpSp>
      <p:sp>
        <p:nvSpPr>
          <p:cNvPr name="Freeform 16" id="16"/>
          <p:cNvSpPr/>
          <p:nvPr/>
        </p:nvSpPr>
        <p:spPr>
          <a:xfrm flipH="false" flipV="false" rot="0">
            <a:off x="349137" y="2828210"/>
            <a:ext cx="4355830" cy="3120814"/>
          </a:xfrm>
          <a:custGeom>
            <a:avLst/>
            <a:gdLst/>
            <a:ahLst/>
            <a:cxnLst/>
            <a:rect r="r" b="b" t="t" l="l"/>
            <a:pathLst>
              <a:path h="3120814" w="4355830">
                <a:moveTo>
                  <a:pt x="0" y="0"/>
                </a:moveTo>
                <a:lnTo>
                  <a:pt x="4355830" y="0"/>
                </a:lnTo>
                <a:lnTo>
                  <a:pt x="4355830" y="3120815"/>
                </a:lnTo>
                <a:lnTo>
                  <a:pt x="0" y="3120815"/>
                </a:lnTo>
                <a:lnTo>
                  <a:pt x="0" y="0"/>
                </a:lnTo>
                <a:close/>
              </a:path>
            </a:pathLst>
          </a:custGeom>
          <a:blipFill>
            <a:blip r:embed="rId4"/>
            <a:stretch>
              <a:fillRect l="0" t="0" r="-534" b="0"/>
            </a:stretch>
          </a:blipFill>
          <a:ln w="38100" cap="sq">
            <a:solidFill>
              <a:srgbClr val="000000"/>
            </a:solidFill>
            <a:prstDash val="solid"/>
            <a:miter/>
          </a:ln>
        </p:spPr>
      </p:sp>
      <p:sp>
        <p:nvSpPr>
          <p:cNvPr name="Freeform 17" id="17"/>
          <p:cNvSpPr/>
          <p:nvPr/>
        </p:nvSpPr>
        <p:spPr>
          <a:xfrm flipH="false" flipV="false" rot="0">
            <a:off x="5129200" y="2828210"/>
            <a:ext cx="4340316" cy="3120814"/>
          </a:xfrm>
          <a:custGeom>
            <a:avLst/>
            <a:gdLst/>
            <a:ahLst/>
            <a:cxnLst/>
            <a:rect r="r" b="b" t="t" l="l"/>
            <a:pathLst>
              <a:path h="3120814" w="4340316">
                <a:moveTo>
                  <a:pt x="0" y="0"/>
                </a:moveTo>
                <a:lnTo>
                  <a:pt x="4340316" y="0"/>
                </a:lnTo>
                <a:lnTo>
                  <a:pt x="4340316" y="3120815"/>
                </a:lnTo>
                <a:lnTo>
                  <a:pt x="0" y="3120815"/>
                </a:lnTo>
                <a:lnTo>
                  <a:pt x="0" y="0"/>
                </a:lnTo>
                <a:close/>
              </a:path>
            </a:pathLst>
          </a:custGeom>
          <a:blipFill>
            <a:blip r:embed="rId5"/>
            <a:stretch>
              <a:fillRect l="0" t="0" r="0" b="0"/>
            </a:stretch>
          </a:blipFill>
          <a:ln w="38100" cap="sq">
            <a:solidFill>
              <a:srgbClr val="000000"/>
            </a:solidFill>
            <a:prstDash val="solid"/>
            <a:miter/>
          </a:ln>
        </p:spPr>
      </p:sp>
      <p:sp>
        <p:nvSpPr>
          <p:cNvPr name="TextBox 18" id="18"/>
          <p:cNvSpPr txBox="true"/>
          <p:nvPr/>
        </p:nvSpPr>
        <p:spPr>
          <a:xfrm rot="0">
            <a:off x="2369175" y="5968558"/>
            <a:ext cx="315754"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6</a:t>
            </a:r>
          </a:p>
        </p:txBody>
      </p:sp>
      <p:sp>
        <p:nvSpPr>
          <p:cNvPr name="TextBox 19" id="19"/>
          <p:cNvSpPr txBox="true"/>
          <p:nvPr/>
        </p:nvSpPr>
        <p:spPr>
          <a:xfrm rot="0">
            <a:off x="7299358" y="5968558"/>
            <a:ext cx="315754"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7</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787908"/>
            <a:chOff x="0" y="0"/>
            <a:chExt cx="2650220" cy="1050544"/>
          </a:xfrm>
        </p:grpSpPr>
        <p:sp>
          <p:nvSpPr>
            <p:cNvPr name="Freeform 5" id="5"/>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6" id="6"/>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7" id="7"/>
          <p:cNvGrpSpPr/>
          <p:nvPr/>
        </p:nvGrpSpPr>
        <p:grpSpPr>
          <a:xfrm rot="0">
            <a:off x="1810327" y="299257"/>
            <a:ext cx="1950719" cy="787908"/>
            <a:chOff x="0" y="0"/>
            <a:chExt cx="2600959" cy="1050544"/>
          </a:xfrm>
        </p:grpSpPr>
        <p:sp>
          <p:nvSpPr>
            <p:cNvPr name="Freeform 8" id="8"/>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9" id="9"/>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0" id="10"/>
          <p:cNvGrpSpPr/>
          <p:nvPr/>
        </p:nvGrpSpPr>
        <p:grpSpPr>
          <a:xfrm rot="0">
            <a:off x="2606173" y="1030927"/>
            <a:ext cx="4541254" cy="762240"/>
            <a:chOff x="0" y="0"/>
            <a:chExt cx="6055005" cy="1016320"/>
          </a:xfrm>
        </p:grpSpPr>
        <p:sp>
          <p:nvSpPr>
            <p:cNvPr name="Freeform 11" id="11"/>
            <p:cNvSpPr/>
            <p:nvPr/>
          </p:nvSpPr>
          <p:spPr>
            <a:xfrm flipH="false" flipV="false" rot="0">
              <a:off x="0" y="0"/>
              <a:ext cx="6055005" cy="1016320"/>
            </a:xfrm>
            <a:custGeom>
              <a:avLst/>
              <a:gdLst/>
              <a:ahLst/>
              <a:cxnLst/>
              <a:rect r="r" b="b" t="t" l="l"/>
              <a:pathLst>
                <a:path h="1016320" w="6055005">
                  <a:moveTo>
                    <a:pt x="0" y="0"/>
                  </a:moveTo>
                  <a:lnTo>
                    <a:pt x="6055005" y="0"/>
                  </a:lnTo>
                  <a:lnTo>
                    <a:pt x="6055005" y="1016320"/>
                  </a:lnTo>
                  <a:lnTo>
                    <a:pt x="0" y="1016320"/>
                  </a:lnTo>
                  <a:close/>
                </a:path>
              </a:pathLst>
            </a:custGeom>
          </p:spPr>
        </p:sp>
        <p:sp>
          <p:nvSpPr>
            <p:cNvPr name="TextBox 12" id="12"/>
            <p:cNvSpPr txBox="true"/>
            <p:nvPr/>
          </p:nvSpPr>
          <p:spPr>
            <a:xfrm>
              <a:off x="0" y="-19050"/>
              <a:ext cx="6055005" cy="1035370"/>
            </a:xfrm>
            <a:prstGeom prst="rect">
              <a:avLst/>
            </a:prstGeom>
          </p:spPr>
          <p:txBody>
            <a:bodyPr anchor="ctr" rtlCol="false" tIns="0" lIns="0" bIns="0" rIns="0"/>
            <a:lstStyle/>
            <a:p>
              <a:pPr algn="ctr">
                <a:lnSpc>
                  <a:spcPts val="3120"/>
                </a:lnSpc>
              </a:pPr>
              <a:r>
                <a:rPr lang="en-US" b="true" sz="2600">
                  <a:solidFill>
                    <a:srgbClr val="000000"/>
                  </a:solidFill>
                  <a:latin typeface="Times New Roman Bold"/>
                  <a:ea typeface="Times New Roman Bold"/>
                  <a:cs typeface="Times New Roman Bold"/>
                  <a:sym typeface="Times New Roman Bold"/>
                </a:rPr>
                <a:t>Cluster Visualisation</a:t>
              </a:r>
            </a:p>
          </p:txBody>
        </p:sp>
      </p:grpSp>
      <p:sp>
        <p:nvSpPr>
          <p:cNvPr name="Freeform 13" id="13"/>
          <p:cNvSpPr/>
          <p:nvPr/>
        </p:nvSpPr>
        <p:spPr>
          <a:xfrm flipH="false" flipV="false" rot="0">
            <a:off x="1504507" y="1676479"/>
            <a:ext cx="6744587" cy="5337198"/>
          </a:xfrm>
          <a:custGeom>
            <a:avLst/>
            <a:gdLst/>
            <a:ahLst/>
            <a:cxnLst/>
            <a:rect r="r" b="b" t="t" l="l"/>
            <a:pathLst>
              <a:path h="5337198" w="6744587">
                <a:moveTo>
                  <a:pt x="0" y="0"/>
                </a:moveTo>
                <a:lnTo>
                  <a:pt x="6744586" y="0"/>
                </a:lnTo>
                <a:lnTo>
                  <a:pt x="6744586" y="5337198"/>
                </a:lnTo>
                <a:lnTo>
                  <a:pt x="0" y="5337198"/>
                </a:lnTo>
                <a:lnTo>
                  <a:pt x="0" y="0"/>
                </a:lnTo>
                <a:close/>
              </a:path>
            </a:pathLst>
          </a:custGeom>
          <a:blipFill>
            <a:blip r:embed="rId4"/>
            <a:stretch>
              <a:fillRect l="0" t="0" r="0" b="0"/>
            </a:stretch>
          </a:blipFill>
        </p:spPr>
      </p:sp>
      <p:sp>
        <p:nvSpPr>
          <p:cNvPr name="TextBox 14" id="14"/>
          <p:cNvSpPr txBox="true"/>
          <p:nvPr/>
        </p:nvSpPr>
        <p:spPr>
          <a:xfrm rot="0">
            <a:off x="4718923" y="6994627"/>
            <a:ext cx="315754"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8</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0" id="10"/>
          <p:cNvGrpSpPr/>
          <p:nvPr/>
        </p:nvGrpSpPr>
        <p:grpSpPr>
          <a:xfrm rot="0">
            <a:off x="2594571" y="1191388"/>
            <a:ext cx="4564457" cy="762240"/>
            <a:chOff x="0" y="0"/>
            <a:chExt cx="6085943" cy="1016320"/>
          </a:xfrm>
        </p:grpSpPr>
        <p:sp>
          <p:nvSpPr>
            <p:cNvPr name="Freeform 11" id="11"/>
            <p:cNvSpPr/>
            <p:nvPr/>
          </p:nvSpPr>
          <p:spPr>
            <a:xfrm flipH="false" flipV="false" rot="0">
              <a:off x="0" y="0"/>
              <a:ext cx="6085943" cy="1016320"/>
            </a:xfrm>
            <a:custGeom>
              <a:avLst/>
              <a:gdLst/>
              <a:ahLst/>
              <a:cxnLst/>
              <a:rect r="r" b="b" t="t" l="l"/>
              <a:pathLst>
                <a:path h="1016320" w="6085943">
                  <a:moveTo>
                    <a:pt x="0" y="0"/>
                  </a:moveTo>
                  <a:lnTo>
                    <a:pt x="6085943" y="0"/>
                  </a:lnTo>
                  <a:lnTo>
                    <a:pt x="6085943" y="1016320"/>
                  </a:lnTo>
                  <a:lnTo>
                    <a:pt x="0" y="1016320"/>
                  </a:lnTo>
                  <a:close/>
                </a:path>
              </a:pathLst>
            </a:custGeom>
          </p:spPr>
        </p:sp>
        <p:sp>
          <p:nvSpPr>
            <p:cNvPr name="TextBox 12" id="12"/>
            <p:cNvSpPr txBox="true"/>
            <p:nvPr/>
          </p:nvSpPr>
          <p:spPr>
            <a:xfrm>
              <a:off x="0" y="-28575"/>
              <a:ext cx="6085943" cy="1044895"/>
            </a:xfrm>
            <a:prstGeom prst="rect">
              <a:avLst/>
            </a:prstGeom>
          </p:spPr>
          <p:txBody>
            <a:bodyPr anchor="ctr" rtlCol="false" tIns="0" lIns="0" bIns="0" rIns="0"/>
            <a:lstStyle/>
            <a:p>
              <a:pPr algn="ctr">
                <a:lnSpc>
                  <a:spcPts val="3720"/>
                </a:lnSpc>
              </a:pPr>
              <a:r>
                <a:rPr lang="en-US" b="true" sz="3100">
                  <a:solidFill>
                    <a:srgbClr val="000000"/>
                  </a:solidFill>
                  <a:latin typeface="Times New Roman Bold"/>
                  <a:ea typeface="Times New Roman Bold"/>
                  <a:cs typeface="Times New Roman Bold"/>
                  <a:sym typeface="Times New Roman Bold"/>
                </a:rPr>
                <a:t>Characteristics of Clusters </a:t>
              </a:r>
            </a:p>
          </p:txBody>
        </p:sp>
      </p:grpSp>
      <p:grpSp>
        <p:nvGrpSpPr>
          <p:cNvPr name="Group 13" id="13"/>
          <p:cNvGrpSpPr/>
          <p:nvPr/>
        </p:nvGrpSpPr>
        <p:grpSpPr>
          <a:xfrm rot="0">
            <a:off x="343992" y="2273383"/>
            <a:ext cx="4064056" cy="981009"/>
            <a:chOff x="0" y="0"/>
            <a:chExt cx="5418741" cy="1308012"/>
          </a:xfrm>
        </p:grpSpPr>
        <p:sp>
          <p:nvSpPr>
            <p:cNvPr name="Freeform 14" id="14"/>
            <p:cNvSpPr/>
            <p:nvPr/>
          </p:nvSpPr>
          <p:spPr>
            <a:xfrm flipH="false" flipV="false" rot="0">
              <a:off x="0" y="0"/>
              <a:ext cx="5418741" cy="1308012"/>
            </a:xfrm>
            <a:custGeom>
              <a:avLst/>
              <a:gdLst/>
              <a:ahLst/>
              <a:cxnLst/>
              <a:rect r="r" b="b" t="t" l="l"/>
              <a:pathLst>
                <a:path h="1308012" w="5418741">
                  <a:moveTo>
                    <a:pt x="0" y="0"/>
                  </a:moveTo>
                  <a:lnTo>
                    <a:pt x="5418741" y="0"/>
                  </a:lnTo>
                  <a:lnTo>
                    <a:pt x="5418741" y="1308012"/>
                  </a:lnTo>
                  <a:lnTo>
                    <a:pt x="0" y="1308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5" id="15"/>
            <p:cNvSpPr txBox="true"/>
            <p:nvPr/>
          </p:nvSpPr>
          <p:spPr>
            <a:xfrm rot="0">
              <a:off x="224851" y="168225"/>
              <a:ext cx="4969038" cy="962038"/>
            </a:xfrm>
            <a:prstGeom prst="rect">
              <a:avLst/>
            </a:prstGeom>
          </p:spPr>
          <p:txBody>
            <a:bodyPr anchor="t" rtlCol="false" tIns="0" lIns="0" bIns="0" rIns="0">
              <a:spAutoFit/>
            </a:bodyPr>
            <a:lstStyle/>
            <a:p>
              <a:pPr algn="ctr">
                <a:lnSpc>
                  <a:spcPts val="1891"/>
                </a:lnSpc>
              </a:pPr>
              <a:r>
                <a:rPr lang="en-US" sz="1576">
                  <a:solidFill>
                    <a:srgbClr val="0F1115"/>
                  </a:solidFill>
                  <a:latin typeface="Times New Roman"/>
                  <a:ea typeface="Times New Roman"/>
                  <a:cs typeface="Times New Roman"/>
                  <a:sym typeface="Times New Roman"/>
                </a:rPr>
                <a:t>Cluster 1 : </a:t>
              </a:r>
            </a:p>
            <a:p>
              <a:pPr algn="ctr">
                <a:lnSpc>
                  <a:spcPts val="1891"/>
                </a:lnSpc>
              </a:pPr>
              <a:r>
                <a:rPr lang="en-US" sz="1576" b="true">
                  <a:solidFill>
                    <a:srgbClr val="0F1115"/>
                  </a:solidFill>
                  <a:latin typeface="Times New Roman Bold"/>
                  <a:ea typeface="Times New Roman Bold"/>
                  <a:cs typeface="Times New Roman Bold"/>
                  <a:sym typeface="Times New Roman Bold"/>
                </a:rPr>
                <a:t>The Balanced Pragmatists</a:t>
              </a:r>
            </a:p>
            <a:p>
              <a:pPr algn="ctr">
                <a:lnSpc>
                  <a:spcPts val="1891"/>
                </a:lnSpc>
              </a:pPr>
              <a:r>
                <a:rPr lang="en-US" sz="1576">
                  <a:solidFill>
                    <a:srgbClr val="0F1115"/>
                  </a:solidFill>
                  <a:latin typeface="Times New Roman"/>
                  <a:ea typeface="Times New Roman"/>
                  <a:cs typeface="Times New Roman"/>
                  <a:sym typeface="Times New Roman"/>
                </a:rPr>
                <a:t>(132)</a:t>
              </a:r>
            </a:p>
          </p:txBody>
        </p:sp>
      </p:grpSp>
      <p:sp>
        <p:nvSpPr>
          <p:cNvPr name="Freeform 16" id="16"/>
          <p:cNvSpPr/>
          <p:nvPr/>
        </p:nvSpPr>
        <p:spPr>
          <a:xfrm flipH="false" flipV="false" rot="0">
            <a:off x="343992" y="3825037"/>
            <a:ext cx="4064056" cy="981009"/>
          </a:xfrm>
          <a:custGeom>
            <a:avLst/>
            <a:gdLst/>
            <a:ahLst/>
            <a:cxnLst/>
            <a:rect r="r" b="b" t="t" l="l"/>
            <a:pathLst>
              <a:path h="981009" w="4064056">
                <a:moveTo>
                  <a:pt x="0" y="0"/>
                </a:moveTo>
                <a:lnTo>
                  <a:pt x="4064055" y="0"/>
                </a:lnTo>
                <a:lnTo>
                  <a:pt x="4064055" y="981009"/>
                </a:lnTo>
                <a:lnTo>
                  <a:pt x="0" y="981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7" id="17"/>
          <p:cNvSpPr txBox="true"/>
          <p:nvPr/>
        </p:nvSpPr>
        <p:spPr>
          <a:xfrm rot="0">
            <a:off x="512630" y="3896416"/>
            <a:ext cx="3726779" cy="962025"/>
          </a:xfrm>
          <a:prstGeom prst="rect">
            <a:avLst/>
          </a:prstGeom>
        </p:spPr>
        <p:txBody>
          <a:bodyPr anchor="t" rtlCol="false" tIns="0" lIns="0" bIns="0" rIns="0">
            <a:spAutoFit/>
          </a:bodyPr>
          <a:lstStyle/>
          <a:p>
            <a:pPr algn="ctr">
              <a:lnSpc>
                <a:spcPts val="1891"/>
              </a:lnSpc>
            </a:pPr>
            <a:r>
              <a:rPr lang="en-US" sz="1576">
                <a:solidFill>
                  <a:srgbClr val="0F1115"/>
                </a:solidFill>
                <a:latin typeface="Times New Roman"/>
                <a:ea typeface="Times New Roman"/>
                <a:cs typeface="Times New Roman"/>
                <a:sym typeface="Times New Roman"/>
              </a:rPr>
              <a:t>Cluster 2:</a:t>
            </a:r>
            <a:r>
              <a:rPr lang="en-US" sz="1576">
                <a:solidFill>
                  <a:srgbClr val="0F1115"/>
                </a:solidFill>
                <a:latin typeface="Times New Roman"/>
                <a:ea typeface="Times New Roman"/>
                <a:cs typeface="Times New Roman"/>
                <a:sym typeface="Times New Roman"/>
              </a:rPr>
              <a:t> </a:t>
            </a:r>
          </a:p>
          <a:p>
            <a:pPr algn="ctr">
              <a:lnSpc>
                <a:spcPts val="1891"/>
              </a:lnSpc>
            </a:pPr>
            <a:r>
              <a:rPr lang="en-US" sz="1576" b="true">
                <a:solidFill>
                  <a:srgbClr val="0F1115"/>
                </a:solidFill>
                <a:latin typeface="Times New Roman Bold"/>
                <a:ea typeface="Times New Roman Bold"/>
                <a:cs typeface="Times New Roman Bold"/>
                <a:sym typeface="Times New Roman Bold"/>
              </a:rPr>
              <a:t>The Deal-Hunters</a:t>
            </a:r>
          </a:p>
          <a:p>
            <a:pPr algn="ctr">
              <a:lnSpc>
                <a:spcPts val="1891"/>
              </a:lnSpc>
            </a:pPr>
            <a:r>
              <a:rPr lang="en-US" sz="1576">
                <a:solidFill>
                  <a:srgbClr val="0F1115"/>
                </a:solidFill>
                <a:latin typeface="Times New Roman"/>
                <a:ea typeface="Times New Roman"/>
                <a:cs typeface="Times New Roman"/>
                <a:sym typeface="Times New Roman"/>
              </a:rPr>
              <a:t>(80)</a:t>
            </a:r>
          </a:p>
          <a:p>
            <a:pPr algn="ctr">
              <a:lnSpc>
                <a:spcPts val="1891"/>
              </a:lnSpc>
            </a:pPr>
          </a:p>
        </p:txBody>
      </p:sp>
      <p:sp>
        <p:nvSpPr>
          <p:cNvPr name="AutoShape 18" id="18"/>
          <p:cNvSpPr/>
          <p:nvPr/>
        </p:nvSpPr>
        <p:spPr>
          <a:xfrm flipV="true">
            <a:off x="4672457" y="2709351"/>
            <a:ext cx="1142527" cy="0"/>
          </a:xfrm>
          <a:prstGeom prst="line">
            <a:avLst/>
          </a:prstGeom>
          <a:ln cap="flat" w="38100">
            <a:solidFill>
              <a:srgbClr val="000000"/>
            </a:solidFill>
            <a:prstDash val="solid"/>
            <a:headEnd type="none" len="sm" w="sm"/>
            <a:tailEnd type="arrow" len="sm" w="med"/>
          </a:ln>
        </p:spPr>
      </p:sp>
      <p:sp>
        <p:nvSpPr>
          <p:cNvPr name="AutoShape 19" id="19"/>
          <p:cNvSpPr/>
          <p:nvPr/>
        </p:nvSpPr>
        <p:spPr>
          <a:xfrm flipV="true">
            <a:off x="4672457" y="5878830"/>
            <a:ext cx="1142527" cy="0"/>
          </a:xfrm>
          <a:prstGeom prst="line">
            <a:avLst/>
          </a:prstGeom>
          <a:ln cap="flat" w="38100">
            <a:solidFill>
              <a:srgbClr val="000000"/>
            </a:solidFill>
            <a:prstDash val="solid"/>
            <a:headEnd type="none" len="sm" w="sm"/>
            <a:tailEnd type="arrow" len="sm" w="med"/>
          </a:ln>
        </p:spPr>
      </p:sp>
      <p:sp>
        <p:nvSpPr>
          <p:cNvPr name="AutoShape 20" id="20"/>
          <p:cNvSpPr/>
          <p:nvPr/>
        </p:nvSpPr>
        <p:spPr>
          <a:xfrm flipV="true">
            <a:off x="4672457" y="4302020"/>
            <a:ext cx="1142527" cy="0"/>
          </a:xfrm>
          <a:prstGeom prst="line">
            <a:avLst/>
          </a:prstGeom>
          <a:ln cap="flat" w="38100">
            <a:solidFill>
              <a:srgbClr val="000000"/>
            </a:solidFill>
            <a:prstDash val="solid"/>
            <a:headEnd type="none" len="sm" w="sm"/>
            <a:tailEnd type="arrow" len="sm" w="med"/>
          </a:ln>
        </p:spPr>
      </p:sp>
      <p:sp>
        <p:nvSpPr>
          <p:cNvPr name="TextBox 21" id="21"/>
          <p:cNvSpPr txBox="true"/>
          <p:nvPr/>
        </p:nvSpPr>
        <p:spPr>
          <a:xfrm rot="0">
            <a:off x="5814983" y="2004501"/>
            <a:ext cx="3638396" cy="1390650"/>
          </a:xfrm>
          <a:prstGeom prst="rect">
            <a:avLst/>
          </a:prstGeom>
        </p:spPr>
        <p:txBody>
          <a:bodyPr anchor="t" rtlCol="false" tIns="0" lIns="0" bIns="0" rIns="0">
            <a:spAutoFit/>
          </a:bodyPr>
          <a:lstStyle/>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Balanced across all decision factor.</a:t>
            </a:r>
          </a:p>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Practical approach to deal evaluation.</a:t>
            </a:r>
          </a:p>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Values good offers with reasonable conditions.</a:t>
            </a:r>
          </a:p>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Targeting: Standard promotions, bundle deals, seasonal offers.</a:t>
            </a:r>
          </a:p>
        </p:txBody>
      </p:sp>
      <p:sp>
        <p:nvSpPr>
          <p:cNvPr name="TextBox 22" id="22"/>
          <p:cNvSpPr txBox="true"/>
          <p:nvPr/>
        </p:nvSpPr>
        <p:spPr>
          <a:xfrm rot="0">
            <a:off x="5814983" y="3571103"/>
            <a:ext cx="3680580" cy="1619250"/>
          </a:xfrm>
          <a:prstGeom prst="rect">
            <a:avLst/>
          </a:prstGeom>
        </p:spPr>
        <p:txBody>
          <a:bodyPr anchor="t" rtlCol="false" tIns="0" lIns="0" bIns="0" rIns="0">
            <a:spAutoFit/>
          </a:bodyPr>
          <a:lstStyle/>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 Extremely high deal responsiveness.</a:t>
            </a:r>
          </a:p>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 Will actively seek and pursue best offers.  </a:t>
            </a:r>
          </a:p>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 </a:t>
            </a:r>
            <a:r>
              <a:rPr lang="en-US" sz="1513">
                <a:solidFill>
                  <a:srgbClr val="0F1115"/>
                </a:solidFill>
                <a:latin typeface="Times New Roman"/>
                <a:ea typeface="Times New Roman"/>
                <a:cs typeface="Times New Roman"/>
                <a:sym typeface="Times New Roman"/>
              </a:rPr>
              <a:t>Values premium discounts and exclusive access.</a:t>
            </a:r>
          </a:p>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Targeting: VIP early access, tiered discounts, loyalty programs.</a:t>
            </a:r>
          </a:p>
          <a:p>
            <a:pPr algn="l">
              <a:lnSpc>
                <a:spcPts val="1816"/>
              </a:lnSpc>
            </a:pPr>
          </a:p>
        </p:txBody>
      </p:sp>
      <p:sp>
        <p:nvSpPr>
          <p:cNvPr name="TextBox 23" id="23"/>
          <p:cNvSpPr txBox="true"/>
          <p:nvPr/>
        </p:nvSpPr>
        <p:spPr>
          <a:xfrm rot="0">
            <a:off x="5814983" y="5399903"/>
            <a:ext cx="3638396" cy="1619250"/>
          </a:xfrm>
          <a:prstGeom prst="rect">
            <a:avLst/>
          </a:prstGeom>
        </p:spPr>
        <p:txBody>
          <a:bodyPr anchor="t" rtlCol="false" tIns="0" lIns="0" bIns="0" rIns="0">
            <a:spAutoFit/>
          </a:bodyPr>
          <a:lstStyle/>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 Extremely low responsiveness to standard offers.</a:t>
            </a:r>
          </a:p>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Requires exceptional value with zero risk.</a:t>
            </a:r>
          </a:p>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Needs strong trust signals and guarantees.</a:t>
            </a:r>
          </a:p>
          <a:p>
            <a:pPr algn="l" marL="326739" indent="-163369" lvl="1">
              <a:lnSpc>
                <a:spcPts val="1816"/>
              </a:lnSpc>
              <a:buFont typeface="Arial"/>
              <a:buChar char="•"/>
            </a:pPr>
            <a:r>
              <a:rPr lang="en-US" sz="1513">
                <a:solidFill>
                  <a:srgbClr val="0F1115"/>
                </a:solidFill>
                <a:latin typeface="Times New Roman"/>
                <a:ea typeface="Times New Roman"/>
                <a:cs typeface="Times New Roman"/>
                <a:sym typeface="Times New Roman"/>
              </a:rPr>
              <a:t>Targeting: Cashback guarantees, free trials, social proof.</a:t>
            </a:r>
          </a:p>
          <a:p>
            <a:pPr algn="l">
              <a:lnSpc>
                <a:spcPts val="1816"/>
              </a:lnSpc>
            </a:pPr>
          </a:p>
        </p:txBody>
      </p:sp>
      <p:sp>
        <p:nvSpPr>
          <p:cNvPr name="Freeform 24" id="24"/>
          <p:cNvSpPr/>
          <p:nvPr/>
        </p:nvSpPr>
        <p:spPr>
          <a:xfrm flipH="false" flipV="false" rot="0">
            <a:off x="343992" y="5377546"/>
            <a:ext cx="4064056" cy="981009"/>
          </a:xfrm>
          <a:custGeom>
            <a:avLst/>
            <a:gdLst/>
            <a:ahLst/>
            <a:cxnLst/>
            <a:rect r="r" b="b" t="t" l="l"/>
            <a:pathLst>
              <a:path h="981009" w="4064056">
                <a:moveTo>
                  <a:pt x="0" y="0"/>
                </a:moveTo>
                <a:lnTo>
                  <a:pt x="4064055" y="0"/>
                </a:lnTo>
                <a:lnTo>
                  <a:pt x="4064055" y="981009"/>
                </a:lnTo>
                <a:lnTo>
                  <a:pt x="0" y="9810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5" id="25"/>
          <p:cNvSpPr txBox="true"/>
          <p:nvPr/>
        </p:nvSpPr>
        <p:spPr>
          <a:xfrm rot="0">
            <a:off x="512630" y="5506100"/>
            <a:ext cx="3577659" cy="933450"/>
          </a:xfrm>
          <a:prstGeom prst="rect">
            <a:avLst/>
          </a:prstGeom>
        </p:spPr>
        <p:txBody>
          <a:bodyPr anchor="t" rtlCol="false" tIns="0" lIns="0" bIns="0" rIns="0">
            <a:spAutoFit/>
          </a:bodyPr>
          <a:lstStyle/>
          <a:p>
            <a:pPr algn="ctr">
              <a:lnSpc>
                <a:spcPts val="1816"/>
              </a:lnSpc>
            </a:pPr>
            <a:r>
              <a:rPr lang="en-US" sz="1513">
                <a:solidFill>
                  <a:srgbClr val="0F1115"/>
                </a:solidFill>
                <a:latin typeface="Times New Roman"/>
                <a:ea typeface="Times New Roman"/>
                <a:cs typeface="Times New Roman"/>
                <a:sym typeface="Times New Roman"/>
              </a:rPr>
              <a:t>Cluster 3 :</a:t>
            </a:r>
            <a:r>
              <a:rPr lang="en-US" sz="1513">
                <a:solidFill>
                  <a:srgbClr val="0F1115"/>
                </a:solidFill>
                <a:latin typeface="Times New Roman"/>
                <a:ea typeface="Times New Roman"/>
                <a:cs typeface="Times New Roman"/>
                <a:sym typeface="Times New Roman"/>
              </a:rPr>
              <a:t> </a:t>
            </a:r>
          </a:p>
          <a:p>
            <a:pPr algn="ctr">
              <a:lnSpc>
                <a:spcPts val="1816"/>
              </a:lnSpc>
            </a:pPr>
            <a:r>
              <a:rPr lang="en-US" sz="1513" b="true">
                <a:solidFill>
                  <a:srgbClr val="0F1115"/>
                </a:solidFill>
                <a:latin typeface="Times New Roman Bold"/>
                <a:ea typeface="Times New Roman Bold"/>
                <a:cs typeface="Times New Roman Bold"/>
                <a:sym typeface="Times New Roman Bold"/>
              </a:rPr>
              <a:t>The Hard-to-Please Skeptics</a:t>
            </a:r>
          </a:p>
          <a:p>
            <a:pPr algn="ctr">
              <a:lnSpc>
                <a:spcPts val="1816"/>
              </a:lnSpc>
            </a:pPr>
            <a:r>
              <a:rPr lang="en-US" sz="1513">
                <a:solidFill>
                  <a:srgbClr val="0F1115"/>
                </a:solidFill>
                <a:latin typeface="Times New Roman"/>
                <a:ea typeface="Times New Roman"/>
                <a:cs typeface="Times New Roman"/>
                <a:sym typeface="Times New Roman"/>
              </a:rPr>
              <a:t>(41)</a:t>
            </a:r>
          </a:p>
          <a:p>
            <a:pPr algn="ctr">
              <a:lnSpc>
                <a:spcPts val="1816"/>
              </a:lnSpc>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0" id="10"/>
          <p:cNvGrpSpPr/>
          <p:nvPr/>
        </p:nvGrpSpPr>
        <p:grpSpPr>
          <a:xfrm rot="0">
            <a:off x="2175662" y="1230428"/>
            <a:ext cx="5402276" cy="762240"/>
            <a:chOff x="0" y="0"/>
            <a:chExt cx="7203035" cy="1016320"/>
          </a:xfrm>
        </p:grpSpPr>
        <p:sp>
          <p:nvSpPr>
            <p:cNvPr name="Freeform 11" id="11"/>
            <p:cNvSpPr/>
            <p:nvPr/>
          </p:nvSpPr>
          <p:spPr>
            <a:xfrm flipH="false" flipV="false" rot="0">
              <a:off x="0" y="0"/>
              <a:ext cx="7203035" cy="1016320"/>
            </a:xfrm>
            <a:custGeom>
              <a:avLst/>
              <a:gdLst/>
              <a:ahLst/>
              <a:cxnLst/>
              <a:rect r="r" b="b" t="t" l="l"/>
              <a:pathLst>
                <a:path h="1016320" w="7203035">
                  <a:moveTo>
                    <a:pt x="0" y="0"/>
                  </a:moveTo>
                  <a:lnTo>
                    <a:pt x="7203035" y="0"/>
                  </a:lnTo>
                  <a:lnTo>
                    <a:pt x="7203035" y="1016320"/>
                  </a:lnTo>
                  <a:lnTo>
                    <a:pt x="0" y="1016320"/>
                  </a:lnTo>
                  <a:close/>
                </a:path>
              </a:pathLst>
            </a:custGeom>
          </p:spPr>
        </p:sp>
        <p:sp>
          <p:nvSpPr>
            <p:cNvPr name="TextBox 12" id="12"/>
            <p:cNvSpPr txBox="true"/>
            <p:nvPr/>
          </p:nvSpPr>
          <p:spPr>
            <a:xfrm>
              <a:off x="0" y="-28575"/>
              <a:ext cx="7203035" cy="1044895"/>
            </a:xfrm>
            <a:prstGeom prst="rect">
              <a:avLst/>
            </a:prstGeom>
          </p:spPr>
          <p:txBody>
            <a:bodyPr anchor="ctr" rtlCol="false" tIns="0" lIns="0" bIns="0" rIns="0"/>
            <a:lstStyle/>
            <a:p>
              <a:pPr algn="ctr">
                <a:lnSpc>
                  <a:spcPts val="3720"/>
                </a:lnSpc>
              </a:pPr>
              <a:r>
                <a:rPr lang="en-US" b="true" sz="3100">
                  <a:solidFill>
                    <a:srgbClr val="000000"/>
                  </a:solidFill>
                  <a:latin typeface="Times New Roman Bold"/>
                  <a:ea typeface="Times New Roman Bold"/>
                  <a:cs typeface="Times New Roman Bold"/>
                  <a:sym typeface="Times New Roman Bold"/>
                </a:rPr>
                <a:t>Heterogeneity Among Clusters</a:t>
              </a:r>
            </a:p>
          </p:txBody>
        </p:sp>
      </p:grpSp>
      <p:sp>
        <p:nvSpPr>
          <p:cNvPr name="Freeform 13" id="13"/>
          <p:cNvSpPr/>
          <p:nvPr/>
        </p:nvSpPr>
        <p:spPr>
          <a:xfrm flipH="false" flipV="false" rot="0">
            <a:off x="0" y="3969590"/>
            <a:ext cx="9753600" cy="2233107"/>
          </a:xfrm>
          <a:custGeom>
            <a:avLst/>
            <a:gdLst/>
            <a:ahLst/>
            <a:cxnLst/>
            <a:rect r="r" b="b" t="t" l="l"/>
            <a:pathLst>
              <a:path h="2233107" w="9753600">
                <a:moveTo>
                  <a:pt x="0" y="0"/>
                </a:moveTo>
                <a:lnTo>
                  <a:pt x="9753600" y="0"/>
                </a:lnTo>
                <a:lnTo>
                  <a:pt x="9753600" y="2233107"/>
                </a:lnTo>
                <a:lnTo>
                  <a:pt x="0" y="2233107"/>
                </a:lnTo>
                <a:lnTo>
                  <a:pt x="0" y="0"/>
                </a:lnTo>
                <a:close/>
              </a:path>
            </a:pathLst>
          </a:custGeom>
          <a:blipFill>
            <a:blip r:embed="rId4"/>
            <a:stretch>
              <a:fillRect l="0" t="-3187" r="0" b="0"/>
            </a:stretch>
          </a:blipFill>
        </p:spPr>
      </p:sp>
      <p:sp>
        <p:nvSpPr>
          <p:cNvPr name="TextBox 14" id="14"/>
          <p:cNvSpPr txBox="true"/>
          <p:nvPr/>
        </p:nvSpPr>
        <p:spPr>
          <a:xfrm rot="0">
            <a:off x="808233" y="1973618"/>
            <a:ext cx="8137134" cy="1847850"/>
          </a:xfrm>
          <a:prstGeom prst="rect">
            <a:avLst/>
          </a:prstGeom>
        </p:spPr>
        <p:txBody>
          <a:bodyPr anchor="t" rtlCol="false" tIns="0" lIns="0" bIns="0" rIns="0">
            <a:spAutoFit/>
          </a:bodyPr>
          <a:lstStyle/>
          <a:p>
            <a:pPr algn="l" marL="433446" indent="-216723" lvl="1">
              <a:lnSpc>
                <a:spcPts val="2409"/>
              </a:lnSpc>
              <a:buFont typeface="Arial"/>
              <a:buChar char="•"/>
            </a:pPr>
            <a:r>
              <a:rPr lang="en-US" sz="2007">
                <a:solidFill>
                  <a:srgbClr val="0F1115"/>
                </a:solidFill>
                <a:latin typeface="Times New Roman"/>
                <a:ea typeface="Times New Roman"/>
                <a:cs typeface="Times New Roman"/>
                <a:sym typeface="Times New Roman"/>
              </a:rPr>
              <a:t>We validated our identified customer clusters using One-Way ANOVA to examine whether differences among segments were statistically significant.</a:t>
            </a:r>
          </a:p>
          <a:p>
            <a:pPr algn="l">
              <a:lnSpc>
                <a:spcPts val="2409"/>
              </a:lnSpc>
            </a:pPr>
          </a:p>
          <a:p>
            <a:pPr algn="l" marL="433446" indent="-216723" lvl="1">
              <a:lnSpc>
                <a:spcPts val="2409"/>
              </a:lnSpc>
              <a:buFont typeface="Arial"/>
              <a:buChar char="•"/>
            </a:pPr>
            <a:r>
              <a:rPr lang="en-US" sz="2007">
                <a:solidFill>
                  <a:srgbClr val="0F1115"/>
                </a:solidFill>
                <a:latin typeface="Times New Roman"/>
                <a:ea typeface="Times New Roman"/>
                <a:cs typeface="Times New Roman"/>
                <a:sym typeface="Times New Roman"/>
              </a:rPr>
              <a:t>The results confirm that all clusters differ significantly (p &lt; 0.001) across psychological, behavioural, and preference based measures, indicating strong heterogeneity within our sample.</a:t>
            </a:r>
          </a:p>
        </p:txBody>
      </p:sp>
      <p:sp>
        <p:nvSpPr>
          <p:cNvPr name="TextBox 15" id="15"/>
          <p:cNvSpPr txBox="true"/>
          <p:nvPr/>
        </p:nvSpPr>
        <p:spPr>
          <a:xfrm rot="0">
            <a:off x="4718923" y="6336047"/>
            <a:ext cx="315754"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9</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8655"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787908"/>
            <a:chOff x="0" y="0"/>
            <a:chExt cx="2650220" cy="1050544"/>
          </a:xfrm>
        </p:grpSpPr>
        <p:sp>
          <p:nvSpPr>
            <p:cNvPr name="Freeform 5" id="5"/>
            <p:cNvSpPr/>
            <p:nvPr/>
          </p:nvSpPr>
          <p:spPr>
            <a:xfrm flipH="false" flipV="false" rot="0">
              <a:off x="0" y="0"/>
              <a:ext cx="2650236" cy="1050544"/>
            </a:xfrm>
            <a:custGeom>
              <a:avLst/>
              <a:gdLst/>
              <a:ahLst/>
              <a:cxnLst/>
              <a:rect r="r" b="b" t="t" l="l"/>
              <a:pathLst>
                <a:path h="1050544" w="2650236">
                  <a:moveTo>
                    <a:pt x="0" y="0"/>
                  </a:moveTo>
                  <a:lnTo>
                    <a:pt x="2650236" y="0"/>
                  </a:lnTo>
                  <a:lnTo>
                    <a:pt x="2650236" y="1050544"/>
                  </a:lnTo>
                  <a:lnTo>
                    <a:pt x="0" y="1050544"/>
                  </a:lnTo>
                  <a:close/>
                </a:path>
              </a:pathLst>
            </a:custGeom>
            <a:solidFill>
              <a:srgbClr val="FFFFFF"/>
            </a:solidFill>
          </p:spPr>
        </p:sp>
        <p:sp>
          <p:nvSpPr>
            <p:cNvPr name="TextBox 6" id="6"/>
            <p:cNvSpPr txBox="true"/>
            <p:nvPr/>
          </p:nvSpPr>
          <p:spPr>
            <a:xfrm>
              <a:off x="0" y="-28575"/>
              <a:ext cx="2650220"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7" id="7"/>
          <p:cNvGrpSpPr/>
          <p:nvPr/>
        </p:nvGrpSpPr>
        <p:grpSpPr>
          <a:xfrm rot="0">
            <a:off x="1810327" y="299257"/>
            <a:ext cx="1950719" cy="787908"/>
            <a:chOff x="0" y="0"/>
            <a:chExt cx="2600959" cy="1050544"/>
          </a:xfrm>
        </p:grpSpPr>
        <p:sp>
          <p:nvSpPr>
            <p:cNvPr name="Freeform 8" id="8"/>
            <p:cNvSpPr/>
            <p:nvPr/>
          </p:nvSpPr>
          <p:spPr>
            <a:xfrm flipH="false" flipV="false" rot="0">
              <a:off x="0" y="0"/>
              <a:ext cx="2600960" cy="1050544"/>
            </a:xfrm>
            <a:custGeom>
              <a:avLst/>
              <a:gdLst/>
              <a:ahLst/>
              <a:cxnLst/>
              <a:rect r="r" b="b" t="t" l="l"/>
              <a:pathLst>
                <a:path h="1050544" w="2600960">
                  <a:moveTo>
                    <a:pt x="0" y="0"/>
                  </a:moveTo>
                  <a:lnTo>
                    <a:pt x="2600960" y="0"/>
                  </a:lnTo>
                  <a:lnTo>
                    <a:pt x="2600960" y="1050544"/>
                  </a:lnTo>
                  <a:lnTo>
                    <a:pt x="0" y="1050544"/>
                  </a:lnTo>
                  <a:close/>
                </a:path>
              </a:pathLst>
            </a:custGeom>
            <a:solidFill>
              <a:srgbClr val="FFFFFF"/>
            </a:solidFill>
          </p:spPr>
        </p:sp>
        <p:sp>
          <p:nvSpPr>
            <p:cNvPr name="TextBox 9" id="9"/>
            <p:cNvSpPr txBox="true"/>
            <p:nvPr/>
          </p:nvSpPr>
          <p:spPr>
            <a:xfrm>
              <a:off x="0" y="-28575"/>
              <a:ext cx="2600959" cy="1079119"/>
            </a:xfrm>
            <a:prstGeom prst="rect">
              <a:avLst/>
            </a:prstGeom>
          </p:spPr>
          <p:txBody>
            <a:bodyPr anchor="t" rtlCol="false" tIns="50800" lIns="50800" bIns="50800" rIns="50800"/>
            <a:lstStyle/>
            <a:p>
              <a:pPr algn="l">
                <a:lnSpc>
                  <a:spcPts val="1791"/>
                </a:lnSpc>
              </a:pPr>
              <a:r>
                <a:rPr lang="en-US" sz="1493">
                  <a:solidFill>
                    <a:srgbClr val="000000"/>
                  </a:solidFill>
                  <a:latin typeface="Calibri (MS)"/>
                  <a:ea typeface="Calibri (MS)"/>
                  <a:cs typeface="Calibri (MS)"/>
                  <a:sym typeface="Calibri (MS)"/>
                </a:rPr>
                <a:t>Nilkamal School of Mathematics, Applied Statistics &amp; Analytics</a:t>
              </a:r>
            </a:p>
          </p:txBody>
        </p:sp>
      </p:grpSp>
      <p:grpSp>
        <p:nvGrpSpPr>
          <p:cNvPr name="Group 10" id="10"/>
          <p:cNvGrpSpPr/>
          <p:nvPr/>
        </p:nvGrpSpPr>
        <p:grpSpPr>
          <a:xfrm rot="0">
            <a:off x="804716" y="2645841"/>
            <a:ext cx="8217364" cy="2023518"/>
            <a:chOff x="0" y="0"/>
            <a:chExt cx="10956485" cy="2698024"/>
          </a:xfrm>
        </p:grpSpPr>
        <p:sp>
          <p:nvSpPr>
            <p:cNvPr name="Freeform 11" id="11"/>
            <p:cNvSpPr/>
            <p:nvPr/>
          </p:nvSpPr>
          <p:spPr>
            <a:xfrm flipH="false" flipV="false" rot="0">
              <a:off x="0" y="0"/>
              <a:ext cx="10956485" cy="2698024"/>
            </a:xfrm>
            <a:custGeom>
              <a:avLst/>
              <a:gdLst/>
              <a:ahLst/>
              <a:cxnLst/>
              <a:rect r="r" b="b" t="t" l="l"/>
              <a:pathLst>
                <a:path h="2698024" w="10956485">
                  <a:moveTo>
                    <a:pt x="0" y="0"/>
                  </a:moveTo>
                  <a:lnTo>
                    <a:pt x="10956485" y="0"/>
                  </a:lnTo>
                  <a:lnTo>
                    <a:pt x="10956485" y="2698024"/>
                  </a:lnTo>
                  <a:lnTo>
                    <a:pt x="0" y="2698024"/>
                  </a:lnTo>
                  <a:close/>
                </a:path>
              </a:pathLst>
            </a:custGeom>
          </p:spPr>
        </p:sp>
        <p:sp>
          <p:nvSpPr>
            <p:cNvPr name="TextBox 12" id="12"/>
            <p:cNvSpPr txBox="true"/>
            <p:nvPr/>
          </p:nvSpPr>
          <p:spPr>
            <a:xfrm>
              <a:off x="0" y="-28575"/>
              <a:ext cx="10956485" cy="2726599"/>
            </a:xfrm>
            <a:prstGeom prst="rect">
              <a:avLst/>
            </a:prstGeom>
          </p:spPr>
          <p:txBody>
            <a:bodyPr anchor="ctr" rtlCol="false" tIns="0" lIns="0" bIns="0" rIns="0"/>
            <a:lstStyle/>
            <a:p>
              <a:pPr algn="ctr">
                <a:lnSpc>
                  <a:spcPts val="4800"/>
                </a:lnSpc>
              </a:pPr>
              <a:r>
                <a:rPr lang="en-US" b="true" sz="4000">
                  <a:solidFill>
                    <a:srgbClr val="000000"/>
                  </a:solidFill>
                  <a:latin typeface="Times New Roman Bold"/>
                  <a:ea typeface="Times New Roman Bold"/>
                  <a:cs typeface="Times New Roman Bold"/>
                  <a:sym typeface="Times New Roman Bold"/>
                </a:rPr>
                <a:t>Study 4 : To predict the likelihood of purchase when consumers receive preferred offers</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sp>
        <p:nvSpPr>
          <p:cNvPr name="Freeform 10" id="10"/>
          <p:cNvSpPr/>
          <p:nvPr/>
        </p:nvSpPr>
        <p:spPr>
          <a:xfrm flipH="false" flipV="false" rot="0">
            <a:off x="477798" y="1557696"/>
            <a:ext cx="3664104" cy="5025984"/>
          </a:xfrm>
          <a:custGeom>
            <a:avLst/>
            <a:gdLst/>
            <a:ahLst/>
            <a:cxnLst/>
            <a:rect r="r" b="b" t="t" l="l"/>
            <a:pathLst>
              <a:path h="5025984" w="3664104">
                <a:moveTo>
                  <a:pt x="0" y="0"/>
                </a:moveTo>
                <a:lnTo>
                  <a:pt x="3664104" y="0"/>
                </a:lnTo>
                <a:lnTo>
                  <a:pt x="3664104" y="5025984"/>
                </a:lnTo>
                <a:lnTo>
                  <a:pt x="0" y="5025984"/>
                </a:lnTo>
                <a:lnTo>
                  <a:pt x="0" y="0"/>
                </a:lnTo>
                <a:close/>
              </a:path>
            </a:pathLst>
          </a:custGeom>
          <a:blipFill>
            <a:blip r:embed="rId4"/>
            <a:stretch>
              <a:fillRect l="0" t="0" r="0" b="0"/>
            </a:stretch>
          </a:blipFill>
          <a:ln w="38100" cap="sq">
            <a:solidFill>
              <a:srgbClr val="000000"/>
            </a:solidFill>
            <a:prstDash val="solid"/>
            <a:miter/>
          </a:ln>
        </p:spPr>
      </p:sp>
      <p:sp>
        <p:nvSpPr>
          <p:cNvPr name="TextBox 11" id="11"/>
          <p:cNvSpPr txBox="true"/>
          <p:nvPr/>
        </p:nvSpPr>
        <p:spPr>
          <a:xfrm rot="0">
            <a:off x="4477465" y="1253129"/>
            <a:ext cx="5092924" cy="5587492"/>
          </a:xfrm>
          <a:prstGeom prst="rect">
            <a:avLst/>
          </a:prstGeom>
        </p:spPr>
        <p:txBody>
          <a:bodyPr anchor="t" rtlCol="false" tIns="0" lIns="0" bIns="0" rIns="0">
            <a:spAutoFit/>
          </a:bodyPr>
          <a:lstStyle/>
          <a:p>
            <a:pPr algn="l">
              <a:lnSpc>
                <a:spcPts val="2338"/>
              </a:lnSpc>
            </a:pPr>
            <a:r>
              <a:rPr lang="en-US" sz="1948">
                <a:solidFill>
                  <a:srgbClr val="000000"/>
                </a:solidFill>
                <a:latin typeface="Times New Roman MT"/>
                <a:ea typeface="Times New Roman MT"/>
                <a:cs typeface="Times New Roman MT"/>
                <a:sym typeface="Times New Roman MT"/>
              </a:rPr>
              <a:t>Logistic Regression is used in this study to predict the probability of purchase when customers receive their preferred discount coupons. </a:t>
            </a:r>
          </a:p>
          <a:p>
            <a:pPr algn="l" marL="420663" indent="-210332" lvl="1">
              <a:lnSpc>
                <a:spcPts val="2338"/>
              </a:lnSpc>
              <a:buFont typeface="Arial"/>
              <a:buChar char="•"/>
            </a:pPr>
            <a:r>
              <a:rPr lang="en-US" b="true" sz="1948">
                <a:solidFill>
                  <a:srgbClr val="000000"/>
                </a:solidFill>
                <a:latin typeface="Times New Roman MT Semi-Bold"/>
                <a:ea typeface="Times New Roman MT Semi-Bold"/>
                <a:cs typeface="Times New Roman MT Semi-Bold"/>
                <a:sym typeface="Times New Roman MT Semi-Bold"/>
              </a:rPr>
              <a:t>Key Output:</a:t>
            </a:r>
            <a:r>
              <a:rPr lang="en-US" sz="1948">
                <a:solidFill>
                  <a:srgbClr val="000000"/>
                </a:solidFill>
                <a:latin typeface="Times New Roman MT"/>
                <a:ea typeface="Times New Roman MT"/>
                <a:cs typeface="Times New Roman MT"/>
                <a:sym typeface="Times New Roman MT"/>
              </a:rPr>
              <a:t> A probability score instead of a simple yes/no, enabling targeted marketing.</a:t>
            </a:r>
          </a:p>
          <a:p>
            <a:pPr algn="l" marL="420663" indent="-210332" lvl="1">
              <a:lnSpc>
                <a:spcPts val="2338"/>
              </a:lnSpc>
              <a:buFont typeface="Arial"/>
              <a:buChar char="•"/>
            </a:pPr>
            <a:r>
              <a:rPr lang="en-US" b="true" sz="1948">
                <a:solidFill>
                  <a:srgbClr val="000000"/>
                </a:solidFill>
                <a:latin typeface="Times New Roman MT Semi-Bold"/>
                <a:ea typeface="Times New Roman MT Semi-Bold"/>
                <a:cs typeface="Times New Roman MT Semi-Bold"/>
                <a:sym typeface="Times New Roman MT Semi-Bold"/>
              </a:rPr>
              <a:t>The Influencing Factors:</a:t>
            </a:r>
          </a:p>
          <a:p>
            <a:pPr algn="l" marL="841326" indent="-280442" lvl="2">
              <a:lnSpc>
                <a:spcPts val="2338"/>
              </a:lnSpc>
              <a:buFont typeface="Arial"/>
              <a:buChar char="⚬"/>
            </a:pPr>
            <a:r>
              <a:rPr lang="en-US" b="true" sz="1948">
                <a:solidFill>
                  <a:srgbClr val="000000"/>
                </a:solidFill>
                <a:latin typeface="Times New Roman MT Semi-Bold"/>
                <a:ea typeface="Times New Roman MT Semi-Bold"/>
                <a:cs typeface="Times New Roman MT Semi-Bold"/>
                <a:sym typeface="Times New Roman MT Semi-Bold"/>
              </a:rPr>
              <a:t>Customer Psychology:</a:t>
            </a:r>
            <a:r>
              <a:rPr lang="en-US" sz="1948">
                <a:solidFill>
                  <a:srgbClr val="000000"/>
                </a:solidFill>
                <a:latin typeface="Times New Roman MT"/>
                <a:ea typeface="Times New Roman MT"/>
                <a:cs typeface="Times New Roman MT"/>
                <a:sym typeface="Times New Roman MT"/>
              </a:rPr>
              <a:t> Attitude, social influence, and purchase intention.</a:t>
            </a:r>
          </a:p>
          <a:p>
            <a:pPr algn="l" marL="841326" indent="-280442" lvl="2">
              <a:lnSpc>
                <a:spcPts val="2338"/>
              </a:lnSpc>
              <a:buFont typeface="Arial"/>
              <a:buChar char="⚬"/>
            </a:pPr>
            <a:r>
              <a:rPr lang="en-US" b="true" sz="1948">
                <a:solidFill>
                  <a:srgbClr val="000000"/>
                </a:solidFill>
                <a:latin typeface="Times New Roman MT Semi-Bold"/>
                <a:ea typeface="Times New Roman MT Semi-Bold"/>
                <a:cs typeface="Times New Roman MT Semi-Bold"/>
                <a:sym typeface="Times New Roman MT Semi-Bold"/>
              </a:rPr>
              <a:t>Coupon Attributes:</a:t>
            </a:r>
            <a:r>
              <a:rPr lang="en-US" sz="1948">
                <a:solidFill>
                  <a:srgbClr val="000000"/>
                </a:solidFill>
                <a:latin typeface="Times New Roman MT"/>
                <a:ea typeface="Times New Roman MT"/>
                <a:cs typeface="Times New Roman MT"/>
                <a:sym typeface="Times New Roman MT"/>
              </a:rPr>
              <a:t> Discount value, expiry time, and minimum spend rules.</a:t>
            </a:r>
          </a:p>
          <a:p>
            <a:pPr algn="l" marL="841326" indent="-280442" lvl="2">
              <a:lnSpc>
                <a:spcPts val="2338"/>
              </a:lnSpc>
              <a:buFont typeface="Arial"/>
              <a:buChar char="⚬"/>
            </a:pPr>
            <a:r>
              <a:rPr lang="en-US" b="true" sz="1948">
                <a:solidFill>
                  <a:srgbClr val="000000"/>
                </a:solidFill>
                <a:latin typeface="Times New Roman MT Semi-Bold"/>
                <a:ea typeface="Times New Roman MT Semi-Bold"/>
                <a:cs typeface="Times New Roman MT Semi-Bold"/>
                <a:sym typeface="Times New Roman MT Semi-Bold"/>
              </a:rPr>
              <a:t>Personal Preferences:</a:t>
            </a:r>
            <a:r>
              <a:rPr lang="en-US" sz="1948">
                <a:solidFill>
                  <a:srgbClr val="000000"/>
                </a:solidFill>
                <a:latin typeface="Times New Roman MT"/>
                <a:ea typeface="Times New Roman MT"/>
                <a:cs typeface="Times New Roman MT"/>
                <a:sym typeface="Times New Roman MT"/>
              </a:rPr>
              <a:t> The individual importance a customer places on different coupon features.</a:t>
            </a:r>
          </a:p>
          <a:p>
            <a:pPr algn="l" marL="420663" indent="-210332" lvl="1">
              <a:lnSpc>
                <a:spcPts val="2338"/>
              </a:lnSpc>
              <a:buFont typeface="Arial"/>
              <a:buChar char="•"/>
            </a:pPr>
            <a:r>
              <a:rPr lang="en-US" sz="1948">
                <a:solidFill>
                  <a:srgbClr val="000000"/>
                </a:solidFill>
                <a:latin typeface="Times New Roman MT"/>
                <a:ea typeface="Times New Roman MT"/>
                <a:cs typeface="Times New Roman MT"/>
                <a:sym typeface="Times New Roman MT"/>
              </a:rPr>
              <a:t>Identify which factors most strongly drive a purchase decision, allowing brands to optimize offers for maximum conversion.</a:t>
            </a:r>
          </a:p>
          <a:p>
            <a:pPr algn="l">
              <a:lnSpc>
                <a:spcPts val="2338"/>
              </a:lnSpc>
            </a:pPr>
          </a:p>
        </p:txBody>
      </p:sp>
      <p:sp>
        <p:nvSpPr>
          <p:cNvPr name="TextBox 12" id="12"/>
          <p:cNvSpPr txBox="true"/>
          <p:nvPr/>
        </p:nvSpPr>
        <p:spPr>
          <a:xfrm rot="0">
            <a:off x="2114111" y="6640597"/>
            <a:ext cx="391478"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10</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1" id="11"/>
          <p:cNvGrpSpPr/>
          <p:nvPr/>
        </p:nvGrpSpPr>
        <p:grpSpPr>
          <a:xfrm rot="0">
            <a:off x="2378745" y="1286192"/>
            <a:ext cx="4996111" cy="762240"/>
            <a:chOff x="0" y="0"/>
            <a:chExt cx="6661481" cy="1016320"/>
          </a:xfrm>
        </p:grpSpPr>
        <p:sp>
          <p:nvSpPr>
            <p:cNvPr name="Freeform 12" id="12"/>
            <p:cNvSpPr/>
            <p:nvPr/>
          </p:nvSpPr>
          <p:spPr>
            <a:xfrm flipH="false" flipV="false" rot="0">
              <a:off x="0" y="0"/>
              <a:ext cx="6661482" cy="1016320"/>
            </a:xfrm>
            <a:custGeom>
              <a:avLst/>
              <a:gdLst/>
              <a:ahLst/>
              <a:cxnLst/>
              <a:rect r="r" b="b" t="t" l="l"/>
              <a:pathLst>
                <a:path h="1016320" w="6661482">
                  <a:moveTo>
                    <a:pt x="0" y="0"/>
                  </a:moveTo>
                  <a:lnTo>
                    <a:pt x="6661482" y="0"/>
                  </a:lnTo>
                  <a:lnTo>
                    <a:pt x="6661482" y="1016320"/>
                  </a:lnTo>
                  <a:lnTo>
                    <a:pt x="0" y="1016320"/>
                  </a:lnTo>
                  <a:close/>
                </a:path>
              </a:pathLst>
            </a:custGeom>
          </p:spPr>
        </p:sp>
        <p:sp>
          <p:nvSpPr>
            <p:cNvPr name="TextBox 13" id="13"/>
            <p:cNvSpPr txBox="true"/>
            <p:nvPr/>
          </p:nvSpPr>
          <p:spPr>
            <a:xfrm>
              <a:off x="0" y="-28575"/>
              <a:ext cx="6661481" cy="1044895"/>
            </a:xfrm>
            <a:prstGeom prst="rect">
              <a:avLst/>
            </a:prstGeom>
          </p:spPr>
          <p:txBody>
            <a:bodyPr anchor="ctr" rtlCol="false" tIns="0" lIns="0" bIns="0" rIns="0"/>
            <a:lstStyle/>
            <a:p>
              <a:pPr algn="ctr">
                <a:lnSpc>
                  <a:spcPts val="3840"/>
                </a:lnSpc>
              </a:pPr>
              <a:r>
                <a:rPr lang="en-US" b="true" sz="3200">
                  <a:solidFill>
                    <a:srgbClr val="000000"/>
                  </a:solidFill>
                  <a:latin typeface="Times New Roman Bold"/>
                  <a:ea typeface="Times New Roman Bold"/>
                  <a:cs typeface="Times New Roman Bold"/>
                  <a:sym typeface="Times New Roman Bold"/>
                </a:rPr>
                <a:t>Model Performance</a:t>
              </a:r>
            </a:p>
          </p:txBody>
        </p:sp>
      </p:grpSp>
      <p:sp>
        <p:nvSpPr>
          <p:cNvPr name="Freeform 14" id="14"/>
          <p:cNvSpPr/>
          <p:nvPr/>
        </p:nvSpPr>
        <p:spPr>
          <a:xfrm flipH="false" flipV="false" rot="0">
            <a:off x="3885099" y="2867471"/>
            <a:ext cx="1747696" cy="1036769"/>
          </a:xfrm>
          <a:custGeom>
            <a:avLst/>
            <a:gdLst/>
            <a:ahLst/>
            <a:cxnLst/>
            <a:rect r="r" b="b" t="t" l="l"/>
            <a:pathLst>
              <a:path h="1036769" w="1747696">
                <a:moveTo>
                  <a:pt x="0" y="0"/>
                </a:moveTo>
                <a:lnTo>
                  <a:pt x="1747695" y="0"/>
                </a:lnTo>
                <a:lnTo>
                  <a:pt x="1747695" y="1036769"/>
                </a:lnTo>
                <a:lnTo>
                  <a:pt x="0" y="1036769"/>
                </a:lnTo>
                <a:lnTo>
                  <a:pt x="0" y="0"/>
                </a:lnTo>
                <a:close/>
              </a:path>
            </a:pathLst>
          </a:custGeom>
          <a:blipFill>
            <a:blip r:embed="rId5"/>
            <a:stretch>
              <a:fillRect l="0" t="0" r="0" b="0"/>
            </a:stretch>
          </a:blipFill>
          <a:ln w="38100" cap="sq">
            <a:solidFill>
              <a:srgbClr val="000000"/>
            </a:solidFill>
            <a:prstDash val="solid"/>
            <a:miter/>
          </a:ln>
        </p:spPr>
      </p:sp>
      <p:sp>
        <p:nvSpPr>
          <p:cNvPr name="Freeform 15" id="15"/>
          <p:cNvSpPr/>
          <p:nvPr/>
        </p:nvSpPr>
        <p:spPr>
          <a:xfrm flipH="false" flipV="false" rot="0">
            <a:off x="1589898" y="4997873"/>
            <a:ext cx="6573803" cy="1976583"/>
          </a:xfrm>
          <a:custGeom>
            <a:avLst/>
            <a:gdLst/>
            <a:ahLst/>
            <a:cxnLst/>
            <a:rect r="r" b="b" t="t" l="l"/>
            <a:pathLst>
              <a:path h="1976583" w="6573803">
                <a:moveTo>
                  <a:pt x="0" y="0"/>
                </a:moveTo>
                <a:lnTo>
                  <a:pt x="6573804" y="0"/>
                </a:lnTo>
                <a:lnTo>
                  <a:pt x="6573804" y="1976583"/>
                </a:lnTo>
                <a:lnTo>
                  <a:pt x="0" y="1976583"/>
                </a:lnTo>
                <a:lnTo>
                  <a:pt x="0" y="0"/>
                </a:lnTo>
                <a:close/>
              </a:path>
            </a:pathLst>
          </a:custGeom>
          <a:blipFill>
            <a:blip r:embed="rId6"/>
            <a:stretch>
              <a:fillRect l="0" t="0" r="0" b="0"/>
            </a:stretch>
          </a:blipFill>
          <a:ln w="38100" cap="sq">
            <a:solidFill>
              <a:srgbClr val="000000"/>
            </a:solidFill>
            <a:prstDash val="solid"/>
            <a:miter/>
          </a:ln>
        </p:spPr>
      </p:sp>
      <p:sp>
        <p:nvSpPr>
          <p:cNvPr name="TextBox 16" id="16"/>
          <p:cNvSpPr txBox="true"/>
          <p:nvPr/>
        </p:nvSpPr>
        <p:spPr>
          <a:xfrm rot="0">
            <a:off x="545566" y="2029382"/>
            <a:ext cx="3666358" cy="400050"/>
          </a:xfrm>
          <a:prstGeom prst="rect">
            <a:avLst/>
          </a:prstGeom>
        </p:spPr>
        <p:txBody>
          <a:bodyPr anchor="t" rtlCol="false" tIns="0" lIns="0" bIns="0" rIns="0">
            <a:spAutoFit/>
          </a:bodyPr>
          <a:lstStyle/>
          <a:p>
            <a:pPr algn="l">
              <a:lnSpc>
                <a:spcPts val="3016"/>
              </a:lnSpc>
            </a:pPr>
            <a:r>
              <a:rPr lang="en-US" sz="2513">
                <a:solidFill>
                  <a:srgbClr val="0F1115"/>
                </a:solidFill>
                <a:latin typeface="Times New Roman"/>
                <a:ea typeface="Times New Roman"/>
                <a:cs typeface="Times New Roman"/>
                <a:sym typeface="Times New Roman"/>
              </a:rPr>
              <a:t>Confusion Matrix Results:</a:t>
            </a:r>
          </a:p>
        </p:txBody>
      </p:sp>
      <p:sp>
        <p:nvSpPr>
          <p:cNvPr name="TextBox 17" id="17"/>
          <p:cNvSpPr txBox="true"/>
          <p:nvPr/>
        </p:nvSpPr>
        <p:spPr>
          <a:xfrm rot="0">
            <a:off x="595595" y="4416848"/>
            <a:ext cx="8600510" cy="400050"/>
          </a:xfrm>
          <a:prstGeom prst="rect">
            <a:avLst/>
          </a:prstGeom>
        </p:spPr>
        <p:txBody>
          <a:bodyPr anchor="t" rtlCol="false" tIns="0" lIns="0" bIns="0" rIns="0">
            <a:spAutoFit/>
          </a:bodyPr>
          <a:lstStyle/>
          <a:p>
            <a:pPr algn="l">
              <a:lnSpc>
                <a:spcPts val="3016"/>
              </a:lnSpc>
            </a:pPr>
            <a:r>
              <a:rPr lang="en-US" sz="2513">
                <a:solidFill>
                  <a:srgbClr val="0F1115"/>
                </a:solidFill>
                <a:latin typeface="Times New Roman"/>
                <a:ea typeface="Times New Roman"/>
                <a:cs typeface="Times New Roman"/>
                <a:sym typeface="Times New Roman"/>
              </a:rPr>
              <a:t>Performance Metrics:</a:t>
            </a:r>
          </a:p>
        </p:txBody>
      </p:sp>
      <p:sp>
        <p:nvSpPr>
          <p:cNvPr name="TextBox 18" id="18"/>
          <p:cNvSpPr txBox="true"/>
          <p:nvPr/>
        </p:nvSpPr>
        <p:spPr>
          <a:xfrm rot="0">
            <a:off x="2785687" y="3214406"/>
            <a:ext cx="747988" cy="295275"/>
          </a:xfrm>
          <a:prstGeom prst="rect">
            <a:avLst/>
          </a:prstGeom>
        </p:spPr>
        <p:txBody>
          <a:bodyPr anchor="t" rtlCol="false" tIns="0" lIns="0" bIns="0" rIns="0">
            <a:spAutoFit/>
          </a:bodyPr>
          <a:lstStyle/>
          <a:p>
            <a:pPr algn="l">
              <a:lnSpc>
                <a:spcPts val="2176"/>
              </a:lnSpc>
            </a:pPr>
            <a:r>
              <a:rPr lang="en-US" sz="1813">
                <a:solidFill>
                  <a:srgbClr val="0F1115"/>
                </a:solidFill>
                <a:latin typeface="Times New Roman"/>
                <a:ea typeface="Times New Roman"/>
                <a:cs typeface="Times New Roman"/>
                <a:sym typeface="Times New Roman"/>
              </a:rPr>
              <a:t>Actual</a:t>
            </a:r>
          </a:p>
        </p:txBody>
      </p:sp>
      <p:sp>
        <p:nvSpPr>
          <p:cNvPr name="TextBox 19" id="19"/>
          <p:cNvSpPr txBox="true"/>
          <p:nvPr/>
        </p:nvSpPr>
        <p:spPr>
          <a:xfrm rot="0">
            <a:off x="4249564" y="2419907"/>
            <a:ext cx="1018764" cy="295275"/>
          </a:xfrm>
          <a:prstGeom prst="rect">
            <a:avLst/>
          </a:prstGeom>
        </p:spPr>
        <p:txBody>
          <a:bodyPr anchor="t" rtlCol="false" tIns="0" lIns="0" bIns="0" rIns="0">
            <a:spAutoFit/>
          </a:bodyPr>
          <a:lstStyle/>
          <a:p>
            <a:pPr algn="l">
              <a:lnSpc>
                <a:spcPts val="2176"/>
              </a:lnSpc>
            </a:pPr>
            <a:r>
              <a:rPr lang="en-US" sz="1813">
                <a:solidFill>
                  <a:srgbClr val="0F1115"/>
                </a:solidFill>
                <a:latin typeface="Times New Roman"/>
                <a:ea typeface="Times New Roman"/>
                <a:cs typeface="Times New Roman"/>
                <a:sym typeface="Times New Roman"/>
              </a:rPr>
              <a:t>Predicted</a:t>
            </a:r>
          </a:p>
        </p:txBody>
      </p:sp>
      <p:sp>
        <p:nvSpPr>
          <p:cNvPr name="TextBox 20" id="20"/>
          <p:cNvSpPr txBox="true"/>
          <p:nvPr/>
        </p:nvSpPr>
        <p:spPr>
          <a:xfrm rot="0">
            <a:off x="4478673" y="4051007"/>
            <a:ext cx="560546" cy="228600"/>
          </a:xfrm>
          <a:prstGeom prst="rect">
            <a:avLst/>
          </a:prstGeom>
        </p:spPr>
        <p:txBody>
          <a:bodyPr anchor="t" rtlCol="false" tIns="0" lIns="0" bIns="0" rIns="0">
            <a:spAutoFit/>
          </a:bodyPr>
          <a:lstStyle/>
          <a:p>
            <a:pPr algn="ctr">
              <a:lnSpc>
                <a:spcPts val="1791"/>
              </a:lnSpc>
              <a:spcBef>
                <a:spcPct val="0"/>
              </a:spcBef>
            </a:pPr>
            <a:r>
              <a:rPr lang="en-US" sz="1493">
                <a:solidFill>
                  <a:srgbClr val="0F1115"/>
                </a:solidFill>
                <a:latin typeface="Times New Roman"/>
                <a:ea typeface="Times New Roman"/>
                <a:cs typeface="Times New Roman"/>
                <a:sym typeface="Times New Roman"/>
              </a:rPr>
              <a:t>Table 6</a:t>
            </a:r>
          </a:p>
        </p:txBody>
      </p:sp>
      <p:sp>
        <p:nvSpPr>
          <p:cNvPr name="TextBox 21" id="21"/>
          <p:cNvSpPr txBox="true"/>
          <p:nvPr/>
        </p:nvSpPr>
        <p:spPr>
          <a:xfrm rot="0">
            <a:off x="4596527" y="6964931"/>
            <a:ext cx="560546" cy="228600"/>
          </a:xfrm>
          <a:prstGeom prst="rect">
            <a:avLst/>
          </a:prstGeom>
        </p:spPr>
        <p:txBody>
          <a:bodyPr anchor="t" rtlCol="false" tIns="0" lIns="0" bIns="0" rIns="0">
            <a:spAutoFit/>
          </a:bodyPr>
          <a:lstStyle/>
          <a:p>
            <a:pPr algn="ctr">
              <a:lnSpc>
                <a:spcPts val="1791"/>
              </a:lnSpc>
              <a:spcBef>
                <a:spcPct val="0"/>
              </a:spcBef>
            </a:pPr>
            <a:r>
              <a:rPr lang="en-US" sz="1493">
                <a:solidFill>
                  <a:srgbClr val="0F1115"/>
                </a:solidFill>
                <a:latin typeface="Times New Roman"/>
                <a:ea typeface="Times New Roman"/>
                <a:cs typeface="Times New Roman"/>
                <a:sym typeface="Times New Roman"/>
              </a:rPr>
              <a:t>Table 7</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1" id="11"/>
          <p:cNvGrpSpPr/>
          <p:nvPr/>
        </p:nvGrpSpPr>
        <p:grpSpPr>
          <a:xfrm rot="0">
            <a:off x="731520" y="1261169"/>
            <a:ext cx="8290560" cy="762240"/>
            <a:chOff x="0" y="0"/>
            <a:chExt cx="11054080" cy="1016320"/>
          </a:xfrm>
        </p:grpSpPr>
        <p:sp>
          <p:nvSpPr>
            <p:cNvPr name="Freeform 12" id="12"/>
            <p:cNvSpPr/>
            <p:nvPr/>
          </p:nvSpPr>
          <p:spPr>
            <a:xfrm flipH="false" flipV="false" rot="0">
              <a:off x="0" y="0"/>
              <a:ext cx="11054080" cy="1016320"/>
            </a:xfrm>
            <a:custGeom>
              <a:avLst/>
              <a:gdLst/>
              <a:ahLst/>
              <a:cxnLst/>
              <a:rect r="r" b="b" t="t" l="l"/>
              <a:pathLst>
                <a:path h="1016320" w="11054080">
                  <a:moveTo>
                    <a:pt x="0" y="0"/>
                  </a:moveTo>
                  <a:lnTo>
                    <a:pt x="11054080" y="0"/>
                  </a:lnTo>
                  <a:lnTo>
                    <a:pt x="11054080" y="1016320"/>
                  </a:lnTo>
                  <a:lnTo>
                    <a:pt x="0" y="1016320"/>
                  </a:lnTo>
                  <a:close/>
                </a:path>
              </a:pathLst>
            </a:custGeom>
          </p:spPr>
        </p:sp>
        <p:sp>
          <p:nvSpPr>
            <p:cNvPr name="TextBox 13" id="13"/>
            <p:cNvSpPr txBox="true"/>
            <p:nvPr/>
          </p:nvSpPr>
          <p:spPr>
            <a:xfrm>
              <a:off x="0" y="-28575"/>
              <a:ext cx="11054080" cy="1044895"/>
            </a:xfrm>
            <a:prstGeom prst="rect">
              <a:avLst/>
            </a:prstGeom>
          </p:spPr>
          <p:txBody>
            <a:bodyPr anchor="ctr" rtlCol="false" tIns="0" lIns="0" bIns="0" rIns="0"/>
            <a:lstStyle/>
            <a:p>
              <a:pPr algn="ctr">
                <a:lnSpc>
                  <a:spcPts val="3600"/>
                </a:lnSpc>
              </a:pPr>
              <a:r>
                <a:rPr lang="en-US" b="true" sz="3000">
                  <a:solidFill>
                    <a:srgbClr val="000000"/>
                  </a:solidFill>
                  <a:latin typeface="Times New Roman Bold"/>
                  <a:ea typeface="Times New Roman Bold"/>
                  <a:cs typeface="Times New Roman Bold"/>
                  <a:sym typeface="Times New Roman Bold"/>
                </a:rPr>
                <a:t>Top Influential Predictors</a:t>
              </a:r>
            </a:p>
          </p:txBody>
        </p:sp>
      </p:grpSp>
      <p:sp>
        <p:nvSpPr>
          <p:cNvPr name="Freeform 14" id="14"/>
          <p:cNvSpPr/>
          <p:nvPr/>
        </p:nvSpPr>
        <p:spPr>
          <a:xfrm flipH="false" flipV="false" rot="0">
            <a:off x="2388001" y="3066916"/>
            <a:ext cx="4996648" cy="3331099"/>
          </a:xfrm>
          <a:custGeom>
            <a:avLst/>
            <a:gdLst/>
            <a:ahLst/>
            <a:cxnLst/>
            <a:rect r="r" b="b" t="t" l="l"/>
            <a:pathLst>
              <a:path h="3331099" w="4996648">
                <a:moveTo>
                  <a:pt x="0" y="0"/>
                </a:moveTo>
                <a:lnTo>
                  <a:pt x="4996648" y="0"/>
                </a:lnTo>
                <a:lnTo>
                  <a:pt x="4996648" y="3331099"/>
                </a:lnTo>
                <a:lnTo>
                  <a:pt x="0" y="3331099"/>
                </a:lnTo>
                <a:lnTo>
                  <a:pt x="0" y="0"/>
                </a:lnTo>
                <a:close/>
              </a:path>
            </a:pathLst>
          </a:custGeom>
          <a:blipFill>
            <a:blip r:embed="rId5"/>
            <a:stretch>
              <a:fillRect l="0" t="0" r="0" b="0"/>
            </a:stretch>
          </a:blipFill>
          <a:ln w="38100" cap="sq">
            <a:solidFill>
              <a:srgbClr val="000000"/>
            </a:solidFill>
            <a:prstDash val="solid"/>
            <a:miter/>
          </a:ln>
        </p:spPr>
      </p:sp>
      <p:sp>
        <p:nvSpPr>
          <p:cNvPr name="TextBox 15" id="15"/>
          <p:cNvSpPr txBox="true"/>
          <p:nvPr/>
        </p:nvSpPr>
        <p:spPr>
          <a:xfrm rot="0">
            <a:off x="576545" y="2271712"/>
            <a:ext cx="2643424" cy="400050"/>
          </a:xfrm>
          <a:prstGeom prst="rect">
            <a:avLst/>
          </a:prstGeom>
        </p:spPr>
        <p:txBody>
          <a:bodyPr anchor="t" rtlCol="false" tIns="0" lIns="0" bIns="0" rIns="0">
            <a:spAutoFit/>
          </a:bodyPr>
          <a:lstStyle/>
          <a:p>
            <a:pPr algn="l">
              <a:lnSpc>
                <a:spcPts val="3011"/>
              </a:lnSpc>
            </a:pPr>
            <a:r>
              <a:rPr lang="en-US" sz="2509">
                <a:solidFill>
                  <a:srgbClr val="0F1115"/>
                </a:solidFill>
                <a:latin typeface="Times New Roman"/>
                <a:ea typeface="Times New Roman"/>
                <a:cs typeface="Times New Roman"/>
                <a:sym typeface="Times New Roman"/>
              </a:rPr>
              <a:t>Ranked by Impact:</a:t>
            </a:r>
          </a:p>
        </p:txBody>
      </p:sp>
      <p:sp>
        <p:nvSpPr>
          <p:cNvPr name="TextBox 16" id="16"/>
          <p:cNvSpPr txBox="true"/>
          <p:nvPr/>
        </p:nvSpPr>
        <p:spPr>
          <a:xfrm rot="0">
            <a:off x="4577715" y="6445568"/>
            <a:ext cx="598170" cy="257175"/>
          </a:xfrm>
          <a:prstGeom prst="rect">
            <a:avLst/>
          </a:prstGeom>
        </p:spPr>
        <p:txBody>
          <a:bodyPr anchor="t" rtlCol="false" tIns="0" lIns="0" bIns="0" rIns="0">
            <a:spAutoFit/>
          </a:bodyPr>
          <a:lstStyle/>
          <a:p>
            <a:pPr algn="ctr">
              <a:lnSpc>
                <a:spcPts val="1911"/>
              </a:lnSpc>
              <a:spcBef>
                <a:spcPct val="0"/>
              </a:spcBef>
            </a:pPr>
            <a:r>
              <a:rPr lang="en-US" sz="1593">
                <a:solidFill>
                  <a:srgbClr val="0F1115"/>
                </a:solidFill>
                <a:latin typeface="Times New Roman"/>
                <a:ea typeface="Times New Roman"/>
                <a:cs typeface="Times New Roman"/>
                <a:sym typeface="Times New Roman"/>
              </a:rPr>
              <a:t>Table 8</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0" id="10"/>
          <p:cNvGrpSpPr/>
          <p:nvPr/>
        </p:nvGrpSpPr>
        <p:grpSpPr>
          <a:xfrm rot="0">
            <a:off x="1131450" y="3127381"/>
            <a:ext cx="7490700" cy="1060438"/>
            <a:chOff x="0" y="0"/>
            <a:chExt cx="9987600" cy="1413918"/>
          </a:xfrm>
        </p:grpSpPr>
        <p:sp>
          <p:nvSpPr>
            <p:cNvPr name="Freeform 11" id="11"/>
            <p:cNvSpPr/>
            <p:nvPr/>
          </p:nvSpPr>
          <p:spPr>
            <a:xfrm flipH="false" flipV="false" rot="0">
              <a:off x="0" y="0"/>
              <a:ext cx="9987600" cy="1413918"/>
            </a:xfrm>
            <a:custGeom>
              <a:avLst/>
              <a:gdLst/>
              <a:ahLst/>
              <a:cxnLst/>
              <a:rect r="r" b="b" t="t" l="l"/>
              <a:pathLst>
                <a:path h="1413918" w="9987600">
                  <a:moveTo>
                    <a:pt x="0" y="0"/>
                  </a:moveTo>
                  <a:lnTo>
                    <a:pt x="9987600" y="0"/>
                  </a:lnTo>
                  <a:lnTo>
                    <a:pt x="9987600" y="1413918"/>
                  </a:lnTo>
                  <a:lnTo>
                    <a:pt x="0" y="1413918"/>
                  </a:lnTo>
                  <a:close/>
                </a:path>
              </a:pathLst>
            </a:custGeom>
          </p:spPr>
        </p:sp>
        <p:sp>
          <p:nvSpPr>
            <p:cNvPr name="TextBox 12" id="12"/>
            <p:cNvSpPr txBox="true"/>
            <p:nvPr/>
          </p:nvSpPr>
          <p:spPr>
            <a:xfrm>
              <a:off x="0" y="-28575"/>
              <a:ext cx="9987600" cy="1442493"/>
            </a:xfrm>
            <a:prstGeom prst="rect">
              <a:avLst/>
            </a:prstGeom>
          </p:spPr>
          <p:txBody>
            <a:bodyPr anchor="ctr" rtlCol="false" tIns="0" lIns="0" bIns="0" rIns="0"/>
            <a:lstStyle/>
            <a:p>
              <a:pPr algn="ctr">
                <a:lnSpc>
                  <a:spcPts val="3600"/>
                </a:lnSpc>
              </a:pPr>
              <a:r>
                <a:rPr lang="en-US" b="true" sz="3000">
                  <a:solidFill>
                    <a:srgbClr val="000000"/>
                  </a:solidFill>
                  <a:latin typeface="Times New Roman Bold"/>
                  <a:ea typeface="Times New Roman Bold"/>
                  <a:cs typeface="Times New Roman Bold"/>
                  <a:sym typeface="Times New Roman Bold"/>
                </a:rPr>
                <a:t>Study 5 : Application of the Integrated Framework</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sp>
        <p:nvSpPr>
          <p:cNvPr name="Freeform 4" id="4"/>
          <p:cNvSpPr/>
          <p:nvPr/>
        </p:nvSpPr>
        <p:spPr>
          <a:xfrm flipH="false" flipV="false" rot="0">
            <a:off x="1863900" y="1596794"/>
            <a:ext cx="5888799" cy="5483944"/>
          </a:xfrm>
          <a:custGeom>
            <a:avLst/>
            <a:gdLst/>
            <a:ahLst/>
            <a:cxnLst/>
            <a:rect r="r" b="b" t="t" l="l"/>
            <a:pathLst>
              <a:path h="5483944" w="5888799">
                <a:moveTo>
                  <a:pt x="0" y="0"/>
                </a:moveTo>
                <a:lnTo>
                  <a:pt x="5888798" y="0"/>
                </a:lnTo>
                <a:lnTo>
                  <a:pt x="5888798" y="5483944"/>
                </a:lnTo>
                <a:lnTo>
                  <a:pt x="0" y="5483944"/>
                </a:lnTo>
                <a:lnTo>
                  <a:pt x="0" y="0"/>
                </a:lnTo>
                <a:close/>
              </a:path>
            </a:pathLst>
          </a:custGeom>
          <a:blipFill>
            <a:blip r:embed="rId4"/>
            <a:stretch>
              <a:fillRect l="-3691" t="-3691" r="-3691" b="-3691"/>
            </a:stretch>
          </a:blipFill>
        </p:spPr>
      </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1" id="11"/>
          <p:cNvGrpSpPr/>
          <p:nvPr/>
        </p:nvGrpSpPr>
        <p:grpSpPr>
          <a:xfrm rot="0">
            <a:off x="461195" y="1008393"/>
            <a:ext cx="8831209" cy="775062"/>
            <a:chOff x="0" y="0"/>
            <a:chExt cx="11774946" cy="1033417"/>
          </a:xfrm>
        </p:grpSpPr>
        <p:sp>
          <p:nvSpPr>
            <p:cNvPr name="Freeform 12" id="12"/>
            <p:cNvSpPr/>
            <p:nvPr/>
          </p:nvSpPr>
          <p:spPr>
            <a:xfrm flipH="false" flipV="false" rot="0">
              <a:off x="0" y="0"/>
              <a:ext cx="11774946" cy="1033417"/>
            </a:xfrm>
            <a:custGeom>
              <a:avLst/>
              <a:gdLst/>
              <a:ahLst/>
              <a:cxnLst/>
              <a:rect r="r" b="b" t="t" l="l"/>
              <a:pathLst>
                <a:path h="1033417" w="11774946">
                  <a:moveTo>
                    <a:pt x="0" y="0"/>
                  </a:moveTo>
                  <a:lnTo>
                    <a:pt x="11774946" y="0"/>
                  </a:lnTo>
                  <a:lnTo>
                    <a:pt x="11774946" y="1033417"/>
                  </a:lnTo>
                  <a:lnTo>
                    <a:pt x="0" y="1033417"/>
                  </a:lnTo>
                  <a:close/>
                </a:path>
              </a:pathLst>
            </a:custGeom>
          </p:spPr>
        </p:sp>
        <p:sp>
          <p:nvSpPr>
            <p:cNvPr name="TextBox 13" id="13"/>
            <p:cNvSpPr txBox="true"/>
            <p:nvPr/>
          </p:nvSpPr>
          <p:spPr>
            <a:xfrm>
              <a:off x="0" y="-19050"/>
              <a:ext cx="11774946" cy="1052467"/>
            </a:xfrm>
            <a:prstGeom prst="rect">
              <a:avLst/>
            </a:prstGeom>
          </p:spPr>
          <p:txBody>
            <a:bodyPr anchor="ctr" rtlCol="false" tIns="0" lIns="0" bIns="0" rIns="0"/>
            <a:lstStyle/>
            <a:p>
              <a:pPr algn="ctr">
                <a:lnSpc>
                  <a:spcPts val="3000"/>
                </a:lnSpc>
              </a:pPr>
              <a:r>
                <a:rPr lang="en-US" b="true" sz="2500">
                  <a:solidFill>
                    <a:srgbClr val="000000"/>
                  </a:solidFill>
                  <a:latin typeface="Times New Roman Bold"/>
                  <a:ea typeface="Times New Roman Bold"/>
                  <a:cs typeface="Times New Roman Bold"/>
                  <a:sym typeface="Times New Roman Bold"/>
                </a:rPr>
                <a:t>Implementation – Predicting Purchase Probability</a:t>
              </a:r>
            </a:p>
          </p:txBody>
        </p:sp>
      </p:grpSp>
      <p:sp>
        <p:nvSpPr>
          <p:cNvPr name="TextBox 14" id="14"/>
          <p:cNvSpPr txBox="true"/>
          <p:nvPr/>
        </p:nvSpPr>
        <p:spPr>
          <a:xfrm rot="0">
            <a:off x="6217627" y="5149108"/>
            <a:ext cx="3378833" cy="1543050"/>
          </a:xfrm>
          <a:prstGeom prst="rect">
            <a:avLst/>
          </a:prstGeom>
        </p:spPr>
        <p:txBody>
          <a:bodyPr anchor="t" rtlCol="false" tIns="0" lIns="0" bIns="0" rIns="0">
            <a:spAutoFit/>
          </a:bodyPr>
          <a:lstStyle/>
          <a:p>
            <a:pPr algn="l">
              <a:lnSpc>
                <a:spcPts val="1523"/>
              </a:lnSpc>
            </a:pPr>
            <a:r>
              <a:rPr lang="en-US" sz="1269">
                <a:solidFill>
                  <a:srgbClr val="000000"/>
                </a:solidFill>
                <a:latin typeface="Times New Roman"/>
                <a:ea typeface="Times New Roman"/>
                <a:cs typeface="Times New Roman"/>
                <a:sym typeface="Times New Roman"/>
              </a:rPr>
              <a:t>4. Run Prediction:</a:t>
            </a:r>
          </a:p>
          <a:p>
            <a:pPr algn="l" marL="274192" indent="-137096" lvl="1">
              <a:lnSpc>
                <a:spcPts val="1523"/>
              </a:lnSpc>
              <a:buFont typeface="Arial"/>
              <a:buChar char="•"/>
            </a:pPr>
            <a:r>
              <a:rPr lang="en-US" sz="1269">
                <a:solidFill>
                  <a:srgbClr val="000000"/>
                </a:solidFill>
                <a:latin typeface="Times New Roman"/>
                <a:ea typeface="Times New Roman"/>
                <a:cs typeface="Times New Roman"/>
                <a:sym typeface="Times New Roman"/>
              </a:rPr>
              <a:t>Feed all this data into a trained model</a:t>
            </a:r>
          </a:p>
          <a:p>
            <a:pPr algn="l" marL="274192" indent="-137096" lvl="1">
              <a:lnSpc>
                <a:spcPts val="1523"/>
              </a:lnSpc>
              <a:buFont typeface="Arial"/>
              <a:buChar char="•"/>
            </a:pPr>
            <a:r>
              <a:rPr lang="en-US" sz="1269">
                <a:solidFill>
                  <a:srgbClr val="000000"/>
                </a:solidFill>
                <a:latin typeface="Times New Roman"/>
                <a:ea typeface="Times New Roman"/>
                <a:cs typeface="Times New Roman"/>
                <a:sym typeface="Times New Roman"/>
              </a:rPr>
              <a:t> Model calculates purchase probability for each offer</a:t>
            </a:r>
          </a:p>
          <a:p>
            <a:pPr algn="l">
              <a:lnSpc>
                <a:spcPts val="1523"/>
              </a:lnSpc>
            </a:pPr>
            <a:r>
              <a:rPr lang="en-US" sz="1269">
                <a:solidFill>
                  <a:srgbClr val="000000"/>
                </a:solidFill>
                <a:latin typeface="Times New Roman"/>
                <a:ea typeface="Times New Roman"/>
                <a:cs typeface="Times New Roman"/>
                <a:sym typeface="Times New Roman"/>
              </a:rPr>
              <a:t>The Result:</a:t>
            </a:r>
          </a:p>
          <a:p>
            <a:pPr algn="l" marL="274192" indent="-137096" lvl="1">
              <a:lnSpc>
                <a:spcPts val="1523"/>
              </a:lnSpc>
              <a:buFont typeface="Arial"/>
              <a:buChar char="•"/>
            </a:pPr>
            <a:r>
              <a:rPr lang="en-US" sz="1269">
                <a:solidFill>
                  <a:srgbClr val="000000"/>
                </a:solidFill>
                <a:latin typeface="Times New Roman"/>
                <a:ea typeface="Times New Roman"/>
                <a:cs typeface="Times New Roman"/>
                <a:sym typeface="Times New Roman"/>
              </a:rPr>
              <a:t>Flipkart offer: 10.2% chance of purchase</a:t>
            </a:r>
          </a:p>
          <a:p>
            <a:pPr algn="l" marL="274192" indent="-137096" lvl="1">
              <a:lnSpc>
                <a:spcPts val="1523"/>
              </a:lnSpc>
              <a:buFont typeface="Arial"/>
              <a:buChar char="•"/>
            </a:pPr>
            <a:r>
              <a:rPr lang="en-US" sz="1269">
                <a:solidFill>
                  <a:srgbClr val="000000"/>
                </a:solidFill>
                <a:latin typeface="Times New Roman"/>
                <a:ea typeface="Times New Roman"/>
                <a:cs typeface="Times New Roman"/>
                <a:sym typeface="Times New Roman"/>
              </a:rPr>
              <a:t>Myntra offer: 9.3% chance of purchase</a:t>
            </a:r>
          </a:p>
          <a:p>
            <a:pPr algn="l">
              <a:lnSpc>
                <a:spcPts val="1523"/>
              </a:lnSpc>
              <a:spcBef>
                <a:spcPct val="0"/>
              </a:spcBef>
            </a:pPr>
          </a:p>
        </p:txBody>
      </p:sp>
      <p:sp>
        <p:nvSpPr>
          <p:cNvPr name="TextBox 15" id="15"/>
          <p:cNvSpPr txBox="true"/>
          <p:nvPr/>
        </p:nvSpPr>
        <p:spPr>
          <a:xfrm rot="0">
            <a:off x="461195" y="4394688"/>
            <a:ext cx="3965036" cy="2686050"/>
          </a:xfrm>
          <a:prstGeom prst="rect">
            <a:avLst/>
          </a:prstGeom>
        </p:spPr>
        <p:txBody>
          <a:bodyPr anchor="t" rtlCol="false" tIns="0" lIns="0" bIns="0" rIns="0">
            <a:spAutoFit/>
          </a:bodyPr>
          <a:lstStyle/>
          <a:p>
            <a:pPr algn="l">
              <a:lnSpc>
                <a:spcPts val="1521"/>
              </a:lnSpc>
            </a:pPr>
            <a:r>
              <a:rPr lang="en-US" sz="1267">
                <a:solidFill>
                  <a:srgbClr val="000000"/>
                </a:solidFill>
                <a:latin typeface="Times New Roman"/>
                <a:ea typeface="Times New Roman"/>
                <a:cs typeface="Times New Roman"/>
                <a:sym typeface="Times New Roman"/>
              </a:rPr>
              <a:t>Predict which discount offer a customer will use.</a:t>
            </a:r>
          </a:p>
          <a:p>
            <a:pPr algn="l">
              <a:lnSpc>
                <a:spcPts val="1521"/>
              </a:lnSpc>
            </a:pPr>
            <a:r>
              <a:rPr lang="en-US" sz="1267">
                <a:solidFill>
                  <a:srgbClr val="000000"/>
                </a:solidFill>
                <a:latin typeface="Times New Roman"/>
                <a:ea typeface="Times New Roman"/>
                <a:cs typeface="Times New Roman"/>
                <a:sym typeface="Times New Roman"/>
              </a:rPr>
              <a:t>The Process:</a:t>
            </a:r>
          </a:p>
          <a:p>
            <a:pPr algn="l">
              <a:lnSpc>
                <a:spcPts val="1521"/>
              </a:lnSpc>
            </a:pPr>
            <a:r>
              <a:rPr lang="en-US" sz="1267">
                <a:solidFill>
                  <a:srgbClr val="000000"/>
                </a:solidFill>
                <a:latin typeface="Times New Roman"/>
                <a:ea typeface="Times New Roman"/>
                <a:cs typeface="Times New Roman"/>
                <a:sym typeface="Times New Roman"/>
              </a:rPr>
              <a:t>1. Create Offers:</a:t>
            </a:r>
          </a:p>
          <a:p>
            <a:pPr algn="l" marL="273716" indent="-136858" lvl="1">
              <a:lnSpc>
                <a:spcPts val="1521"/>
              </a:lnSpc>
              <a:buFont typeface="Arial"/>
              <a:buChar char="•"/>
            </a:pPr>
            <a:r>
              <a:rPr lang="en-US" sz="1267">
                <a:solidFill>
                  <a:srgbClr val="000000"/>
                </a:solidFill>
                <a:latin typeface="Times New Roman"/>
                <a:ea typeface="Times New Roman"/>
                <a:cs typeface="Times New Roman"/>
                <a:sym typeface="Times New Roman"/>
              </a:rPr>
              <a:t>Myntra: 20% off, 3-day expiry, no minimum spend</a:t>
            </a:r>
          </a:p>
          <a:p>
            <a:pPr algn="l" marL="273716" indent="-136858" lvl="1">
              <a:lnSpc>
                <a:spcPts val="1521"/>
              </a:lnSpc>
              <a:buFont typeface="Arial"/>
              <a:buChar char="•"/>
            </a:pPr>
            <a:r>
              <a:rPr lang="en-US" sz="1267">
                <a:solidFill>
                  <a:srgbClr val="000000"/>
                </a:solidFill>
                <a:latin typeface="Times New Roman"/>
                <a:ea typeface="Times New Roman"/>
                <a:cs typeface="Times New Roman"/>
                <a:sym typeface="Times New Roman"/>
              </a:rPr>
              <a:t>Flipkart: ₹300 off, 1-day expiry, ₹500 minimum spend</a:t>
            </a:r>
          </a:p>
          <a:p>
            <a:pPr algn="l">
              <a:lnSpc>
                <a:spcPts val="1521"/>
              </a:lnSpc>
            </a:pPr>
          </a:p>
          <a:p>
            <a:pPr algn="l">
              <a:lnSpc>
                <a:spcPts val="1521"/>
              </a:lnSpc>
            </a:pPr>
            <a:r>
              <a:rPr lang="en-US" sz="1267">
                <a:solidFill>
                  <a:srgbClr val="000000"/>
                </a:solidFill>
                <a:latin typeface="Times New Roman"/>
                <a:ea typeface="Times New Roman"/>
                <a:cs typeface="Times New Roman"/>
                <a:sym typeface="Times New Roman"/>
              </a:rPr>
              <a:t>2. Add Customer Psychology:</a:t>
            </a:r>
          </a:p>
          <a:p>
            <a:pPr algn="l">
              <a:lnSpc>
                <a:spcPts val="1521"/>
              </a:lnSpc>
            </a:pPr>
            <a:r>
              <a:rPr lang="en-US" sz="1267">
                <a:solidFill>
                  <a:srgbClr val="000000"/>
                </a:solidFill>
                <a:latin typeface="Times New Roman"/>
                <a:ea typeface="Times New Roman"/>
                <a:cs typeface="Times New Roman"/>
                <a:sym typeface="Times New Roman"/>
              </a:rPr>
              <a:t> scores: ATT: 0.78, SM: 0.89, PBC: 0.97, INT: 0.95</a:t>
            </a:r>
          </a:p>
          <a:p>
            <a:pPr algn="l">
              <a:lnSpc>
                <a:spcPts val="1521"/>
              </a:lnSpc>
            </a:pPr>
          </a:p>
          <a:p>
            <a:pPr algn="l">
              <a:lnSpc>
                <a:spcPts val="1521"/>
              </a:lnSpc>
            </a:pPr>
            <a:r>
              <a:rPr lang="en-US" sz="1267">
                <a:solidFill>
                  <a:srgbClr val="000000"/>
                </a:solidFill>
                <a:latin typeface="Times New Roman"/>
                <a:ea typeface="Times New Roman"/>
                <a:cs typeface="Times New Roman"/>
                <a:sym typeface="Times New Roman"/>
              </a:rPr>
              <a:t>3.Add Preference Weights:</a:t>
            </a:r>
          </a:p>
          <a:p>
            <a:pPr algn="l">
              <a:lnSpc>
                <a:spcPts val="1521"/>
              </a:lnSpc>
            </a:pPr>
            <a:r>
              <a:rPr lang="en-US" sz="1267">
                <a:solidFill>
                  <a:srgbClr val="000000"/>
                </a:solidFill>
                <a:latin typeface="Times New Roman"/>
                <a:ea typeface="Times New Roman"/>
                <a:cs typeface="Times New Roman"/>
                <a:sym typeface="Times New Roman"/>
              </a:rPr>
              <a:t> What matters most to this customer:</a:t>
            </a:r>
          </a:p>
          <a:p>
            <a:pPr algn="l" marL="273716" indent="-136858" lvl="1">
              <a:lnSpc>
                <a:spcPts val="1521"/>
              </a:lnSpc>
              <a:buFont typeface="Arial"/>
              <a:buChar char="•"/>
            </a:pPr>
            <a:r>
              <a:rPr lang="en-US" sz="1267">
                <a:solidFill>
                  <a:srgbClr val="000000"/>
                </a:solidFill>
                <a:latin typeface="Times New Roman"/>
                <a:ea typeface="Times New Roman"/>
                <a:cs typeface="Times New Roman"/>
                <a:sym typeface="Times New Roman"/>
              </a:rPr>
              <a:t>Minimum Spend (27.7%)</a:t>
            </a:r>
          </a:p>
          <a:p>
            <a:pPr algn="l" marL="273716" indent="-136858" lvl="1">
              <a:lnSpc>
                <a:spcPts val="1521"/>
              </a:lnSpc>
              <a:buFont typeface="Arial"/>
              <a:buChar char="•"/>
            </a:pPr>
            <a:r>
              <a:rPr lang="en-US" sz="1267">
                <a:solidFill>
                  <a:srgbClr val="000000"/>
                </a:solidFill>
                <a:latin typeface="Times New Roman"/>
                <a:ea typeface="Times New Roman"/>
                <a:cs typeface="Times New Roman"/>
                <a:sym typeface="Times New Roman"/>
              </a:rPr>
              <a:t>Discount Type (26.9%)</a:t>
            </a:r>
          </a:p>
          <a:p>
            <a:pPr algn="l" marL="273716" indent="-136858" lvl="1">
              <a:lnSpc>
                <a:spcPts val="1521"/>
              </a:lnSpc>
              <a:spcBef>
                <a:spcPct val="0"/>
              </a:spcBef>
              <a:buFont typeface="Arial"/>
              <a:buChar char="•"/>
            </a:pPr>
            <a:r>
              <a:rPr lang="en-US" sz="1267">
                <a:solidFill>
                  <a:srgbClr val="000000"/>
                </a:solidFill>
                <a:latin typeface="Times New Roman"/>
                <a:ea typeface="Times New Roman"/>
                <a:cs typeface="Times New Roman"/>
                <a:sym typeface="Times New Roman"/>
              </a:rPr>
              <a:t>Expiry Time (26.0%)</a:t>
            </a:r>
          </a:p>
        </p:txBody>
      </p:sp>
      <p:sp>
        <p:nvSpPr>
          <p:cNvPr name="TextBox 16" id="16"/>
          <p:cNvSpPr txBox="true"/>
          <p:nvPr/>
        </p:nvSpPr>
        <p:spPr>
          <a:xfrm rot="0">
            <a:off x="5181288" y="6971200"/>
            <a:ext cx="385986"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11</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0" y="0"/>
            <a:ext cx="9753600" cy="7315200"/>
            <a:chOff x="0" y="0"/>
            <a:chExt cx="13004800" cy="9753600"/>
          </a:xfrm>
        </p:grpSpPr>
        <p:sp>
          <p:nvSpPr>
            <p:cNvPr name="Freeform 3" id="3"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3"/>
              <a:stretch>
                <a:fillRect l="0" t="0" r="0" b="0"/>
              </a:stretch>
            </a:blipFill>
          </p:spPr>
        </p:sp>
      </p:grpSp>
      <p:grpSp>
        <p:nvGrpSpPr>
          <p:cNvPr name="Group 4" id="4"/>
          <p:cNvGrpSpPr/>
          <p:nvPr/>
        </p:nvGrpSpPr>
        <p:grpSpPr>
          <a:xfrm rot="0">
            <a:off x="1863900" y="304031"/>
            <a:ext cx="1987665" cy="806119"/>
            <a:chOff x="0" y="0"/>
            <a:chExt cx="2650220" cy="1074826"/>
          </a:xfrm>
        </p:grpSpPr>
        <p:sp>
          <p:nvSpPr>
            <p:cNvPr name="Freeform 5" id="5"/>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6" id="6"/>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7" id="7"/>
          <p:cNvGrpSpPr/>
          <p:nvPr/>
        </p:nvGrpSpPr>
        <p:grpSpPr>
          <a:xfrm rot="0">
            <a:off x="1810327" y="299257"/>
            <a:ext cx="1950719" cy="806119"/>
            <a:chOff x="0" y="0"/>
            <a:chExt cx="2600959" cy="1074826"/>
          </a:xfrm>
        </p:grpSpPr>
        <p:sp>
          <p:nvSpPr>
            <p:cNvPr name="Freeform 8" id="8"/>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9" id="9"/>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0" id="10"/>
          <p:cNvGrpSpPr/>
          <p:nvPr/>
        </p:nvGrpSpPr>
        <p:grpSpPr>
          <a:xfrm rot="0">
            <a:off x="461195" y="1240441"/>
            <a:ext cx="8831209" cy="775062"/>
            <a:chOff x="0" y="0"/>
            <a:chExt cx="11774946" cy="1033417"/>
          </a:xfrm>
        </p:grpSpPr>
        <p:sp>
          <p:nvSpPr>
            <p:cNvPr name="Freeform 11" id="11"/>
            <p:cNvSpPr/>
            <p:nvPr/>
          </p:nvSpPr>
          <p:spPr>
            <a:xfrm flipH="false" flipV="false" rot="0">
              <a:off x="0" y="0"/>
              <a:ext cx="11774946" cy="1033417"/>
            </a:xfrm>
            <a:custGeom>
              <a:avLst/>
              <a:gdLst/>
              <a:ahLst/>
              <a:cxnLst/>
              <a:rect r="r" b="b" t="t" l="l"/>
              <a:pathLst>
                <a:path h="1033417" w="11774946">
                  <a:moveTo>
                    <a:pt x="0" y="0"/>
                  </a:moveTo>
                  <a:lnTo>
                    <a:pt x="11774946" y="0"/>
                  </a:lnTo>
                  <a:lnTo>
                    <a:pt x="11774946" y="1033417"/>
                  </a:lnTo>
                  <a:lnTo>
                    <a:pt x="0" y="1033417"/>
                  </a:lnTo>
                  <a:close/>
                </a:path>
              </a:pathLst>
            </a:custGeom>
          </p:spPr>
        </p:sp>
        <p:sp>
          <p:nvSpPr>
            <p:cNvPr name="TextBox 12" id="12"/>
            <p:cNvSpPr txBox="true"/>
            <p:nvPr/>
          </p:nvSpPr>
          <p:spPr>
            <a:xfrm>
              <a:off x="0" y="-28575"/>
              <a:ext cx="11774946" cy="1061992"/>
            </a:xfrm>
            <a:prstGeom prst="rect">
              <a:avLst/>
            </a:prstGeom>
          </p:spPr>
          <p:txBody>
            <a:bodyPr anchor="ctr" rtlCol="false" tIns="0" lIns="0" bIns="0" rIns="0"/>
            <a:lstStyle/>
            <a:p>
              <a:pPr algn="ctr">
                <a:lnSpc>
                  <a:spcPts val="3600"/>
                </a:lnSpc>
              </a:pPr>
              <a:r>
                <a:rPr lang="en-US" b="true" sz="3000">
                  <a:solidFill>
                    <a:srgbClr val="000000"/>
                  </a:solidFill>
                  <a:latin typeface="Times New Roman Bold"/>
                  <a:ea typeface="Times New Roman Bold"/>
                  <a:cs typeface="Times New Roman Bold"/>
                  <a:sym typeface="Times New Roman Bold"/>
                </a:rPr>
                <a:t>Output: Predicted Conversion Probabilities</a:t>
              </a:r>
            </a:p>
          </p:txBody>
        </p:sp>
      </p:grpSp>
      <p:sp>
        <p:nvSpPr>
          <p:cNvPr name="Freeform 13" id="13"/>
          <p:cNvSpPr/>
          <p:nvPr/>
        </p:nvSpPr>
        <p:spPr>
          <a:xfrm flipH="false" flipV="false" rot="0">
            <a:off x="1810327" y="2145794"/>
            <a:ext cx="5736439" cy="4801495"/>
          </a:xfrm>
          <a:custGeom>
            <a:avLst/>
            <a:gdLst/>
            <a:ahLst/>
            <a:cxnLst/>
            <a:rect r="r" b="b" t="t" l="l"/>
            <a:pathLst>
              <a:path h="4801495" w="5736439">
                <a:moveTo>
                  <a:pt x="0" y="0"/>
                </a:moveTo>
                <a:lnTo>
                  <a:pt x="5736440" y="0"/>
                </a:lnTo>
                <a:lnTo>
                  <a:pt x="5736440" y="4801494"/>
                </a:lnTo>
                <a:lnTo>
                  <a:pt x="0" y="4801494"/>
                </a:lnTo>
                <a:lnTo>
                  <a:pt x="0" y="0"/>
                </a:lnTo>
                <a:close/>
              </a:path>
            </a:pathLst>
          </a:custGeom>
          <a:blipFill>
            <a:blip r:embed="rId4"/>
            <a:stretch>
              <a:fillRect l="0" t="0" r="0" b="0"/>
            </a:stretch>
          </a:blipFill>
          <a:ln w="19050" cap="sq">
            <a:solidFill>
              <a:srgbClr val="000000"/>
            </a:solidFill>
            <a:prstDash val="solid"/>
            <a:miter/>
          </a:ln>
        </p:spPr>
      </p:sp>
      <p:sp>
        <p:nvSpPr>
          <p:cNvPr name="TextBox 14" id="14"/>
          <p:cNvSpPr txBox="true"/>
          <p:nvPr/>
        </p:nvSpPr>
        <p:spPr>
          <a:xfrm rot="0">
            <a:off x="4485322" y="6928238"/>
            <a:ext cx="391478" cy="200025"/>
          </a:xfrm>
          <a:prstGeom prst="rect">
            <a:avLst/>
          </a:prstGeom>
        </p:spPr>
        <p:txBody>
          <a:bodyPr anchor="t" rtlCol="false" tIns="0" lIns="0" bIns="0" rIns="0">
            <a:spAutoFit/>
          </a:bodyPr>
          <a:lstStyle/>
          <a:p>
            <a:pPr algn="ctr">
              <a:lnSpc>
                <a:spcPts val="1432"/>
              </a:lnSpc>
              <a:spcBef>
                <a:spcPct val="0"/>
              </a:spcBef>
            </a:pPr>
            <a:r>
              <a:rPr lang="en-US" sz="1193">
                <a:solidFill>
                  <a:srgbClr val="0F1115"/>
                </a:solidFill>
                <a:latin typeface="Times New Roman"/>
                <a:ea typeface="Times New Roman"/>
                <a:cs typeface="Times New Roman"/>
                <a:sym typeface="Times New Roman"/>
              </a:rPr>
              <a:t>Fig 12</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1" id="11"/>
          <p:cNvGrpSpPr/>
          <p:nvPr/>
        </p:nvGrpSpPr>
        <p:grpSpPr>
          <a:xfrm rot="0">
            <a:off x="844848" y="1354009"/>
            <a:ext cx="8063904" cy="775062"/>
            <a:chOff x="0" y="0"/>
            <a:chExt cx="10751872" cy="1033417"/>
          </a:xfrm>
        </p:grpSpPr>
        <p:sp>
          <p:nvSpPr>
            <p:cNvPr name="Freeform 12" id="12"/>
            <p:cNvSpPr/>
            <p:nvPr/>
          </p:nvSpPr>
          <p:spPr>
            <a:xfrm flipH="false" flipV="false" rot="0">
              <a:off x="0" y="0"/>
              <a:ext cx="10751872" cy="1033417"/>
            </a:xfrm>
            <a:custGeom>
              <a:avLst/>
              <a:gdLst/>
              <a:ahLst/>
              <a:cxnLst/>
              <a:rect r="r" b="b" t="t" l="l"/>
              <a:pathLst>
                <a:path h="1033417" w="10751872">
                  <a:moveTo>
                    <a:pt x="0" y="0"/>
                  </a:moveTo>
                  <a:lnTo>
                    <a:pt x="10751872" y="0"/>
                  </a:lnTo>
                  <a:lnTo>
                    <a:pt x="10751872" y="1033417"/>
                  </a:lnTo>
                  <a:lnTo>
                    <a:pt x="0" y="1033417"/>
                  </a:lnTo>
                  <a:close/>
                </a:path>
              </a:pathLst>
            </a:custGeom>
          </p:spPr>
        </p:sp>
        <p:sp>
          <p:nvSpPr>
            <p:cNvPr name="TextBox 13" id="13"/>
            <p:cNvSpPr txBox="true"/>
            <p:nvPr/>
          </p:nvSpPr>
          <p:spPr>
            <a:xfrm>
              <a:off x="0" y="-28575"/>
              <a:ext cx="10751872" cy="1061992"/>
            </a:xfrm>
            <a:prstGeom prst="rect">
              <a:avLst/>
            </a:prstGeom>
          </p:spPr>
          <p:txBody>
            <a:bodyPr anchor="ctr" rtlCol="false" tIns="0" lIns="0" bIns="0" rIns="0"/>
            <a:lstStyle/>
            <a:p>
              <a:pPr algn="ctr">
                <a:lnSpc>
                  <a:spcPts val="4320"/>
                </a:lnSpc>
              </a:pPr>
              <a:r>
                <a:rPr lang="en-US" b="true" sz="3600">
                  <a:solidFill>
                    <a:srgbClr val="000000"/>
                  </a:solidFill>
                  <a:latin typeface="Times New Roman Bold"/>
                  <a:ea typeface="Times New Roman Bold"/>
                  <a:cs typeface="Times New Roman Bold"/>
                  <a:sym typeface="Times New Roman Bold"/>
                </a:rPr>
                <a:t>Interpretation and Conclusions</a:t>
              </a:r>
            </a:p>
          </p:txBody>
        </p:sp>
      </p:grpSp>
      <p:sp>
        <p:nvSpPr>
          <p:cNvPr name="TextBox 14" id="14"/>
          <p:cNvSpPr txBox="true"/>
          <p:nvPr/>
        </p:nvSpPr>
        <p:spPr>
          <a:xfrm rot="0">
            <a:off x="530217" y="2245410"/>
            <a:ext cx="8693166" cy="4591050"/>
          </a:xfrm>
          <a:prstGeom prst="rect">
            <a:avLst/>
          </a:prstGeom>
        </p:spPr>
        <p:txBody>
          <a:bodyPr anchor="t" rtlCol="false" tIns="0" lIns="0" bIns="0" rIns="0">
            <a:spAutoFit/>
          </a:bodyPr>
          <a:lstStyle/>
          <a:p>
            <a:pPr algn="l">
              <a:lnSpc>
                <a:spcPts val="2412"/>
              </a:lnSpc>
              <a:spcBef>
                <a:spcPct val="0"/>
              </a:spcBef>
            </a:pPr>
            <a:r>
              <a:rPr lang="en-US" b="true" sz="2010">
                <a:solidFill>
                  <a:srgbClr val="000000"/>
                </a:solidFill>
                <a:latin typeface="Times New Roman Bold"/>
                <a:ea typeface="Times New Roman Bold"/>
                <a:cs typeface="Times New Roman Bold"/>
                <a:sym typeface="Times New Roman Bold"/>
              </a:rPr>
              <a:t>1. Defining the Optimal Disc</a:t>
            </a:r>
            <a:r>
              <a:rPr lang="en-US" b="true" sz="2010">
                <a:solidFill>
                  <a:srgbClr val="000000"/>
                </a:solidFill>
                <a:latin typeface="Times New Roman Bold"/>
                <a:ea typeface="Times New Roman Bold"/>
                <a:cs typeface="Times New Roman Bold"/>
                <a:sym typeface="Times New Roman Bold"/>
              </a:rPr>
              <a:t>ount Product </a:t>
            </a:r>
          </a:p>
          <a:p>
            <a:pPr algn="l">
              <a:lnSpc>
                <a:spcPts val="2412"/>
              </a:lnSpc>
              <a:spcBef>
                <a:spcPct val="0"/>
              </a:spcBef>
            </a:pPr>
            <a:r>
              <a:rPr lang="en-US" sz="2010">
                <a:solidFill>
                  <a:srgbClr val="000000"/>
                </a:solidFill>
                <a:latin typeface="Times New Roman"/>
                <a:ea typeface="Times New Roman"/>
                <a:cs typeface="Times New Roman"/>
                <a:sym typeface="Times New Roman"/>
              </a:rPr>
              <a:t>Marketers can use the Conjoint Analysis (CA) results to design the base parameters of the offer, ensuring it captures maximum initial customer preference.</a:t>
            </a:r>
          </a:p>
          <a:p>
            <a:pPr algn="l">
              <a:lnSpc>
                <a:spcPts val="2412"/>
              </a:lnSpc>
              <a:spcBef>
                <a:spcPct val="0"/>
              </a:spcBef>
            </a:pPr>
          </a:p>
          <a:p>
            <a:pPr algn="l">
              <a:lnSpc>
                <a:spcPts val="2412"/>
              </a:lnSpc>
              <a:spcBef>
                <a:spcPct val="0"/>
              </a:spcBef>
            </a:pPr>
            <a:r>
              <a:rPr lang="en-US" b="true" sz="2010">
                <a:solidFill>
                  <a:srgbClr val="000000"/>
                </a:solidFill>
                <a:latin typeface="Times New Roman Bold"/>
                <a:ea typeface="Times New Roman Bold"/>
                <a:cs typeface="Times New Roman Bold"/>
                <a:sym typeface="Times New Roman Bold"/>
              </a:rPr>
              <a:t>2.</a:t>
            </a:r>
            <a:r>
              <a:rPr lang="en-US" sz="2010">
                <a:solidFill>
                  <a:srgbClr val="000000"/>
                </a:solidFill>
                <a:latin typeface="Times New Roman"/>
                <a:ea typeface="Times New Roman"/>
                <a:cs typeface="Times New Roman"/>
                <a:sym typeface="Times New Roman"/>
              </a:rPr>
              <a:t> </a:t>
            </a:r>
            <a:r>
              <a:rPr lang="en-US" b="true" sz="2010">
                <a:solidFill>
                  <a:srgbClr val="000000"/>
                </a:solidFill>
                <a:latin typeface="Times New Roman Bold"/>
                <a:ea typeface="Times New Roman Bold"/>
                <a:cs typeface="Times New Roman Bold"/>
                <a:sym typeface="Times New Roman Bold"/>
              </a:rPr>
              <a:t>Utilising Psychological Triggers </a:t>
            </a:r>
          </a:p>
          <a:p>
            <a:pPr algn="l">
              <a:lnSpc>
                <a:spcPts val="2412"/>
              </a:lnSpc>
              <a:spcBef>
                <a:spcPct val="0"/>
              </a:spcBef>
            </a:pPr>
            <a:r>
              <a:rPr lang="en-US" sz="2010">
                <a:solidFill>
                  <a:srgbClr val="000000"/>
                </a:solidFill>
                <a:latin typeface="Times New Roman"/>
                <a:ea typeface="Times New Roman"/>
                <a:cs typeface="Times New Roman"/>
                <a:sym typeface="Times New Roman"/>
              </a:rPr>
              <a:t>The Structural Equation Modelling (SEM) results explain why consumers convert their preference into action. Marketers must target these psychological levers to push customers from initial interest (Conjoint Analysis) to purchase commitment (Logistic Regression).</a:t>
            </a:r>
          </a:p>
          <a:p>
            <a:pPr algn="l">
              <a:lnSpc>
                <a:spcPts val="2412"/>
              </a:lnSpc>
              <a:spcBef>
                <a:spcPct val="0"/>
              </a:spcBef>
            </a:pPr>
          </a:p>
          <a:p>
            <a:pPr algn="l">
              <a:lnSpc>
                <a:spcPts val="2412"/>
              </a:lnSpc>
              <a:spcBef>
                <a:spcPct val="0"/>
              </a:spcBef>
            </a:pPr>
            <a:r>
              <a:rPr lang="en-US" b="true" sz="2010">
                <a:solidFill>
                  <a:srgbClr val="000000"/>
                </a:solidFill>
                <a:latin typeface="Times New Roman Bold"/>
                <a:ea typeface="Times New Roman Bold"/>
                <a:cs typeface="Times New Roman Bold"/>
                <a:sym typeface="Times New Roman Bold"/>
              </a:rPr>
              <a:t>3. Personalising Actionable Segments </a:t>
            </a:r>
          </a:p>
          <a:p>
            <a:pPr algn="l">
              <a:lnSpc>
                <a:spcPts val="2412"/>
              </a:lnSpc>
              <a:spcBef>
                <a:spcPct val="0"/>
              </a:spcBef>
            </a:pPr>
            <a:r>
              <a:rPr lang="en-US" sz="2010">
                <a:solidFill>
                  <a:srgbClr val="000000"/>
                </a:solidFill>
                <a:latin typeface="Times New Roman"/>
                <a:ea typeface="Times New Roman"/>
                <a:cs typeface="Times New Roman"/>
                <a:sym typeface="Times New Roman"/>
              </a:rPr>
              <a:t>The clustering stage moves the marketer beyond aggregate data analysis by creating three statistically distinct and meaningful consumer segments based on unique psychological profiles and preference priorities.</a:t>
            </a:r>
          </a:p>
          <a:p>
            <a:pPr algn="l">
              <a:lnSpc>
                <a:spcPts val="2412"/>
              </a:lnSpc>
              <a:spcBef>
                <a:spcPct val="0"/>
              </a:spcBef>
            </a:pP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1" id="11"/>
          <p:cNvGrpSpPr/>
          <p:nvPr/>
        </p:nvGrpSpPr>
        <p:grpSpPr>
          <a:xfrm rot="0">
            <a:off x="844848" y="1110150"/>
            <a:ext cx="8063904" cy="775062"/>
            <a:chOff x="0" y="0"/>
            <a:chExt cx="10751872" cy="1033417"/>
          </a:xfrm>
        </p:grpSpPr>
        <p:sp>
          <p:nvSpPr>
            <p:cNvPr name="Freeform 12" id="12"/>
            <p:cNvSpPr/>
            <p:nvPr/>
          </p:nvSpPr>
          <p:spPr>
            <a:xfrm flipH="false" flipV="false" rot="0">
              <a:off x="0" y="0"/>
              <a:ext cx="10751872" cy="1033417"/>
            </a:xfrm>
            <a:custGeom>
              <a:avLst/>
              <a:gdLst/>
              <a:ahLst/>
              <a:cxnLst/>
              <a:rect r="r" b="b" t="t" l="l"/>
              <a:pathLst>
                <a:path h="1033417" w="10751872">
                  <a:moveTo>
                    <a:pt x="0" y="0"/>
                  </a:moveTo>
                  <a:lnTo>
                    <a:pt x="10751872" y="0"/>
                  </a:lnTo>
                  <a:lnTo>
                    <a:pt x="10751872" y="1033417"/>
                  </a:lnTo>
                  <a:lnTo>
                    <a:pt x="0" y="1033417"/>
                  </a:lnTo>
                  <a:close/>
                </a:path>
              </a:pathLst>
            </a:custGeom>
          </p:spPr>
        </p:sp>
        <p:sp>
          <p:nvSpPr>
            <p:cNvPr name="TextBox 13" id="13"/>
            <p:cNvSpPr txBox="true"/>
            <p:nvPr/>
          </p:nvSpPr>
          <p:spPr>
            <a:xfrm>
              <a:off x="0" y="-28575"/>
              <a:ext cx="10751872" cy="1061992"/>
            </a:xfrm>
            <a:prstGeom prst="rect">
              <a:avLst/>
            </a:prstGeom>
          </p:spPr>
          <p:txBody>
            <a:bodyPr anchor="ctr" rtlCol="false" tIns="0" lIns="0" bIns="0" rIns="0"/>
            <a:lstStyle/>
            <a:p>
              <a:pPr algn="ctr">
                <a:lnSpc>
                  <a:spcPts val="4320"/>
                </a:lnSpc>
              </a:pPr>
              <a:r>
                <a:rPr lang="en-US" b="true" sz="3600">
                  <a:solidFill>
                    <a:srgbClr val="000000"/>
                  </a:solidFill>
                  <a:latin typeface="Times New Roman Bold"/>
                  <a:ea typeface="Times New Roman Bold"/>
                  <a:cs typeface="Times New Roman Bold"/>
                  <a:sym typeface="Times New Roman Bold"/>
                </a:rPr>
                <a:t>Limitations</a:t>
              </a:r>
            </a:p>
          </p:txBody>
        </p:sp>
      </p:grpSp>
      <p:sp>
        <p:nvSpPr>
          <p:cNvPr name="TextBox 14" id="14"/>
          <p:cNvSpPr txBox="true"/>
          <p:nvPr/>
        </p:nvSpPr>
        <p:spPr>
          <a:xfrm rot="0">
            <a:off x="633638" y="1875688"/>
            <a:ext cx="8388442" cy="5200650"/>
          </a:xfrm>
          <a:prstGeom prst="rect">
            <a:avLst/>
          </a:prstGeom>
        </p:spPr>
        <p:txBody>
          <a:bodyPr anchor="t" rtlCol="false" tIns="0" lIns="0" bIns="0" rIns="0">
            <a:spAutoFit/>
          </a:bodyPr>
          <a:lstStyle/>
          <a:p>
            <a:pPr algn="l" marL="433959" indent="-216980" lvl="1">
              <a:lnSpc>
                <a:spcPts val="2412"/>
              </a:lnSpc>
              <a:buFont typeface="Arial"/>
              <a:buChar char="•"/>
            </a:pPr>
            <a:r>
              <a:rPr lang="en-US" sz="2010">
                <a:solidFill>
                  <a:srgbClr val="000000"/>
                </a:solidFill>
                <a:latin typeface="Times New Roman"/>
                <a:ea typeface="Times New Roman"/>
                <a:cs typeface="Times New Roman"/>
                <a:sym typeface="Times New Roman"/>
              </a:rPr>
              <a:t>The study identified that the construct measuring </a:t>
            </a:r>
            <a:r>
              <a:rPr lang="en-US" sz="2010">
                <a:solidFill>
                  <a:srgbClr val="000000"/>
                </a:solidFill>
                <a:latin typeface="Times New Roman"/>
                <a:ea typeface="Times New Roman"/>
                <a:cs typeface="Times New Roman"/>
                <a:sym typeface="Times New Roman"/>
              </a:rPr>
              <a:t>Actual Behaviour (BEH) had low reliability (</a:t>
            </a:r>
            <a:r>
              <a:rPr lang="en-US" sz="2010" i="true">
                <a:solidFill>
                  <a:srgbClr val="000000"/>
                </a:solidFill>
                <a:latin typeface="Times New Roman Italics"/>
                <a:ea typeface="Times New Roman Italics"/>
                <a:cs typeface="Times New Roman Italics"/>
                <a:sym typeface="Times New Roman Italics"/>
              </a:rPr>
              <a:t>α </a:t>
            </a:r>
            <a:r>
              <a:rPr lang="en-US" sz="2010">
                <a:solidFill>
                  <a:srgbClr val="000000"/>
                </a:solidFill>
                <a:latin typeface="Times New Roman"/>
                <a:ea typeface="Times New Roman"/>
                <a:cs typeface="Times New Roman"/>
                <a:sym typeface="Times New Roman"/>
              </a:rPr>
              <a:t>= 0.427). This low reliability is noted as a common challenge when measuring self reported behaviour with limited items</a:t>
            </a:r>
          </a:p>
          <a:p>
            <a:pPr algn="l">
              <a:lnSpc>
                <a:spcPts val="2412"/>
              </a:lnSpc>
            </a:pPr>
          </a:p>
          <a:p>
            <a:pPr algn="l" marL="433959" indent="-216980" lvl="1">
              <a:lnSpc>
                <a:spcPts val="2412"/>
              </a:lnSpc>
              <a:buFont typeface="Arial"/>
              <a:buChar char="•"/>
            </a:pPr>
            <a:r>
              <a:rPr lang="en-US" sz="2010">
                <a:solidFill>
                  <a:srgbClr val="000000"/>
                </a:solidFill>
                <a:latin typeface="Times New Roman"/>
                <a:ea typeface="Times New Roman"/>
                <a:cs typeface="Times New Roman"/>
                <a:sym typeface="Times New Roman"/>
              </a:rPr>
              <a:t>The three consumer tribes were identified from a specific, geographically and demographically bounded sample (predominantly 18 to 24 year olds, highly educated). Their stability over time and generalisability to other markets (e.g., different age groups or cultures) is not yet proven.</a:t>
            </a:r>
          </a:p>
          <a:p>
            <a:pPr algn="l">
              <a:lnSpc>
                <a:spcPts val="2412"/>
              </a:lnSpc>
            </a:pPr>
          </a:p>
          <a:p>
            <a:pPr algn="l" marL="433959" indent="-216980" lvl="1">
              <a:lnSpc>
                <a:spcPts val="2412"/>
              </a:lnSpc>
              <a:buFont typeface="Arial"/>
              <a:buChar char="•"/>
            </a:pPr>
            <a:r>
              <a:rPr lang="en-US" sz="2010">
                <a:solidFill>
                  <a:srgbClr val="000000"/>
                </a:solidFill>
                <a:latin typeface="Times New Roman"/>
                <a:ea typeface="Times New Roman"/>
                <a:cs typeface="Times New Roman"/>
                <a:sym typeface="Times New Roman"/>
              </a:rPr>
              <a:t>The results showed a crucial distinction between preference and action: Conjoint importance scores for attributes like "Minimum Spend" and "Expiry" determined initial preference, but had coefficients effectively equal to zero in predicting final purchase behavior</a:t>
            </a:r>
          </a:p>
          <a:p>
            <a:pPr algn="l">
              <a:lnSpc>
                <a:spcPts val="2412"/>
              </a:lnSpc>
            </a:pPr>
          </a:p>
          <a:p>
            <a:pPr algn="l" marL="433959" indent="-216980" lvl="1">
              <a:lnSpc>
                <a:spcPts val="2412"/>
              </a:lnSpc>
              <a:spcBef>
                <a:spcPct val="0"/>
              </a:spcBef>
              <a:buFont typeface="Arial"/>
              <a:buChar char="•"/>
            </a:pPr>
            <a:r>
              <a:rPr lang="en-US" sz="2010">
                <a:solidFill>
                  <a:srgbClr val="000000"/>
                </a:solidFill>
                <a:latin typeface="Times New Roman"/>
                <a:ea typeface="Times New Roman"/>
                <a:cs typeface="Times New Roman"/>
                <a:sym typeface="Times New Roman"/>
              </a:rPr>
              <a:t>The Logistic Regression model achieved high accuracy (89.5%), but this performance may be slightly inflated due to smaller sample size (253 responses)</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1" id="11"/>
          <p:cNvGrpSpPr/>
          <p:nvPr/>
        </p:nvGrpSpPr>
        <p:grpSpPr>
          <a:xfrm rot="0">
            <a:off x="2477029" y="1105376"/>
            <a:ext cx="4799541" cy="775062"/>
            <a:chOff x="0" y="0"/>
            <a:chExt cx="6399388" cy="1033417"/>
          </a:xfrm>
        </p:grpSpPr>
        <p:sp>
          <p:nvSpPr>
            <p:cNvPr name="Freeform 12" id="12"/>
            <p:cNvSpPr/>
            <p:nvPr/>
          </p:nvSpPr>
          <p:spPr>
            <a:xfrm flipH="false" flipV="false" rot="0">
              <a:off x="0" y="0"/>
              <a:ext cx="6399388" cy="1033417"/>
            </a:xfrm>
            <a:custGeom>
              <a:avLst/>
              <a:gdLst/>
              <a:ahLst/>
              <a:cxnLst/>
              <a:rect r="r" b="b" t="t" l="l"/>
              <a:pathLst>
                <a:path h="1033417" w="6399388">
                  <a:moveTo>
                    <a:pt x="0" y="0"/>
                  </a:moveTo>
                  <a:lnTo>
                    <a:pt x="6399388" y="0"/>
                  </a:lnTo>
                  <a:lnTo>
                    <a:pt x="6399388" y="1033417"/>
                  </a:lnTo>
                  <a:lnTo>
                    <a:pt x="0" y="1033417"/>
                  </a:lnTo>
                  <a:close/>
                </a:path>
              </a:pathLst>
            </a:custGeom>
          </p:spPr>
        </p:sp>
        <p:sp>
          <p:nvSpPr>
            <p:cNvPr name="TextBox 13" id="13"/>
            <p:cNvSpPr txBox="true"/>
            <p:nvPr/>
          </p:nvSpPr>
          <p:spPr>
            <a:xfrm>
              <a:off x="0" y="-28575"/>
              <a:ext cx="6399388" cy="1061992"/>
            </a:xfrm>
            <a:prstGeom prst="rect">
              <a:avLst/>
            </a:prstGeom>
          </p:spPr>
          <p:txBody>
            <a:bodyPr anchor="ctr" rtlCol="false" tIns="0" lIns="0" bIns="0" rIns="0"/>
            <a:lstStyle/>
            <a:p>
              <a:pPr algn="ctr">
                <a:lnSpc>
                  <a:spcPts val="4320"/>
                </a:lnSpc>
              </a:pPr>
              <a:r>
                <a:rPr lang="en-US" b="true" sz="3600">
                  <a:solidFill>
                    <a:srgbClr val="000000"/>
                  </a:solidFill>
                  <a:latin typeface="Times New Roman Bold"/>
                  <a:ea typeface="Times New Roman Bold"/>
                  <a:cs typeface="Times New Roman Bold"/>
                  <a:sym typeface="Times New Roman Bold"/>
                </a:rPr>
                <a:t>Future Scope</a:t>
              </a:r>
            </a:p>
          </p:txBody>
        </p:sp>
      </p:grpSp>
      <p:sp>
        <p:nvSpPr>
          <p:cNvPr name="TextBox 14" id="14"/>
          <p:cNvSpPr txBox="true"/>
          <p:nvPr/>
        </p:nvSpPr>
        <p:spPr>
          <a:xfrm rot="0">
            <a:off x="960323" y="1861388"/>
            <a:ext cx="7832955" cy="5200650"/>
          </a:xfrm>
          <a:prstGeom prst="rect">
            <a:avLst/>
          </a:prstGeom>
        </p:spPr>
        <p:txBody>
          <a:bodyPr anchor="t" rtlCol="false" tIns="0" lIns="0" bIns="0" rIns="0">
            <a:spAutoFit/>
          </a:bodyPr>
          <a:lstStyle/>
          <a:p>
            <a:pPr algn="l" marL="433959" indent="-216980" lvl="1">
              <a:lnSpc>
                <a:spcPts val="2412"/>
              </a:lnSpc>
              <a:buFont typeface="Arial"/>
              <a:buChar char="•"/>
            </a:pPr>
            <a:r>
              <a:rPr lang="en-US" sz="2010">
                <a:solidFill>
                  <a:srgbClr val="000000"/>
                </a:solidFill>
                <a:latin typeface="Times New Roman"/>
                <a:ea typeface="Times New Roman"/>
                <a:cs typeface="Times New Roman"/>
                <a:sym typeface="Times New Roman"/>
              </a:rPr>
              <a:t>Integrate the model with live e-commerce platforms. Use the clustering </a:t>
            </a:r>
            <a:r>
              <a:rPr lang="en-US" sz="2010">
                <a:solidFill>
                  <a:srgbClr val="000000"/>
                </a:solidFill>
                <a:latin typeface="Times New Roman"/>
                <a:ea typeface="Times New Roman"/>
                <a:cs typeface="Times New Roman"/>
                <a:sym typeface="Times New Roman"/>
              </a:rPr>
              <a:t>and logistic regression model to segment users in real-time based on their browsing behavior and past purchases, moving beyond survey-based ‘BEH’ to actual clickstream and conversion data.</a:t>
            </a:r>
          </a:p>
          <a:p>
            <a:pPr algn="l">
              <a:lnSpc>
                <a:spcPts val="2412"/>
              </a:lnSpc>
            </a:pPr>
          </a:p>
          <a:p>
            <a:pPr algn="l" marL="433959" indent="-216980" lvl="1">
              <a:lnSpc>
                <a:spcPts val="2412"/>
              </a:lnSpc>
              <a:buFont typeface="Arial"/>
              <a:buChar char="•"/>
            </a:pPr>
            <a:r>
              <a:rPr lang="en-US" sz="2010">
                <a:solidFill>
                  <a:srgbClr val="000000"/>
                </a:solidFill>
                <a:latin typeface="Times New Roman"/>
                <a:ea typeface="Times New Roman"/>
                <a:cs typeface="Times New Roman"/>
                <a:sym typeface="Times New Roman"/>
              </a:rPr>
              <a:t>Develop a system that uses the cluster assignment and conjoint utilities of a logged-in user to dynamically generate and display their "perfect" discount deal in real-time.</a:t>
            </a:r>
          </a:p>
          <a:p>
            <a:pPr algn="l">
              <a:lnSpc>
                <a:spcPts val="2412"/>
              </a:lnSpc>
            </a:pPr>
          </a:p>
          <a:p>
            <a:pPr algn="l" marL="433959" indent="-216980" lvl="1">
              <a:lnSpc>
                <a:spcPts val="2412"/>
              </a:lnSpc>
              <a:buFont typeface="Arial"/>
              <a:buChar char="•"/>
            </a:pPr>
            <a:r>
              <a:rPr lang="en-US" sz="2010">
                <a:solidFill>
                  <a:srgbClr val="000000"/>
                </a:solidFill>
                <a:latin typeface="Times New Roman"/>
                <a:ea typeface="Times New Roman"/>
                <a:cs typeface="Times New Roman"/>
                <a:sym typeface="Times New Roman"/>
              </a:rPr>
              <a:t>Conduct a follow-up study incorporating the most influential attributes from this research (e.g., Minimum Spend) with new ones, such as "Product Category" or "Payment Method Discounts," to build a more comprehensive preference model.</a:t>
            </a:r>
          </a:p>
          <a:p>
            <a:pPr algn="l">
              <a:lnSpc>
                <a:spcPts val="2412"/>
              </a:lnSpc>
            </a:pPr>
          </a:p>
          <a:p>
            <a:pPr algn="l" marL="433959" indent="-216980" lvl="1">
              <a:lnSpc>
                <a:spcPts val="2412"/>
              </a:lnSpc>
              <a:buFont typeface="Arial"/>
              <a:buChar char="•"/>
            </a:pPr>
            <a:r>
              <a:rPr lang="en-US" sz="2010">
                <a:solidFill>
                  <a:srgbClr val="000000"/>
                </a:solidFill>
                <a:latin typeface="Times New Roman"/>
                <a:ea typeface="Times New Roman"/>
                <a:cs typeface="Times New Roman"/>
                <a:sym typeface="Times New Roman"/>
              </a:rPr>
              <a:t>Track the same cohort of respondents over time to see if their cluster membership changes based on life events, economic shifts, or marketing exposure. This tests the stability of the segments.</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1" id="11"/>
          <p:cNvGrpSpPr/>
          <p:nvPr/>
        </p:nvGrpSpPr>
        <p:grpSpPr>
          <a:xfrm rot="0">
            <a:off x="2477029" y="1102801"/>
            <a:ext cx="4799541" cy="775062"/>
            <a:chOff x="0" y="0"/>
            <a:chExt cx="6399388" cy="1033417"/>
          </a:xfrm>
        </p:grpSpPr>
        <p:sp>
          <p:nvSpPr>
            <p:cNvPr name="Freeform 12" id="12"/>
            <p:cNvSpPr/>
            <p:nvPr/>
          </p:nvSpPr>
          <p:spPr>
            <a:xfrm flipH="false" flipV="false" rot="0">
              <a:off x="0" y="0"/>
              <a:ext cx="6399388" cy="1033417"/>
            </a:xfrm>
            <a:custGeom>
              <a:avLst/>
              <a:gdLst/>
              <a:ahLst/>
              <a:cxnLst/>
              <a:rect r="r" b="b" t="t" l="l"/>
              <a:pathLst>
                <a:path h="1033417" w="6399388">
                  <a:moveTo>
                    <a:pt x="0" y="0"/>
                  </a:moveTo>
                  <a:lnTo>
                    <a:pt x="6399388" y="0"/>
                  </a:lnTo>
                  <a:lnTo>
                    <a:pt x="6399388" y="1033417"/>
                  </a:lnTo>
                  <a:lnTo>
                    <a:pt x="0" y="1033417"/>
                  </a:lnTo>
                  <a:close/>
                </a:path>
              </a:pathLst>
            </a:custGeom>
          </p:spPr>
        </p:sp>
        <p:sp>
          <p:nvSpPr>
            <p:cNvPr name="TextBox 13" id="13"/>
            <p:cNvSpPr txBox="true"/>
            <p:nvPr/>
          </p:nvSpPr>
          <p:spPr>
            <a:xfrm>
              <a:off x="0" y="-28575"/>
              <a:ext cx="6399388" cy="1061992"/>
            </a:xfrm>
            <a:prstGeom prst="rect">
              <a:avLst/>
            </a:prstGeom>
          </p:spPr>
          <p:txBody>
            <a:bodyPr anchor="ctr" rtlCol="false" tIns="0" lIns="0" bIns="0" rIns="0"/>
            <a:lstStyle/>
            <a:p>
              <a:pPr algn="ctr">
                <a:lnSpc>
                  <a:spcPts val="4320"/>
                </a:lnSpc>
              </a:pPr>
              <a:r>
                <a:rPr lang="en-US" b="true" sz="3600">
                  <a:solidFill>
                    <a:srgbClr val="000000"/>
                  </a:solidFill>
                  <a:latin typeface="Times New Roman Bold"/>
                  <a:ea typeface="Times New Roman Bold"/>
                  <a:cs typeface="Times New Roman Bold"/>
                  <a:sym typeface="Times New Roman Bold"/>
                </a:rPr>
                <a:t>References</a:t>
              </a:r>
            </a:p>
          </p:txBody>
        </p:sp>
      </p:grpSp>
      <p:sp>
        <p:nvSpPr>
          <p:cNvPr name="TextBox 14" id="14"/>
          <p:cNvSpPr txBox="true"/>
          <p:nvPr/>
        </p:nvSpPr>
        <p:spPr>
          <a:xfrm rot="0">
            <a:off x="731520" y="1858814"/>
            <a:ext cx="8290560" cy="5152651"/>
          </a:xfrm>
          <a:prstGeom prst="rect">
            <a:avLst/>
          </a:prstGeom>
        </p:spPr>
        <p:txBody>
          <a:bodyPr anchor="t" rtlCol="false" tIns="0" lIns="0" bIns="0" rIns="0">
            <a:spAutoFit/>
          </a:bodyPr>
          <a:lstStyle/>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Wang, C. H., &amp;amp; Wu, C. W. (2014). Combining conjoint analysis with Kano model to </a:t>
            </a:r>
            <a:r>
              <a:rPr lang="en-US" sz="1356">
                <a:solidFill>
                  <a:srgbClr val="000000"/>
                </a:solidFill>
                <a:latin typeface="Times New Roman"/>
                <a:ea typeface="Times New Roman"/>
                <a:cs typeface="Times New Roman"/>
                <a:sym typeface="Times New Roman"/>
              </a:rPr>
              <a:t>optimize product varieties of smart phones: A VIKOR perspective. Journal of Industrial and Production Engineering, 31(4), 177-186.</a:t>
            </a:r>
          </a:p>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Head, M., &amp;amp; Ziolkowski, N. (2012). Understanding student attitudes of mobile phone features: Rethinking adoption through conjoint, cluster and SEM analyses. Computers in Human Behaviour, 28(6), 2331-2339.</a:t>
            </a:r>
          </a:p>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Vrhovac, V., Orošnjak, M., Ristić, K., Sremčev, N., Jocanović, M., Spajić, J., &amp;amp;Brkljač, N. (2024). Unsupervised Modelling of E-Customers’ Profiles: Multiple Correspondence Analysis with Hierarchical Clustering of Principal Components and Machine Learning Classifiers. Mathematics, 12(23), 3794.</a:t>
            </a:r>
          </a:p>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Ufeli, C. P., Sattar, M. U., Hasan, R., &amp;amp; Mahmood, S. (2025). Enhancing Customer Segmentation Through Factor Analysis of Mixed Data (FAMD)-Based Approach Using K-Means and Hierarchical Clustering Algorithms. Information, 16(6), 441.</a:t>
            </a:r>
          </a:p>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Paetz, F., Hein, M., Kurz, P., &amp;amp; Steiner, W. J. (2019). Latent class conjoint choice models: A guide for model selection, estimation, validation, and interpretation of results. Marketing ZFP 41: 3–20.</a:t>
            </a:r>
          </a:p>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De Bruyn, A., Liechty, J. C., Huizingh, E. K., &amp;amp; Lilien, G. L. (2008). Offering online recommendations with minimum customer input through conjoint-based decision aids. Marketing Science, 27(3), 443-460.</a:t>
            </a:r>
          </a:p>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John, J. M., Shobayo, O., &amp;amp; Ogunleye, B. (2023). An exploration of clustering algorithms for customer segmentation in the UK retail market. Analytics, 2(4), 809-823.</a:t>
            </a:r>
          </a:p>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Sentosa, I., &amp;amp; Mat, N. K. N. (2012). Examining a theory of planned behaviour (TPB) and technology acceptance model (TAM) in internet purchasing using structural equation modelling. Researchers World, 3(2 Part 2), 62.</a:t>
            </a:r>
          </a:p>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Zumstein, D., &amp;amp; Kotowski, W. (2020, April). Success factors of e-commerce-drivers of the conversion rate and basket value. In 18th International Conference e-Society 2020 (pp. 43-50).</a:t>
            </a:r>
          </a:p>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Chakraborty, G., &amp;amp; Cole, C. (1991). Coupon characteristics and brand choice. Psychology &amp;amp; Marketing, 8(3), 145-159.</a:t>
            </a:r>
          </a:p>
          <a:p>
            <a:pPr algn="l" marL="292846" indent="-146423" lvl="1">
              <a:lnSpc>
                <a:spcPts val="1627"/>
              </a:lnSpc>
              <a:buFont typeface="Arial"/>
              <a:buChar char="•"/>
            </a:pPr>
            <a:r>
              <a:rPr lang="en-US" sz="1356">
                <a:solidFill>
                  <a:srgbClr val="000000"/>
                </a:solidFill>
                <a:latin typeface="Times New Roman"/>
                <a:ea typeface="Times New Roman"/>
                <a:cs typeface="Times New Roman"/>
                <a:sym typeface="Times New Roman"/>
              </a:rPr>
              <a:t>Langen, H., &amp;amp; Huber, M. (2023). How causal machine learning can leverage marketing strategies: Assessing and improving the performance of a coupon campaign. Plos one, 18(1), e0278937.</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9753600" cy="7315200"/>
          </a:xfrm>
          <a:custGeom>
            <a:avLst/>
            <a:gdLst/>
            <a:ahLst/>
            <a:cxnLst/>
            <a:rect r="r" b="b" t="t" l="l"/>
            <a:pathLst>
              <a:path h="7315200" w="9753600">
                <a:moveTo>
                  <a:pt x="0" y="0"/>
                </a:moveTo>
                <a:lnTo>
                  <a:pt x="9753600" y="0"/>
                </a:lnTo>
                <a:lnTo>
                  <a:pt x="9753600" y="7315200"/>
                </a:lnTo>
                <a:lnTo>
                  <a:pt x="0" y="7315200"/>
                </a:lnTo>
                <a:lnTo>
                  <a:pt x="0" y="0"/>
                </a:lnTo>
                <a:close/>
              </a:path>
            </a:pathLst>
          </a:custGeom>
          <a:blipFill>
            <a:blip r:embed="rId3">
              <a:alphaModFix amt="88000"/>
            </a:blip>
            <a:stretch>
              <a:fillRect l="0" t="0" r="0" b="0"/>
            </a:stretch>
          </a:blipFill>
        </p:spPr>
      </p:sp>
      <p:grpSp>
        <p:nvGrpSpPr>
          <p:cNvPr name="Group 3" id="3"/>
          <p:cNvGrpSpPr>
            <a:grpSpLocks noChangeAspect="true"/>
          </p:cNvGrpSpPr>
          <p:nvPr/>
        </p:nvGrpSpPr>
        <p:grpSpPr>
          <a:xfrm rot="0">
            <a:off x="0" y="0"/>
            <a:ext cx="9753600" cy="7315200"/>
            <a:chOff x="0" y="0"/>
            <a:chExt cx="13004800" cy="9753600"/>
          </a:xfrm>
        </p:grpSpPr>
        <p:sp>
          <p:nvSpPr>
            <p:cNvPr name="Freeform 4" id="4" descr="C:\Users\kushadhar.suvarna\Desktop\NMIMS PPT\PPT format Uni&amp;College-17.jpg"/>
            <p:cNvSpPr/>
            <p:nvPr/>
          </p:nvSpPr>
          <p:spPr>
            <a:xfrm flipH="false" flipV="false" rot="0">
              <a:off x="0" y="0"/>
              <a:ext cx="13004800" cy="9753600"/>
            </a:xfrm>
            <a:custGeom>
              <a:avLst/>
              <a:gdLst/>
              <a:ahLst/>
              <a:cxnLst/>
              <a:rect r="r" b="b" t="t" l="l"/>
              <a:pathLst>
                <a:path h="9753600" w="13004800">
                  <a:moveTo>
                    <a:pt x="0" y="0"/>
                  </a:moveTo>
                  <a:lnTo>
                    <a:pt x="13004800" y="0"/>
                  </a:lnTo>
                  <a:lnTo>
                    <a:pt x="13004800" y="9753600"/>
                  </a:lnTo>
                  <a:lnTo>
                    <a:pt x="0" y="9753600"/>
                  </a:lnTo>
                  <a:lnTo>
                    <a:pt x="0" y="0"/>
                  </a:lnTo>
                  <a:close/>
                </a:path>
              </a:pathLst>
            </a:custGeom>
            <a:blipFill>
              <a:blip r:embed="rId4"/>
              <a:stretch>
                <a:fillRect l="0" t="0" r="0" b="0"/>
              </a:stretch>
            </a:blipFill>
          </p:spPr>
        </p:sp>
      </p:grpSp>
      <p:grpSp>
        <p:nvGrpSpPr>
          <p:cNvPr name="Group 5" id="5"/>
          <p:cNvGrpSpPr/>
          <p:nvPr/>
        </p:nvGrpSpPr>
        <p:grpSpPr>
          <a:xfrm rot="0">
            <a:off x="1863900" y="304031"/>
            <a:ext cx="1987665" cy="806119"/>
            <a:chOff x="0" y="0"/>
            <a:chExt cx="2650220" cy="1074826"/>
          </a:xfrm>
        </p:grpSpPr>
        <p:sp>
          <p:nvSpPr>
            <p:cNvPr name="Freeform 6" id="6"/>
            <p:cNvSpPr/>
            <p:nvPr/>
          </p:nvSpPr>
          <p:spPr>
            <a:xfrm flipH="false" flipV="false" rot="0">
              <a:off x="0" y="0"/>
              <a:ext cx="2650236" cy="1074825"/>
            </a:xfrm>
            <a:custGeom>
              <a:avLst/>
              <a:gdLst/>
              <a:ahLst/>
              <a:cxnLst/>
              <a:rect r="r" b="b" t="t" l="l"/>
              <a:pathLst>
                <a:path h="1074825" w="2650236">
                  <a:moveTo>
                    <a:pt x="0" y="0"/>
                  </a:moveTo>
                  <a:lnTo>
                    <a:pt x="2650236" y="0"/>
                  </a:lnTo>
                  <a:lnTo>
                    <a:pt x="2650236" y="1074825"/>
                  </a:lnTo>
                  <a:lnTo>
                    <a:pt x="0" y="1074825"/>
                  </a:lnTo>
                  <a:close/>
                </a:path>
              </a:pathLst>
            </a:custGeom>
            <a:solidFill>
              <a:srgbClr val="FFFFFF"/>
            </a:solidFill>
          </p:spPr>
        </p:sp>
        <p:sp>
          <p:nvSpPr>
            <p:cNvPr name="TextBox 7" id="7"/>
            <p:cNvSpPr txBox="true"/>
            <p:nvPr/>
          </p:nvSpPr>
          <p:spPr>
            <a:xfrm>
              <a:off x="0" y="-9525"/>
              <a:ext cx="2650220"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8" id="8"/>
          <p:cNvGrpSpPr/>
          <p:nvPr/>
        </p:nvGrpSpPr>
        <p:grpSpPr>
          <a:xfrm rot="0">
            <a:off x="1810327" y="299257"/>
            <a:ext cx="1950719" cy="806119"/>
            <a:chOff x="0" y="0"/>
            <a:chExt cx="2600959" cy="1074826"/>
          </a:xfrm>
        </p:grpSpPr>
        <p:sp>
          <p:nvSpPr>
            <p:cNvPr name="Freeform 9" id="9"/>
            <p:cNvSpPr/>
            <p:nvPr/>
          </p:nvSpPr>
          <p:spPr>
            <a:xfrm flipH="false" flipV="false" rot="0">
              <a:off x="0" y="0"/>
              <a:ext cx="2600960" cy="1074825"/>
            </a:xfrm>
            <a:custGeom>
              <a:avLst/>
              <a:gdLst/>
              <a:ahLst/>
              <a:cxnLst/>
              <a:rect r="r" b="b" t="t" l="l"/>
              <a:pathLst>
                <a:path h="1074825" w="2600960">
                  <a:moveTo>
                    <a:pt x="0" y="0"/>
                  </a:moveTo>
                  <a:lnTo>
                    <a:pt x="2600960" y="0"/>
                  </a:lnTo>
                  <a:lnTo>
                    <a:pt x="2600960" y="1074825"/>
                  </a:lnTo>
                  <a:lnTo>
                    <a:pt x="0" y="1074825"/>
                  </a:lnTo>
                  <a:close/>
                </a:path>
              </a:pathLst>
            </a:custGeom>
            <a:solidFill>
              <a:srgbClr val="FFFFFF"/>
            </a:solidFill>
          </p:spPr>
        </p:sp>
        <p:sp>
          <p:nvSpPr>
            <p:cNvPr name="TextBox 10" id="10"/>
            <p:cNvSpPr txBox="true"/>
            <p:nvPr/>
          </p:nvSpPr>
          <p:spPr>
            <a:xfrm>
              <a:off x="0" y="-9525"/>
              <a:ext cx="2600959" cy="1084351"/>
            </a:xfrm>
            <a:prstGeom prst="rect">
              <a:avLst/>
            </a:prstGeom>
          </p:spPr>
          <p:txBody>
            <a:bodyPr anchor="t" rtlCol="false" tIns="50800" lIns="50800" bIns="50800" rIns="50800"/>
            <a:lstStyle/>
            <a:p>
              <a:pPr algn="l">
                <a:lnSpc>
                  <a:spcPts val="1791"/>
                </a:lnSpc>
              </a:pPr>
              <a:r>
                <a:rPr lang="en-US" sz="1493">
                  <a:solidFill>
                    <a:srgbClr val="000000"/>
                  </a:solidFill>
                  <a:latin typeface="Times New Roman"/>
                  <a:ea typeface="Times New Roman"/>
                  <a:cs typeface="Times New Roman"/>
                  <a:sym typeface="Times New Roman"/>
                </a:rPr>
                <a:t>Nilkamal School of Mathematics, Applied Statistics &amp; Analytics</a:t>
              </a:r>
            </a:p>
          </p:txBody>
        </p:sp>
      </p:grpSp>
      <p:grpSp>
        <p:nvGrpSpPr>
          <p:cNvPr name="Group 11" id="11"/>
          <p:cNvGrpSpPr/>
          <p:nvPr/>
        </p:nvGrpSpPr>
        <p:grpSpPr>
          <a:xfrm rot="0">
            <a:off x="844848" y="3057596"/>
            <a:ext cx="8063904" cy="817885"/>
            <a:chOff x="0" y="0"/>
            <a:chExt cx="10751872" cy="1090513"/>
          </a:xfrm>
        </p:grpSpPr>
        <p:sp>
          <p:nvSpPr>
            <p:cNvPr name="Freeform 12" id="12"/>
            <p:cNvSpPr/>
            <p:nvPr/>
          </p:nvSpPr>
          <p:spPr>
            <a:xfrm flipH="false" flipV="false" rot="0">
              <a:off x="0" y="0"/>
              <a:ext cx="10751872" cy="1090513"/>
            </a:xfrm>
            <a:custGeom>
              <a:avLst/>
              <a:gdLst/>
              <a:ahLst/>
              <a:cxnLst/>
              <a:rect r="r" b="b" t="t" l="l"/>
              <a:pathLst>
                <a:path h="1090513" w="10751872">
                  <a:moveTo>
                    <a:pt x="0" y="0"/>
                  </a:moveTo>
                  <a:lnTo>
                    <a:pt x="10751872" y="0"/>
                  </a:lnTo>
                  <a:lnTo>
                    <a:pt x="10751872" y="1090513"/>
                  </a:lnTo>
                  <a:lnTo>
                    <a:pt x="0" y="1090513"/>
                  </a:lnTo>
                  <a:close/>
                </a:path>
              </a:pathLst>
            </a:custGeom>
          </p:spPr>
        </p:sp>
        <p:sp>
          <p:nvSpPr>
            <p:cNvPr name="TextBox 13" id="13"/>
            <p:cNvSpPr txBox="true"/>
            <p:nvPr/>
          </p:nvSpPr>
          <p:spPr>
            <a:xfrm>
              <a:off x="0" y="-76200"/>
              <a:ext cx="10751872" cy="1166713"/>
            </a:xfrm>
            <a:prstGeom prst="rect">
              <a:avLst/>
            </a:prstGeom>
          </p:spPr>
          <p:txBody>
            <a:bodyPr anchor="ctr" rtlCol="false" tIns="0" lIns="0" bIns="0" rIns="0"/>
            <a:lstStyle/>
            <a:p>
              <a:pPr algn="ctr">
                <a:lnSpc>
                  <a:spcPts val="5068"/>
                </a:lnSpc>
              </a:pPr>
              <a:r>
                <a:rPr lang="en-US" b="true" sz="4223">
                  <a:solidFill>
                    <a:srgbClr val="000000"/>
                  </a:solidFill>
                  <a:latin typeface="Times New Roman MT Bold"/>
                  <a:ea typeface="Times New Roman MT Bold"/>
                  <a:cs typeface="Times New Roman MT Bold"/>
                  <a:sym typeface="Times New Roman MT Bold"/>
                </a:rPr>
                <a:t>Thank You</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DAG4JXftTmI</dc:identifier>
  <dcterms:modified xsi:type="dcterms:W3CDTF">2011-08-01T06:04:30Z</dcterms:modified>
  <cp:revision>1</cp:revision>
  <dc:title>DDA Sem 3.pptx</dc:title>
</cp:coreProperties>
</file>